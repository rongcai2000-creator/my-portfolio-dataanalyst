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Nunito" panose="020F0502020204030204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424c7b9d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424c7b9d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3057d6be7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3057d6be7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variabilité, box-plot, kmeans, projetter les individus, acp,</a:t>
            </a:r>
            <a:r>
              <a:rPr lang="fr">
                <a:solidFill>
                  <a:schemeClr val="dk1"/>
                </a:solidFill>
              </a:rPr>
              <a:t> moyenne de</a:t>
            </a:r>
            <a:r>
              <a:rPr lang="fr"/>
              <a:t> cluster de kmeans !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5d337dc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5d337dc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variabilité, box-plot, kmeans, projetter les individus, acp,</a:t>
            </a:r>
            <a:r>
              <a:rPr lang="fr">
                <a:solidFill>
                  <a:schemeClr val="dk1"/>
                </a:solidFill>
              </a:rPr>
              <a:t> moyenne de</a:t>
            </a:r>
            <a:r>
              <a:rPr lang="fr"/>
              <a:t> cluster de kmeans !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3057d6be7_0_7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3057d6be7_0_7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3057d6be7_0_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3057d6be7_0_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424c7b9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424c7b9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424c7b9d9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424c7b9d9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424c7b9d9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424c7b9d9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424c7b9d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d424c7b9d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424c7b9d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424c7b9d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424c7b9d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424c7b9d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424c7b9d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424c7b9d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424c7b9d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424c7b9d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424c7b9d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424c7b9d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424c7b9d9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d424c7b9d9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5d337dc7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d5d337dc7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424c7b9d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424c7b9d9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424c7b9d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424c7b9d9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3057d6be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d3057d6be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4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chemeClr val="accent1"/>
                </a:solidFill>
              </a:defRPr>
            </a:lvl1pPr>
            <a:lvl2pPr lvl="1">
              <a:buNone/>
              <a:defRPr sz="1300">
                <a:solidFill>
                  <a:schemeClr val="accent1"/>
                </a:solidFill>
              </a:defRPr>
            </a:lvl2pPr>
            <a:lvl3pPr lvl="2">
              <a:buNone/>
              <a:defRPr sz="1300">
                <a:solidFill>
                  <a:schemeClr val="accent1"/>
                </a:solidFill>
              </a:defRPr>
            </a:lvl3pPr>
            <a:lvl4pPr lvl="3">
              <a:buNone/>
              <a:defRPr sz="1300">
                <a:solidFill>
                  <a:schemeClr val="accent1"/>
                </a:solidFill>
              </a:defRPr>
            </a:lvl4pPr>
            <a:lvl5pPr lvl="4">
              <a:buNone/>
              <a:defRPr sz="1300">
                <a:solidFill>
                  <a:schemeClr val="accent1"/>
                </a:solidFill>
              </a:defRPr>
            </a:lvl5pPr>
            <a:lvl6pPr lvl="5">
              <a:buNone/>
              <a:defRPr sz="1300">
                <a:solidFill>
                  <a:schemeClr val="accent1"/>
                </a:solidFill>
              </a:defRPr>
            </a:lvl6pPr>
            <a:lvl7pPr lvl="6">
              <a:buNone/>
              <a:defRPr sz="1300">
                <a:solidFill>
                  <a:schemeClr val="accent1"/>
                </a:solidFill>
              </a:defRPr>
            </a:lvl7pPr>
            <a:lvl8pPr lvl="7">
              <a:buNone/>
              <a:defRPr sz="1300">
                <a:solidFill>
                  <a:schemeClr val="accent1"/>
                </a:solidFill>
              </a:defRPr>
            </a:lvl8pPr>
            <a:lvl9pPr lvl="8">
              <a:buNone/>
              <a:defRPr sz="13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 1">
  <p:cSld name="En-tête de sec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/>
          <p:nvPr/>
        </p:nvSpPr>
        <p:spPr>
          <a:xfrm rot="10800000" flipH="1">
            <a:off x="0" y="79"/>
            <a:ext cx="7968900" cy="4053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 rot="-1641222">
            <a:off x="-477946" y="2691136"/>
            <a:ext cx="2894998" cy="1310237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4"/>
          <p:cNvCxnSpPr/>
          <p:nvPr/>
        </p:nvCxnSpPr>
        <p:spPr>
          <a:xfrm rot="10800000" flipH="1">
            <a:off x="0" y="757497"/>
            <a:ext cx="1338900" cy="6807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1" name="Google Shape;131;p1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00" cy="13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00" cy="6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33" name="Google Shape;133;p14"/>
          <p:cNvCxnSpPr/>
          <p:nvPr/>
        </p:nvCxnSpPr>
        <p:spPr>
          <a:xfrm rot="10800000" flipH="1">
            <a:off x="6753226" y="2943149"/>
            <a:ext cx="2390700" cy="1266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4" name="Google Shape;134;p14"/>
          <p:cNvSpPr/>
          <p:nvPr/>
        </p:nvSpPr>
        <p:spPr>
          <a:xfrm>
            <a:off x="5815584" y="0"/>
            <a:ext cx="1693800" cy="557100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4"/>
          <p:cNvCxnSpPr/>
          <p:nvPr/>
        </p:nvCxnSpPr>
        <p:spPr>
          <a:xfrm rot="10800000" flipH="1">
            <a:off x="0" y="306383"/>
            <a:ext cx="4946400" cy="25524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6" name="Google Shape;136;p14"/>
          <p:cNvCxnSpPr/>
          <p:nvPr/>
        </p:nvCxnSpPr>
        <p:spPr>
          <a:xfrm rot="10800000" flipH="1">
            <a:off x="-13378" y="3950098"/>
            <a:ext cx="1439700" cy="75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14"/>
          <p:cNvSpPr/>
          <p:nvPr/>
        </p:nvSpPr>
        <p:spPr>
          <a:xfrm rot="-1640934">
            <a:off x="-104219" y="2555305"/>
            <a:ext cx="1078780" cy="177383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chemeClr val="accent6"/>
                </a:solidFill>
              </a:defRPr>
            </a:lvl1pPr>
            <a:lvl2pPr lvl="1">
              <a:buNone/>
              <a:defRPr sz="1300">
                <a:solidFill>
                  <a:schemeClr val="accent6"/>
                </a:solidFill>
              </a:defRPr>
            </a:lvl2pPr>
            <a:lvl3pPr lvl="2">
              <a:buNone/>
              <a:defRPr sz="1300">
                <a:solidFill>
                  <a:schemeClr val="accent6"/>
                </a:solidFill>
              </a:defRPr>
            </a:lvl3pPr>
            <a:lvl4pPr lvl="3">
              <a:buNone/>
              <a:defRPr sz="1300">
                <a:solidFill>
                  <a:schemeClr val="accent6"/>
                </a:solidFill>
              </a:defRPr>
            </a:lvl4pPr>
            <a:lvl5pPr lvl="4">
              <a:buNone/>
              <a:defRPr sz="1300">
                <a:solidFill>
                  <a:schemeClr val="accent6"/>
                </a:solidFill>
              </a:defRPr>
            </a:lvl5pPr>
            <a:lvl6pPr lvl="5">
              <a:buNone/>
              <a:defRPr sz="1300">
                <a:solidFill>
                  <a:schemeClr val="accent6"/>
                </a:solidFill>
              </a:defRPr>
            </a:lvl6pPr>
            <a:lvl7pPr lvl="6">
              <a:buNone/>
              <a:defRPr sz="1300">
                <a:solidFill>
                  <a:schemeClr val="accent6"/>
                </a:solidFill>
              </a:defRPr>
            </a:lvl7pPr>
            <a:lvl8pPr lvl="7">
              <a:buNone/>
              <a:defRPr sz="1300">
                <a:solidFill>
                  <a:schemeClr val="accent6"/>
                </a:solidFill>
              </a:defRPr>
            </a:lvl8pPr>
            <a:lvl9pPr lvl="8">
              <a:buNone/>
              <a:defRPr sz="1300">
                <a:solidFill>
                  <a:schemeClr val="accent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140;p15"/>
          <p:cNvCxnSpPr/>
          <p:nvPr/>
        </p:nvCxnSpPr>
        <p:spPr>
          <a:xfrm rot="10800000">
            <a:off x="-7071" y="2725617"/>
            <a:ext cx="1434600" cy="117960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41" name="Google Shape;141;p15"/>
          <p:cNvGrpSpPr/>
          <p:nvPr/>
        </p:nvGrpSpPr>
        <p:grpSpPr>
          <a:xfrm flipH="1">
            <a:off x="5670930" y="1"/>
            <a:ext cx="3573049" cy="2655711"/>
            <a:chOff x="-124265" y="-1"/>
            <a:chExt cx="4764065" cy="3367200"/>
          </a:xfrm>
        </p:grpSpPr>
        <p:sp>
          <p:nvSpPr>
            <p:cNvPr id="142" name="Google Shape;142;p15"/>
            <p:cNvSpPr/>
            <p:nvPr/>
          </p:nvSpPr>
          <p:spPr>
            <a:xfrm>
              <a:off x="0" y="-1"/>
              <a:ext cx="4639800" cy="3367200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3" name="Google Shape;143;p15"/>
            <p:cNvCxnSpPr/>
            <p:nvPr/>
          </p:nvCxnSpPr>
          <p:spPr>
            <a:xfrm rot="10800000" flipH="1">
              <a:off x="1433638" y="93"/>
              <a:ext cx="1241100" cy="9165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4" name="Google Shape;144;p15"/>
            <p:cNvSpPr/>
            <p:nvPr/>
          </p:nvSpPr>
          <p:spPr>
            <a:xfrm rot="-2178996">
              <a:off x="-192216" y="1140830"/>
              <a:ext cx="1354503" cy="214810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5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6" name="Google Shape;146;p15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8" name="Google Shape;148;p15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9" name="Google Shape;149;p15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3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15"/>
          <p:cNvSpPr/>
          <p:nvPr/>
        </p:nvSpPr>
        <p:spPr>
          <a:xfrm flipH="1">
            <a:off x="5010081" y="1"/>
            <a:ext cx="1085700" cy="479400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53" name="Google Shape;153;p1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2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4844204" y="2628935"/>
            <a:ext cx="194130" cy="19413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4880717" y="2923490"/>
            <a:ext cx="121122" cy="22204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4844204" y="3245959"/>
            <a:ext cx="194130" cy="14121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4853787" y="3487561"/>
            <a:ext cx="175014" cy="1750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 rot="10800000" flipH="1">
            <a:off x="0" y="79"/>
            <a:ext cx="7968900" cy="4053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16"/>
          <p:cNvCxnSpPr/>
          <p:nvPr/>
        </p:nvCxnSpPr>
        <p:spPr>
          <a:xfrm rot="10800000" flipH="1">
            <a:off x="0" y="42"/>
            <a:ext cx="4523100" cy="22533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5" name="Google Shape;165;p16"/>
          <p:cNvCxnSpPr/>
          <p:nvPr/>
        </p:nvCxnSpPr>
        <p:spPr>
          <a:xfrm rot="10800000" flipH="1">
            <a:off x="6753226" y="2943149"/>
            <a:ext cx="2390700" cy="1266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6" name="Google Shape;166;p16"/>
          <p:cNvCxnSpPr/>
          <p:nvPr/>
        </p:nvCxnSpPr>
        <p:spPr>
          <a:xfrm rot="10800000" flipH="1">
            <a:off x="-13378" y="3524902"/>
            <a:ext cx="1439700" cy="75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16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00" cy="38529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16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200" cy="12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Optimisation de la détection des faux billets </a:t>
            </a:r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Détection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des faux billets</a:t>
            </a:r>
            <a:endParaRPr/>
          </a:p>
        </p:txBody>
      </p:sp>
      <p:cxnSp>
        <p:nvCxnSpPr>
          <p:cNvPr id="177" name="Google Shape;177;p17"/>
          <p:cNvCxnSpPr/>
          <p:nvPr/>
        </p:nvCxnSpPr>
        <p:spPr>
          <a:xfrm rot="10800000" flipH="1">
            <a:off x="-11585" y="3966558"/>
            <a:ext cx="1435800" cy="71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8" name="Google Shape;178;p17" title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13" y="623603"/>
            <a:ext cx="2201262" cy="11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>
            <a:spLocks noGrp="1"/>
          </p:cNvSpPr>
          <p:nvPr>
            <p:ph type="body" idx="1"/>
          </p:nvPr>
        </p:nvSpPr>
        <p:spPr>
          <a:xfrm>
            <a:off x="1858700" y="2860675"/>
            <a:ext cx="5884500" cy="19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/>
              <a:t>Plan :</a:t>
            </a:r>
            <a:r>
              <a:rPr lang="fr"/>
              <a:t>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romanUcPeriod"/>
            </a:pPr>
            <a:r>
              <a:rPr lang="fr"/>
              <a:t>Analyse préliminaire des données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romanUcPeriod"/>
            </a:pPr>
            <a:r>
              <a:rPr lang="fr"/>
              <a:t>Nettoyage des données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romanUcPeriod"/>
            </a:pPr>
            <a:r>
              <a:rPr lang="fr"/>
              <a:t>Modèles de classification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romanUcPeriod"/>
            </a:pPr>
            <a:r>
              <a:rPr lang="fr"/>
              <a:t>Conclusion</a:t>
            </a:r>
            <a:endParaRPr/>
          </a:p>
        </p:txBody>
      </p:sp>
      <p:sp>
        <p:nvSpPr>
          <p:cNvPr id="185" name="Google Shape;185;p18"/>
          <p:cNvSpPr txBox="1">
            <a:spLocks noGrp="1"/>
          </p:cNvSpPr>
          <p:nvPr>
            <p:ph type="ctrTitle" idx="4294967295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Objectif : Optimisation de la détection des anomalies des billets</a:t>
            </a:r>
            <a:endParaRPr/>
          </a:p>
        </p:txBody>
      </p:sp>
      <p:cxnSp>
        <p:nvCxnSpPr>
          <p:cNvPr id="186" name="Google Shape;186;p18"/>
          <p:cNvCxnSpPr/>
          <p:nvPr/>
        </p:nvCxnSpPr>
        <p:spPr>
          <a:xfrm rot="10800000" flipH="1">
            <a:off x="-11585" y="3966558"/>
            <a:ext cx="1435800" cy="71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7" name="Google Shape;187;p18" title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13" y="623603"/>
            <a:ext cx="2201262" cy="119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pic>
        <p:nvPicPr>
          <p:cNvPr id="189" name="Google Shape;189;p18" title="ONCF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I.1.  Répartition inégale des billets et valeurs manquantes</a:t>
            </a:r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pic>
        <p:nvPicPr>
          <p:cNvPr id="196" name="Google Shape;196;p19" title="ONCF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title="camembert_billet.png"/>
          <p:cNvPicPr preferRelativeResize="0"/>
          <p:nvPr/>
        </p:nvPicPr>
        <p:blipFill rotWithShape="1">
          <a:blip r:embed="rId4">
            <a:alphaModFix/>
          </a:blip>
          <a:srcRect l="18106" r="14056"/>
          <a:stretch/>
        </p:blipFill>
        <p:spPr>
          <a:xfrm>
            <a:off x="1006250" y="1999513"/>
            <a:ext cx="3451751" cy="254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3100" y="1890888"/>
            <a:ext cx="3451750" cy="2761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I.2.  Forte volatilité des valeurs “margin_low” et “length”</a:t>
            </a:r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  <p:pic>
        <p:nvPicPr>
          <p:cNvPr id="205" name="Google Shape;205;p20" title="ONCF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title="Boxplt_len_margin_up_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7463" y="1996025"/>
            <a:ext cx="6369075" cy="2547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20"/>
          <p:cNvGrpSpPr/>
          <p:nvPr/>
        </p:nvGrpSpPr>
        <p:grpSpPr>
          <a:xfrm>
            <a:off x="2969300" y="2709925"/>
            <a:ext cx="456150" cy="952500"/>
            <a:chOff x="2969300" y="2709925"/>
            <a:chExt cx="456150" cy="952500"/>
          </a:xfrm>
        </p:grpSpPr>
        <p:cxnSp>
          <p:nvCxnSpPr>
            <p:cNvPr id="208" name="Google Shape;208;p20"/>
            <p:cNvCxnSpPr/>
            <p:nvPr/>
          </p:nvCxnSpPr>
          <p:spPr>
            <a:xfrm>
              <a:off x="2969300" y="2709925"/>
              <a:ext cx="0" cy="9525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9" name="Google Shape;209;p20"/>
            <p:cNvSpPr txBox="1"/>
            <p:nvPr/>
          </p:nvSpPr>
          <p:spPr>
            <a:xfrm>
              <a:off x="3036350" y="2989375"/>
              <a:ext cx="3891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300" b="1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&gt;4</a:t>
              </a:r>
              <a:endParaRPr sz="13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20"/>
          <p:cNvGrpSpPr/>
          <p:nvPr/>
        </p:nvGrpSpPr>
        <p:grpSpPr>
          <a:xfrm>
            <a:off x="4879120" y="2793539"/>
            <a:ext cx="486749" cy="1405414"/>
            <a:chOff x="2969300" y="2709925"/>
            <a:chExt cx="335250" cy="952500"/>
          </a:xfrm>
        </p:grpSpPr>
        <p:cxnSp>
          <p:nvCxnSpPr>
            <p:cNvPr id="211" name="Google Shape;211;p20"/>
            <p:cNvCxnSpPr/>
            <p:nvPr/>
          </p:nvCxnSpPr>
          <p:spPr>
            <a:xfrm>
              <a:off x="2969300" y="2709925"/>
              <a:ext cx="0" cy="9525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2" name="Google Shape;212;p20"/>
            <p:cNvSpPr txBox="1"/>
            <p:nvPr/>
          </p:nvSpPr>
          <p:spPr>
            <a:xfrm>
              <a:off x="3036350" y="2989375"/>
              <a:ext cx="2682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300" b="1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&gt;3</a:t>
              </a:r>
              <a:endParaRPr sz="13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20"/>
          <p:cNvGrpSpPr/>
          <p:nvPr/>
        </p:nvGrpSpPr>
        <p:grpSpPr>
          <a:xfrm>
            <a:off x="7097525" y="2709831"/>
            <a:ext cx="486750" cy="1100042"/>
            <a:chOff x="2969300" y="2709925"/>
            <a:chExt cx="486750" cy="952500"/>
          </a:xfrm>
        </p:grpSpPr>
        <p:cxnSp>
          <p:nvCxnSpPr>
            <p:cNvPr id="214" name="Google Shape;214;p20"/>
            <p:cNvCxnSpPr/>
            <p:nvPr/>
          </p:nvCxnSpPr>
          <p:spPr>
            <a:xfrm>
              <a:off x="2969300" y="2709925"/>
              <a:ext cx="0" cy="9525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5" name="Google Shape;215;p20"/>
            <p:cNvSpPr txBox="1"/>
            <p:nvPr/>
          </p:nvSpPr>
          <p:spPr>
            <a:xfrm>
              <a:off x="3036350" y="2989381"/>
              <a:ext cx="4197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300" b="1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1.5</a:t>
              </a:r>
              <a:endParaRPr sz="13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20"/>
          <p:cNvSpPr txBox="1"/>
          <p:nvPr/>
        </p:nvSpPr>
        <p:spPr>
          <a:xfrm>
            <a:off x="819150" y="4467350"/>
            <a:ext cx="69372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Ecart-type :                    </a:t>
            </a:r>
            <a:r>
              <a:rPr lang="fr" sz="13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87%                                                 66%                                                23%</a:t>
            </a:r>
            <a:endParaRPr sz="13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I.3.  Corrélations fortes avec la cible “is_genuine”</a:t>
            </a:r>
            <a:endParaRPr/>
          </a:p>
        </p:txBody>
      </p:sp>
      <p:sp>
        <p:nvSpPr>
          <p:cNvPr id="222" name="Google Shape;222;p2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pic>
        <p:nvPicPr>
          <p:cNvPr id="223" name="Google Shape;223;p21" title="matrix_corr.png"/>
          <p:cNvPicPr preferRelativeResize="0"/>
          <p:nvPr/>
        </p:nvPicPr>
        <p:blipFill rotWithShape="1">
          <a:blip r:embed="rId3">
            <a:alphaModFix/>
          </a:blip>
          <a:srcRect r="12816"/>
          <a:stretch/>
        </p:blipFill>
        <p:spPr>
          <a:xfrm>
            <a:off x="1413625" y="1749778"/>
            <a:ext cx="6316750" cy="289807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2225100" y="3393980"/>
            <a:ext cx="7932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-0.783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-0.606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0.849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1" title="ONCF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II.1.  Traitement des valeurs manquantes avec régression linéaire </a:t>
            </a:r>
            <a:endParaRPr/>
          </a:p>
        </p:txBody>
      </p:sp>
      <p:sp>
        <p:nvSpPr>
          <p:cNvPr id="231" name="Google Shape;231;p2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  <p:sp>
        <p:nvSpPr>
          <p:cNvPr id="232" name="Google Shape;232;p22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Régression linéaire : </a:t>
            </a:r>
            <a:r>
              <a:rPr lang="fr" b="1"/>
              <a:t>Y = aX + résidus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Hypothèses à respecter 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résidus normalement distribués et centrés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homoscédasticité (variance constante des résidus)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indépendance des résidus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absence de multicolinéarité;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Méthodologie :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 </a:t>
            </a:r>
            <a:r>
              <a:rPr lang="fr" b="1"/>
              <a:t>validation croisée (basée sur R2 ajusté)</a:t>
            </a:r>
            <a:endParaRPr b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sélection de variables par méthode ‘</a:t>
            </a:r>
            <a:r>
              <a:rPr lang="fr" b="1"/>
              <a:t>forward’</a:t>
            </a:r>
            <a:endParaRPr/>
          </a:p>
        </p:txBody>
      </p:sp>
      <p:pic>
        <p:nvPicPr>
          <p:cNvPr id="233" name="Google Shape;233;p22"/>
          <p:cNvPicPr preferRelativeResize="0"/>
          <p:nvPr/>
        </p:nvPicPr>
        <p:blipFill rotWithShape="1">
          <a:blip r:embed="rId3">
            <a:alphaModFix/>
          </a:blip>
          <a:srcRect b="28341"/>
          <a:stretch/>
        </p:blipFill>
        <p:spPr>
          <a:xfrm>
            <a:off x="4911350" y="2556612"/>
            <a:ext cx="3413499" cy="1316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title="ONCF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II.2.  Résultats de régression linéaire</a:t>
            </a:r>
            <a:endParaRPr/>
          </a:p>
        </p:txBody>
      </p:sp>
      <p:sp>
        <p:nvSpPr>
          <p:cNvPr id="240" name="Google Shape;240;p2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pic>
        <p:nvPicPr>
          <p:cNvPr id="241" name="Google Shape;2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991" y="1987626"/>
            <a:ext cx="4075734" cy="244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title="ONCF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Variables retenues : </a:t>
            </a:r>
            <a:r>
              <a:rPr lang="fr" b="1"/>
              <a:t>“margin_up” </a:t>
            </a:r>
            <a:r>
              <a:rPr lang="fr"/>
              <a:t>et </a:t>
            </a:r>
            <a:r>
              <a:rPr lang="fr" b="1"/>
              <a:t>“is_genuine”</a:t>
            </a:r>
            <a:endParaRPr b="1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R2 ajusté = </a:t>
            </a:r>
            <a:r>
              <a:rPr lang="fr" b="1">
                <a:solidFill>
                  <a:schemeClr val="lt1"/>
                </a:solidFill>
              </a:rPr>
              <a:t>98,6 %</a:t>
            </a:r>
            <a:endParaRPr b="1">
              <a:solidFill>
                <a:schemeClr val="lt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>
                <a:solidFill>
                  <a:srgbClr val="000000"/>
                </a:solidFill>
              </a:rPr>
              <a:t>Variables significatives (test de Student)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II.3.  Hypothèses semblent globalement validées</a:t>
            </a:r>
            <a:endParaRPr/>
          </a:p>
        </p:txBody>
      </p:sp>
      <p:sp>
        <p:nvSpPr>
          <p:cNvPr id="249" name="Google Shape;249;p2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  <p:pic>
        <p:nvPicPr>
          <p:cNvPr id="250" name="Google Shape;250;p24" title="qq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184" y="1937661"/>
            <a:ext cx="2863075" cy="143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 title="ecart_typ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3975" y="1934362"/>
            <a:ext cx="3006949" cy="150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2475" y="3424988"/>
            <a:ext cx="28384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3950" y="3437813"/>
            <a:ext cx="2667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 title="ONCF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Normalité :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Test Shapiro :  </a:t>
            </a:r>
            <a:r>
              <a:rPr lang="fr" b="1"/>
              <a:t>p-value &lt; </a:t>
            </a:r>
            <a:r>
              <a:rPr lang="fr" b="1">
                <a:solidFill>
                  <a:schemeClr val="lt1"/>
                </a:solidFill>
              </a:rPr>
              <a:t>5% (rejet)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Test de KS : </a:t>
            </a:r>
            <a:r>
              <a:rPr lang="fr" b="1"/>
              <a:t>p-value &gt; </a:t>
            </a:r>
            <a:r>
              <a:rPr lang="fr" b="1">
                <a:solidFill>
                  <a:schemeClr val="lt1"/>
                </a:solidFill>
              </a:rPr>
              <a:t>5% (accepte)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Homoscédasticité :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Pas parfaitement respectées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Colinéarité :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b="1"/>
              <a:t>VIF </a:t>
            </a:r>
            <a:r>
              <a:rPr lang="fr" b="1">
                <a:solidFill>
                  <a:schemeClr val="lt1"/>
                </a:solidFill>
              </a:rPr>
              <a:t>&lt; 5 </a:t>
            </a:r>
            <a:r>
              <a:rPr lang="fr"/>
              <a:t>(amélioré par rapport à la régression simple)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II.4.  Distribution de “is_genuine” reste stable, sans signe de surapprentissage</a:t>
            </a:r>
            <a:endParaRPr/>
          </a:p>
        </p:txBody>
      </p:sp>
      <p:sp>
        <p:nvSpPr>
          <p:cNvPr id="261" name="Google Shape;261;p2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pic>
        <p:nvPicPr>
          <p:cNvPr id="262" name="Google Shape;262;p25" title="Boxplt_marginlow.png"/>
          <p:cNvPicPr preferRelativeResize="0"/>
          <p:nvPr/>
        </p:nvPicPr>
        <p:blipFill rotWithShape="1">
          <a:blip r:embed="rId3">
            <a:alphaModFix/>
          </a:blip>
          <a:srcRect r="49988"/>
          <a:stretch/>
        </p:blipFill>
        <p:spPr>
          <a:xfrm>
            <a:off x="5078875" y="1916700"/>
            <a:ext cx="3245974" cy="259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 title="ONCF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Comparer la dispersion des valeurs prédites de la variable cible en fonction de 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Echantillon (Train/Test)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Nature du billet (True/False)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Pas de surapprentissage détecté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65" name="Google Shape;265;p25" title="Boxplt_marginlow.png"/>
          <p:cNvPicPr preferRelativeResize="0"/>
          <p:nvPr/>
        </p:nvPicPr>
        <p:blipFill rotWithShape="1">
          <a:blip r:embed="rId3">
            <a:alphaModFix/>
          </a:blip>
          <a:srcRect l="49686"/>
          <a:stretch/>
        </p:blipFill>
        <p:spPr>
          <a:xfrm>
            <a:off x="5078875" y="1800200"/>
            <a:ext cx="3245974" cy="2580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2663" y="2518975"/>
            <a:ext cx="24384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III.1.  Optimisation de la régression logistique</a:t>
            </a:r>
            <a:endParaRPr/>
          </a:p>
        </p:txBody>
      </p:sp>
      <p:sp>
        <p:nvSpPr>
          <p:cNvPr id="272" name="Google Shape;272;p2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273" name="Google Shape;273;p26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Régression logistique</a:t>
            </a:r>
            <a:r>
              <a:rPr lang="fr"/>
              <a:t> : estimer la probabilité d’appartenance à une classe (0/1)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Optimisation 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paramètre </a:t>
            </a:r>
            <a:r>
              <a:rPr lang="fr" b="1"/>
              <a:t>C (régularisation) </a:t>
            </a:r>
            <a:r>
              <a:rPr lang="fr"/>
              <a:t>pour contrôle la complexité du modèle, </a:t>
            </a:r>
            <a:r>
              <a:rPr lang="fr" b="1"/>
              <a:t>évite le sur-apprentissage </a:t>
            </a:r>
            <a:endParaRPr b="1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74" name="Google Shape;274;p26" title="perf_reglogit_Cva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8750" y="2293200"/>
            <a:ext cx="3686100" cy="18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 title="ONCF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Régression logistique</a:t>
            </a:r>
            <a:r>
              <a:rPr lang="fr"/>
              <a:t>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Paramètre retenu 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b="1">
                <a:solidFill>
                  <a:schemeClr val="lt1"/>
                </a:solidFill>
              </a:rPr>
              <a:t>C = 10</a:t>
            </a:r>
            <a:r>
              <a:rPr lang="fr" b="1"/>
              <a:t>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Métriques d’après la matrice : </a:t>
            </a:r>
            <a:endParaRPr b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100"/>
              <a:buChar char="-"/>
            </a:pPr>
            <a:r>
              <a:rPr lang="fr" b="1">
                <a:solidFill>
                  <a:srgbClr val="B45F06"/>
                </a:solidFill>
              </a:rPr>
              <a:t>FN = 2, </a:t>
            </a:r>
            <a:endParaRPr b="1">
              <a:solidFill>
                <a:srgbClr val="B45F06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100"/>
              <a:buChar char="-"/>
            </a:pPr>
            <a:r>
              <a:rPr lang="fr" b="1">
                <a:solidFill>
                  <a:srgbClr val="B45F06"/>
                </a:solidFill>
              </a:rPr>
              <a:t>Recall = 98,18%, </a:t>
            </a:r>
            <a:endParaRPr b="1">
              <a:solidFill>
                <a:srgbClr val="B45F06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100"/>
              <a:buChar char="-"/>
            </a:pPr>
            <a:r>
              <a:rPr lang="fr" b="1">
                <a:solidFill>
                  <a:srgbClr val="B45F06"/>
                </a:solidFill>
              </a:rPr>
              <a:t>Precision = 99,08%</a:t>
            </a:r>
            <a:endParaRPr b="1">
              <a:solidFill>
                <a:srgbClr val="B45F06"/>
              </a:solidFill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77" name="Google Shape;277;p26" title="matrice_reg_logi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1275" y="2321336"/>
            <a:ext cx="3573575" cy="1786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III.2.  Classification KNN</a:t>
            </a:r>
            <a:endParaRPr/>
          </a:p>
        </p:txBody>
      </p:sp>
      <p:sp>
        <p:nvSpPr>
          <p:cNvPr id="283" name="Google Shape;283;p2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284" name="Google Shape;284;p27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Classification KNN</a:t>
            </a:r>
            <a:r>
              <a:rPr lang="fr"/>
              <a:t> : classification basée sur les k plus proches voisins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Optimisation 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b="1"/>
              <a:t>k ∈  [1; 10]</a:t>
            </a:r>
            <a:endParaRPr b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distance : distance euclidienne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85" name="Google Shape;285;p27" title="perf_reg_knn_Kv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778" y="2131238"/>
            <a:ext cx="4333950" cy="21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7" title="ONCF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III.2.  Optimisation de KNN</a:t>
            </a:r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pic>
        <p:nvPicPr>
          <p:cNvPr id="293" name="Google Shape;293;p28" title="matrice_kn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1175" y="2153325"/>
            <a:ext cx="3686100" cy="184303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8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5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Classification KNN</a:t>
            </a:r>
            <a:r>
              <a:rPr lang="fr"/>
              <a:t>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Paramètre retenu 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fr" b="1">
                <a:solidFill>
                  <a:schemeClr val="lt1"/>
                </a:solidFill>
              </a:rPr>
              <a:t>k = 3</a:t>
            </a:r>
            <a:endParaRPr b="1">
              <a:solidFill>
                <a:schemeClr val="lt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Métriques d’après la matrice : </a:t>
            </a:r>
            <a:endParaRPr b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100"/>
              <a:buChar char="-"/>
            </a:pPr>
            <a:r>
              <a:rPr lang="fr" b="1">
                <a:solidFill>
                  <a:srgbClr val="B45F06"/>
                </a:solidFill>
              </a:rPr>
              <a:t>FN = 6,</a:t>
            </a:r>
            <a:endParaRPr b="1">
              <a:solidFill>
                <a:srgbClr val="B45F06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100"/>
              <a:buChar char="-"/>
            </a:pPr>
            <a:r>
              <a:rPr lang="fr" b="1">
                <a:solidFill>
                  <a:srgbClr val="B45F06"/>
                </a:solidFill>
              </a:rPr>
              <a:t>Recall = 94,54%,</a:t>
            </a:r>
            <a:endParaRPr b="1">
              <a:solidFill>
                <a:srgbClr val="B45F06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100"/>
              <a:buChar char="-"/>
            </a:pPr>
            <a:r>
              <a:rPr lang="fr" b="1">
                <a:solidFill>
                  <a:srgbClr val="B45F06"/>
                </a:solidFill>
              </a:rPr>
              <a:t>Precision = 100%</a:t>
            </a:r>
            <a:endParaRPr b="1">
              <a:solidFill>
                <a:srgbClr val="B45F06"/>
              </a:solidFill>
            </a:endParaRPr>
          </a:p>
        </p:txBody>
      </p:sp>
      <p:pic>
        <p:nvPicPr>
          <p:cNvPr id="295" name="Google Shape;295;p28" title="ONCF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III.3.  Classification Random forest</a:t>
            </a:r>
            <a:endParaRPr/>
          </a:p>
        </p:txBody>
      </p:sp>
      <p:sp>
        <p:nvSpPr>
          <p:cNvPr id="301" name="Google Shape;301;p2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pic>
        <p:nvPicPr>
          <p:cNvPr id="302" name="Google Shape;302;p29" title="perf_reg_rf_dep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625" y="2293200"/>
            <a:ext cx="3686100" cy="18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9" title="ONCF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9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Classification Random Forest</a:t>
            </a:r>
            <a:r>
              <a:rPr lang="fr"/>
              <a:t> : ensemble d’arbres de décision pour améliorer la robustesse de la classification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Optimisation 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b="1"/>
              <a:t>n_estimators : nombre d’arbres</a:t>
            </a:r>
            <a:r>
              <a:rPr lang="fr"/>
              <a:t> allant à 100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nombre de variables par arbre : 3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b="1"/>
              <a:t>max_depth ∈  [2; 10]</a:t>
            </a:r>
            <a:endParaRPr b="1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Elagage de la complexité du modèle permet d’</a:t>
            </a:r>
            <a:r>
              <a:rPr lang="fr" b="1"/>
              <a:t>éviter le surapprentissage</a:t>
            </a:r>
            <a:endParaRPr/>
          </a:p>
        </p:txBody>
      </p:sp>
      <p:pic>
        <p:nvPicPr>
          <p:cNvPr id="305" name="Google Shape;305;p29" title="perf_reg_rf_tre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4625" y="2293200"/>
            <a:ext cx="3686100" cy="18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III.3.  Optimisation de Random forest</a:t>
            </a:r>
            <a:endParaRPr/>
          </a:p>
        </p:txBody>
      </p:sp>
      <p:sp>
        <p:nvSpPr>
          <p:cNvPr id="311" name="Google Shape;311;p3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12" name="Google Shape;312;p30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Classification Random Forest</a:t>
            </a:r>
            <a:endParaRPr b="1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Paramètres 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fr" b="1">
                <a:solidFill>
                  <a:schemeClr val="lt1"/>
                </a:solidFill>
              </a:rPr>
              <a:t>n_estimator = 7</a:t>
            </a:r>
            <a:endParaRPr b="1">
              <a:solidFill>
                <a:schemeClr val="lt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max_features : 3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fr" b="1">
                <a:solidFill>
                  <a:schemeClr val="lt1"/>
                </a:solidFill>
              </a:rPr>
              <a:t>max_depth = 4</a:t>
            </a:r>
            <a:endParaRPr b="1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Métriques d’après la matrice : </a:t>
            </a:r>
            <a:endParaRPr b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b="1">
                <a:solidFill>
                  <a:srgbClr val="B45F06"/>
                </a:solidFill>
              </a:rPr>
              <a:t>FN = 4, </a:t>
            </a:r>
            <a:endParaRPr b="1">
              <a:solidFill>
                <a:srgbClr val="B45F06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b="1">
                <a:solidFill>
                  <a:srgbClr val="B45F06"/>
                </a:solidFill>
              </a:rPr>
              <a:t>Recall = 96,36%, </a:t>
            </a:r>
            <a:endParaRPr b="1">
              <a:solidFill>
                <a:srgbClr val="B45F06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b="1">
                <a:solidFill>
                  <a:srgbClr val="B45F06"/>
                </a:solidFill>
              </a:rPr>
              <a:t>Precision = 100%</a:t>
            </a:r>
            <a:endParaRPr/>
          </a:p>
        </p:txBody>
      </p:sp>
      <p:pic>
        <p:nvPicPr>
          <p:cNvPr id="313" name="Google Shape;313;p30" title="matrice_r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8750" y="2293200"/>
            <a:ext cx="3686100" cy="18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 title="ONCF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III.4.  Classification Kmeans</a:t>
            </a:r>
            <a:endParaRPr/>
          </a:p>
        </p:txBody>
      </p:sp>
      <p:sp>
        <p:nvSpPr>
          <p:cNvPr id="320" name="Google Shape;320;p3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pic>
        <p:nvPicPr>
          <p:cNvPr id="321" name="Google Shape;321;p31" title="ONCF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1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Classification Kmeans </a:t>
            </a:r>
            <a:r>
              <a:rPr lang="fr"/>
              <a:t>: regrouper les données en k groupes homogènes (non-supervisé)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Optimisation :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ACP (Analyse des composantes principales)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b="1"/>
              <a:t>k ∈ [2; 10]</a:t>
            </a:r>
            <a:endParaRPr b="1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Détermination du nombre optimal de clusters à l’aide de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l’indice de silhouette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l’inertie intraclasse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23" name="Google Shape;323;p31" title="choix_nclusters_kmea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250" y="2393450"/>
            <a:ext cx="4106325" cy="164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III.4.  Projection des individus sur plan factoriel</a:t>
            </a:r>
            <a:endParaRPr/>
          </a:p>
        </p:txBody>
      </p:sp>
      <p:sp>
        <p:nvSpPr>
          <p:cNvPr id="329" name="Google Shape;329;p3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pic>
        <p:nvPicPr>
          <p:cNvPr id="330" name="Google Shape;330;p32" title="ONCF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2" title="cercle_correlation(0, 1).png"/>
          <p:cNvPicPr preferRelativeResize="0"/>
          <p:nvPr/>
        </p:nvPicPr>
        <p:blipFill rotWithShape="1">
          <a:blip r:embed="rId4">
            <a:alphaModFix/>
          </a:blip>
          <a:srcRect t="5437"/>
          <a:stretch/>
        </p:blipFill>
        <p:spPr>
          <a:xfrm>
            <a:off x="1216025" y="1800199"/>
            <a:ext cx="3038501" cy="287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2" title="projection_individu (1).png"/>
          <p:cNvPicPr preferRelativeResize="0"/>
          <p:nvPr/>
        </p:nvPicPr>
        <p:blipFill rotWithShape="1">
          <a:blip r:embed="rId5">
            <a:alphaModFix/>
          </a:blip>
          <a:srcRect l="6661" t="6674" r="5812" b="4461"/>
          <a:stretch/>
        </p:blipFill>
        <p:spPr>
          <a:xfrm>
            <a:off x="4488111" y="1668587"/>
            <a:ext cx="3902616" cy="297152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2"/>
          <p:cNvSpPr/>
          <p:nvPr/>
        </p:nvSpPr>
        <p:spPr>
          <a:xfrm>
            <a:off x="5513925" y="1994950"/>
            <a:ext cx="834300" cy="24447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2"/>
          <p:cNvSpPr/>
          <p:nvPr/>
        </p:nvSpPr>
        <p:spPr>
          <a:xfrm>
            <a:off x="6117175" y="1931988"/>
            <a:ext cx="2000400" cy="24447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2"/>
          <p:cNvSpPr txBox="1"/>
          <p:nvPr/>
        </p:nvSpPr>
        <p:spPr>
          <a:xfrm>
            <a:off x="7458517" y="219862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sz="1300" b="1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III.4.  Optimisation de Kmeans</a:t>
            </a:r>
            <a:endParaRPr/>
          </a:p>
        </p:txBody>
      </p:sp>
      <p:sp>
        <p:nvSpPr>
          <p:cNvPr id="341" name="Google Shape;341;p3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pic>
        <p:nvPicPr>
          <p:cNvPr id="342" name="Google Shape;342;p33" title="ONCF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3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Classification Kmeans </a:t>
            </a:r>
            <a:endParaRPr b="1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Paramètre :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b="1"/>
              <a:t>2 axes principaux</a:t>
            </a:r>
            <a:endParaRPr b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-"/>
            </a:pPr>
            <a:r>
              <a:rPr lang="fr" b="1">
                <a:solidFill>
                  <a:schemeClr val="lt1"/>
                </a:solidFill>
              </a:rPr>
              <a:t>k = 2</a:t>
            </a:r>
            <a:endParaRPr b="1">
              <a:solidFill>
                <a:schemeClr val="lt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 b="1"/>
              <a:t>Métriques d’après la matrice : </a:t>
            </a:r>
            <a:endParaRPr b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100"/>
              <a:buChar char="-"/>
            </a:pPr>
            <a:r>
              <a:rPr lang="fr" b="1">
                <a:solidFill>
                  <a:srgbClr val="B45F06"/>
                </a:solidFill>
              </a:rPr>
              <a:t>FN = 0, </a:t>
            </a:r>
            <a:endParaRPr b="1">
              <a:solidFill>
                <a:srgbClr val="B45F06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100"/>
              <a:buChar char="-"/>
            </a:pPr>
            <a:r>
              <a:rPr lang="fr" b="1">
                <a:solidFill>
                  <a:srgbClr val="B45F06"/>
                </a:solidFill>
              </a:rPr>
              <a:t>Recall = 100%, </a:t>
            </a:r>
            <a:endParaRPr b="1">
              <a:solidFill>
                <a:srgbClr val="B45F06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100"/>
              <a:buChar char="-"/>
            </a:pPr>
            <a:r>
              <a:rPr lang="fr" b="1">
                <a:solidFill>
                  <a:srgbClr val="B45F06"/>
                </a:solidFill>
              </a:rPr>
              <a:t>Precision = 97,32%</a:t>
            </a:r>
            <a:endParaRPr b="1">
              <a:solidFill>
                <a:srgbClr val="B45F06"/>
              </a:solidFill>
            </a:endParaRPr>
          </a:p>
        </p:txBody>
      </p:sp>
      <p:pic>
        <p:nvPicPr>
          <p:cNvPr id="344" name="Google Shape;344;p33" title="matrice_clf_kmea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152" y="2281100"/>
            <a:ext cx="3734572" cy="1867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4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IV.  Conclusion</a:t>
            </a:r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IV.  Modèle Kmeans est le plus performant</a:t>
            </a:r>
            <a:endParaRPr/>
          </a:p>
        </p:txBody>
      </p:sp>
      <p:sp>
        <p:nvSpPr>
          <p:cNvPr id="356" name="Google Shape;356;p3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57" name="Google Shape;357;p35"/>
          <p:cNvSpPr txBox="1">
            <a:spLocks noGrp="1"/>
          </p:cNvSpPr>
          <p:nvPr>
            <p:ph type="body" idx="1"/>
          </p:nvPr>
        </p:nvSpPr>
        <p:spPr>
          <a:xfrm>
            <a:off x="2319150" y="1800200"/>
            <a:ext cx="4505700" cy="2992200"/>
          </a:xfrm>
          <a:prstGeom prst="rect">
            <a:avLst/>
          </a:prstGeom>
        </p:spPr>
        <p:txBody>
          <a:bodyPr spcFirstLastPara="1" wrap="square" lIns="111750" tIns="111750" rIns="111750" bIns="11175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467"/>
              </a:spcAft>
              <a:buNone/>
            </a:pPr>
            <a:r>
              <a:rPr lang="fr" sz="1589"/>
              <a:t>Entre les modèles supervisés</a:t>
            </a:r>
            <a:endParaRPr sz="1589"/>
          </a:p>
        </p:txBody>
      </p:sp>
      <p:pic>
        <p:nvPicPr>
          <p:cNvPr id="358" name="Google Shape;358;p35" title="comparaison_roc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9150" y="2396124"/>
            <a:ext cx="4505685" cy="2252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5" title="ONCF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475" y="219485"/>
            <a:ext cx="11239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5" title="comparaison_recal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7175" y="2123888"/>
            <a:ext cx="4689649" cy="234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Merci pour votre attention !</a:t>
            </a:r>
            <a:endParaRPr/>
          </a:p>
        </p:txBody>
      </p:sp>
      <p:sp>
        <p:nvSpPr>
          <p:cNvPr id="366" name="Google Shape;366;p3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000">
                <a:solidFill>
                  <a:schemeClr val="dk2"/>
                </a:solidFill>
              </a:rPr>
              <a:t>20</a:t>
            </a:fld>
            <a:endParaRPr sz="1000">
              <a:solidFill>
                <a:schemeClr val="dk2"/>
              </a:solidFill>
            </a:endParaRPr>
          </a:p>
        </p:txBody>
      </p:sp>
      <p:pic>
        <p:nvPicPr>
          <p:cNvPr id="367" name="Google Shape;367;p36" title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1363" y="948703"/>
            <a:ext cx="2201262" cy="11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Office PowerPoint</Application>
  <PresentationFormat>Affichage à l'écran (16:9)</PresentationFormat>
  <Paragraphs>132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Calibri</vt:lpstr>
      <vt:lpstr>Nunito</vt:lpstr>
      <vt:lpstr>Arial</vt:lpstr>
      <vt:lpstr>Shift</vt:lpstr>
      <vt:lpstr>Détection  des faux billets</vt:lpstr>
      <vt:lpstr>Objectif : Optimisation de la détection des anomalies des billets</vt:lpstr>
      <vt:lpstr>I.1.  Répartition inégale des billets et valeurs manquantes</vt:lpstr>
      <vt:lpstr>I.2.  Forte volatilité des valeurs “margin_low” et “length”</vt:lpstr>
      <vt:lpstr>I.3.  Corrélations fortes avec la cible “is_genuine”</vt:lpstr>
      <vt:lpstr>II.1.  Traitement des valeurs manquantes avec régression linéaire </vt:lpstr>
      <vt:lpstr>II.2.  Résultats de régression linéaire</vt:lpstr>
      <vt:lpstr>II.3.  Hypothèses semblent globalement validées</vt:lpstr>
      <vt:lpstr>II.4.  Distribution de “is_genuine” reste stable, sans signe de surapprentissage</vt:lpstr>
      <vt:lpstr>III.1.  Optimisation de la régression logistique</vt:lpstr>
      <vt:lpstr>III.2.  Classification KNN</vt:lpstr>
      <vt:lpstr>III.2.  Optimisation de KNN</vt:lpstr>
      <vt:lpstr>III.3.  Classification Random forest</vt:lpstr>
      <vt:lpstr>III.3.  Optimisation de Random forest</vt:lpstr>
      <vt:lpstr>III.4.  Classification Kmeans</vt:lpstr>
      <vt:lpstr>III.4.  Projection des individus sur plan factoriel</vt:lpstr>
      <vt:lpstr>III.4.  Optimisation de Kmeans</vt:lpstr>
      <vt:lpstr>IV.  Conclusion</vt:lpstr>
      <vt:lpstr>IV.  Modèle Kmeans est le plus performant</vt:lpstr>
      <vt:lpstr> Merci pour votre attention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rong CAI</cp:lastModifiedBy>
  <cp:revision>1</cp:revision>
  <dcterms:modified xsi:type="dcterms:W3CDTF">2026-04-17T13:03:02Z</dcterms:modified>
</cp:coreProperties>
</file>