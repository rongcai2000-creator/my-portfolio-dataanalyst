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Raleway Thin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DBE2C7-B8DB-4971-BB66-1B6876A2AB9B}">
  <a:tblStyle styleId="{C9DBE2C7-B8DB-4971-BB66-1B6876A2AB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Thin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Thin-italic.fntdata"/><Relationship Id="rId30" Type="http://schemas.openxmlformats.org/officeDocument/2006/relationships/font" Target="fonts/RalewayThin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RalewayThin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1ee4b3f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1ee4b3f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7d5ab2ee0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7d5ab2ee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7d5ab2ee0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7d5ab2ee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25fbe520c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25fbe520c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25fbe520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25fbe520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7d5ab2ee0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7d5ab2ee0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25fbe520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25fbe520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7d5ab2ee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7d5ab2ee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7d5ab2ee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7d5ab2ee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7d5ab2ee0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7d5ab2ee0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1ee4b3f2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1ee4b3f2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1ee4b3f2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1ee4b3f2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7d5ab2ee0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7d5ab2ee0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b9157eb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bb9157eb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350a221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c350a221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6202a97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c6202a97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7d5ab2ee0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7d5ab2ee0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FD966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rallybel.com/links_iso_national.html" TargetMode="External"/><Relationship Id="rId4" Type="http://schemas.openxmlformats.org/officeDocument/2006/relationships/hyperlink" Target="https://donnees.banquemondiale.org/#" TargetMode="External"/><Relationship Id="rId5" Type="http://schemas.openxmlformats.org/officeDocument/2006/relationships/hyperlink" Target="https://www.fao.org/faostat/fr/#data" TargetMode="Externa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Etude de marché visant l’expansion internationale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latin typeface="Raleway"/>
                <a:ea typeface="Raleway"/>
                <a:cs typeface="Raleway"/>
                <a:sym typeface="Raleway"/>
              </a:rPr>
              <a:t>Identifier des groupes de pays à fort potentiel pour l’expansion internationale</a:t>
            </a:r>
            <a:endParaRPr sz="26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0" name="Google Shape;60;p13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6684" y="2599075"/>
            <a:ext cx="2882078" cy="254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Plan</a:t>
            </a:r>
            <a:endParaRPr/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7" name="Google Shape;67;p14"/>
          <p:cNvSpPr txBox="1"/>
          <p:nvPr>
            <p:ph idx="4294967295" type="body"/>
          </p:nvPr>
        </p:nvSpPr>
        <p:spPr>
          <a:xfrm>
            <a:off x="311700" y="2817700"/>
            <a:ext cx="8520600" cy="17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aleway"/>
              <a:buAutoNum type="arabicPeriod"/>
            </a:pPr>
            <a:r>
              <a:rPr b="1" lang="fr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Préparation et nettoyage des données</a:t>
            </a:r>
            <a:endParaRPr b="1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aleway"/>
              <a:buAutoNum type="arabicPeriod"/>
            </a:pPr>
            <a:r>
              <a:rPr b="1" lang="fr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ACP (Analyse des variables et composantes principales)</a:t>
            </a:r>
            <a:endParaRPr b="1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aleway"/>
              <a:buAutoNum type="arabicPeriod"/>
            </a:pPr>
            <a:r>
              <a:rPr b="1" lang="fr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Regroupement selon la méthode de clustering (CAH, </a:t>
            </a:r>
            <a:r>
              <a:rPr b="1" lang="fr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K-means</a:t>
            </a:r>
            <a:r>
              <a:rPr b="1" lang="fr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endParaRPr b="1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255375" y="610800"/>
            <a:ext cx="6644700" cy="9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Objectif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Identifier des groupes de pays à fort potentiel pour l’expansion internationale</a:t>
            </a:r>
            <a:endParaRPr sz="2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9" name="Google Shape;69;p1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Préparation et nettoyage des données</a:t>
            </a:r>
            <a:endParaRPr/>
          </a:p>
        </p:txBody>
      </p:sp>
      <p:sp>
        <p:nvSpPr>
          <p:cNvPr id="75" name="Google Shape;75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fr" sz="1842">
                <a:latin typeface="Raleway"/>
                <a:ea typeface="Raleway"/>
                <a:cs typeface="Raleway"/>
                <a:sym typeface="Raleway"/>
              </a:rPr>
              <a:t>Disposer d’un jeu de données complet, de qualité et exploitable permettant l’application des méthodes d’ACP et de clustering</a:t>
            </a:r>
            <a:endParaRPr sz="1842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8" name="Google Shape;78;p15" title="capture-decran-2022-05-07-a-1731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036" y="1595575"/>
            <a:ext cx="3889951" cy="19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Choix des variables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b="1" lang="fr" sz="1200">
                <a:latin typeface="Raleway"/>
                <a:ea typeface="Raleway"/>
                <a:cs typeface="Raleway"/>
                <a:sym typeface="Raleway"/>
              </a:rPr>
              <a:t>FAO :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fr" sz="1200">
                <a:latin typeface="Raleway"/>
                <a:ea typeface="Raleway"/>
                <a:cs typeface="Raleway"/>
                <a:sym typeface="Raleway"/>
              </a:rPr>
              <a:t>Population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fr" sz="1200">
                <a:latin typeface="Raleway"/>
                <a:ea typeface="Raleway"/>
                <a:cs typeface="Raleway"/>
                <a:sym typeface="Raleway"/>
              </a:rPr>
              <a:t>Disponibilité alimentaire (regroupant plusieurs variables)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fr" sz="1200">
                <a:latin typeface="Raleway"/>
                <a:ea typeface="Raleway"/>
                <a:cs typeface="Raleway"/>
                <a:sym typeface="Raleway"/>
              </a:rPr>
              <a:t>Émissions agricoles (CH₄, N₂O)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fr" sz="1200">
                <a:latin typeface="Raleway"/>
                <a:ea typeface="Raleway"/>
                <a:cs typeface="Raleway"/>
                <a:sym typeface="Raleway"/>
              </a:rPr>
              <a:t>Deux indicateurs des ODD (Objectifs de Développement Durable)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fr" sz="1200">
                <a:latin typeface="Raleway"/>
                <a:ea typeface="Raleway"/>
                <a:cs typeface="Raleway"/>
                <a:sym typeface="Raleway"/>
              </a:rPr>
              <a:t>Sécurité alimentaire (regroupant plusieurs variables)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fr" sz="1200">
                <a:latin typeface="Raleway"/>
                <a:ea typeface="Raleway"/>
                <a:cs typeface="Raleway"/>
                <a:sym typeface="Raleway"/>
              </a:rPr>
              <a:t>Inflation des prix alimentaires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fr" sz="1200">
                <a:latin typeface="Raleway"/>
                <a:ea typeface="Raleway"/>
                <a:cs typeface="Raleway"/>
                <a:sym typeface="Raleway"/>
              </a:rPr>
              <a:t>IPP (Indice des Prix à la Production)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b="1" lang="fr" sz="1200">
                <a:latin typeface="Raleway"/>
                <a:ea typeface="Raleway"/>
                <a:cs typeface="Raleway"/>
                <a:sym typeface="Raleway"/>
              </a:rPr>
              <a:t>Banque mondiale :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fr" sz="1200">
                <a:latin typeface="Raleway"/>
                <a:ea typeface="Raleway"/>
                <a:cs typeface="Raleway"/>
                <a:sym typeface="Raleway"/>
              </a:rPr>
              <a:t>Dépenses publiques consacrées aux loisirs, à la culture et à la religion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fr" sz="1200">
                <a:latin typeface="Raleway"/>
                <a:ea typeface="Raleway"/>
                <a:cs typeface="Raleway"/>
                <a:sym typeface="Raleway"/>
              </a:rPr>
              <a:t>Emploi rural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fr" sz="1200">
                <a:latin typeface="Raleway"/>
                <a:ea typeface="Raleway"/>
                <a:cs typeface="Raleway"/>
                <a:sym typeface="Raleway"/>
              </a:rPr>
              <a:t>Paiements d’achats sur Internet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b="1" lang="fr" sz="1200">
                <a:latin typeface="Raleway"/>
                <a:ea typeface="Raleway"/>
                <a:cs typeface="Raleway"/>
                <a:sym typeface="Raleway"/>
              </a:rPr>
              <a:t>Datagouv :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fr" sz="1200">
                <a:latin typeface="Raleway"/>
                <a:ea typeface="Raleway"/>
                <a:cs typeface="Raleway"/>
                <a:sym typeface="Raleway"/>
              </a:rPr>
              <a:t>Code du pays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fr" sz="1200">
                <a:latin typeface="Raleway"/>
                <a:ea typeface="Raleway"/>
                <a:cs typeface="Raleway"/>
                <a:sym typeface="Raleway"/>
              </a:rPr>
              <a:t>=&gt; respectant la diversité du </a:t>
            </a:r>
            <a:r>
              <a:rPr b="1" lang="fr" sz="1200">
                <a:latin typeface="Raleway"/>
                <a:ea typeface="Raleway"/>
                <a:cs typeface="Raleway"/>
                <a:sym typeface="Raleway"/>
              </a:rPr>
              <a:t>PESTEL (Politique, économique, socioculturel, technologique, écologique, légal)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60"/>
          </a:p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6" name="Google Shape;86;p16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Préparation d’un jeu de données complet</a:t>
            </a:r>
            <a:endParaRPr/>
          </a:p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3" name="Google Shape;93;p17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7"/>
          <p:cNvGrpSpPr/>
          <p:nvPr/>
        </p:nvGrpSpPr>
        <p:grpSpPr>
          <a:xfrm>
            <a:off x="311696" y="1164687"/>
            <a:ext cx="7740479" cy="3893508"/>
            <a:chOff x="311696" y="1164687"/>
            <a:chExt cx="7740479" cy="3893508"/>
          </a:xfrm>
        </p:grpSpPr>
        <p:grpSp>
          <p:nvGrpSpPr>
            <p:cNvPr id="95" name="Google Shape;95;p17"/>
            <p:cNvGrpSpPr/>
            <p:nvPr/>
          </p:nvGrpSpPr>
          <p:grpSpPr>
            <a:xfrm>
              <a:off x="3683018" y="2459059"/>
              <a:ext cx="604694" cy="895855"/>
              <a:chOff x="4191875" y="2082925"/>
              <a:chExt cx="461000" cy="719100"/>
            </a:xfrm>
          </p:grpSpPr>
          <p:cxnSp>
            <p:nvCxnSpPr>
              <p:cNvPr id="96" name="Google Shape;96;p17"/>
              <p:cNvCxnSpPr/>
              <p:nvPr/>
            </p:nvCxnSpPr>
            <p:spPr>
              <a:xfrm flipH="1" rot="10800000">
                <a:off x="4191875" y="2800700"/>
                <a:ext cx="231300" cy="600"/>
              </a:xfrm>
              <a:prstGeom prst="straightConnector1">
                <a:avLst/>
              </a:prstGeom>
              <a:noFill/>
              <a:ln cap="flat" cmpd="sng" w="125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" name="Google Shape;97;p17"/>
              <p:cNvCxnSpPr/>
              <p:nvPr/>
            </p:nvCxnSpPr>
            <p:spPr>
              <a:xfrm>
                <a:off x="4421567" y="2082925"/>
                <a:ext cx="0" cy="719100"/>
              </a:xfrm>
              <a:prstGeom prst="straightConnector1">
                <a:avLst/>
              </a:prstGeom>
              <a:noFill/>
              <a:ln cap="flat" cmpd="sng" w="125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" name="Google Shape;98;p17"/>
              <p:cNvCxnSpPr/>
              <p:nvPr/>
            </p:nvCxnSpPr>
            <p:spPr>
              <a:xfrm flipH="1" rot="10800000">
                <a:off x="4191875" y="2084000"/>
                <a:ext cx="231300" cy="600"/>
              </a:xfrm>
              <a:prstGeom prst="straightConnector1">
                <a:avLst/>
              </a:prstGeom>
              <a:noFill/>
              <a:ln cap="flat" cmpd="sng" w="125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" name="Google Shape;99;p17"/>
              <p:cNvCxnSpPr/>
              <p:nvPr/>
            </p:nvCxnSpPr>
            <p:spPr>
              <a:xfrm flipH="1" rot="10800000">
                <a:off x="4421575" y="2442350"/>
                <a:ext cx="231300" cy="600"/>
              </a:xfrm>
              <a:prstGeom prst="straightConnector1">
                <a:avLst/>
              </a:prstGeom>
              <a:noFill/>
              <a:ln cap="flat" cmpd="sng" w="125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0" name="Google Shape;100;p17"/>
            <p:cNvSpPr txBox="1"/>
            <p:nvPr/>
          </p:nvSpPr>
          <p:spPr>
            <a:xfrm>
              <a:off x="4346017" y="2828075"/>
              <a:ext cx="604800" cy="34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26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rPr>
                <a:t>……</a:t>
              </a:r>
              <a:endParaRPr b="1" sz="26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101" name="Google Shape;101;p17"/>
            <p:cNvGrpSpPr/>
            <p:nvPr/>
          </p:nvGrpSpPr>
          <p:grpSpPr>
            <a:xfrm>
              <a:off x="4940248" y="2612379"/>
              <a:ext cx="3111926" cy="2445816"/>
              <a:chOff x="4940248" y="2612379"/>
              <a:chExt cx="3111926" cy="2445816"/>
            </a:xfrm>
          </p:grpSpPr>
          <p:pic>
            <p:nvPicPr>
              <p:cNvPr id="102" name="Google Shape;102;p17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004380" y="3613796"/>
                <a:ext cx="924994" cy="8451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03" name="Google Shape;103;p17"/>
              <p:cNvGrpSpPr/>
              <p:nvPr/>
            </p:nvGrpSpPr>
            <p:grpSpPr>
              <a:xfrm>
                <a:off x="6232605" y="3464664"/>
                <a:ext cx="771760" cy="1143369"/>
                <a:chOff x="4191875" y="2082925"/>
                <a:chExt cx="461000" cy="719100"/>
              </a:xfrm>
            </p:grpSpPr>
            <p:cxnSp>
              <p:nvCxnSpPr>
                <p:cNvPr id="104" name="Google Shape;104;p17"/>
                <p:cNvCxnSpPr/>
                <p:nvPr/>
              </p:nvCxnSpPr>
              <p:spPr>
                <a:xfrm flipH="1" rot="10800000">
                  <a:off x="4191875" y="2800700"/>
                  <a:ext cx="231300" cy="600"/>
                </a:xfrm>
                <a:prstGeom prst="straightConnector1">
                  <a:avLst/>
                </a:prstGeom>
                <a:noFill/>
                <a:ln cap="flat" cmpd="sng" w="159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7"/>
                <p:cNvCxnSpPr/>
                <p:nvPr/>
              </p:nvCxnSpPr>
              <p:spPr>
                <a:xfrm>
                  <a:off x="4421567" y="2082925"/>
                  <a:ext cx="0" cy="719100"/>
                </a:xfrm>
                <a:prstGeom prst="straightConnector1">
                  <a:avLst/>
                </a:prstGeom>
                <a:noFill/>
                <a:ln cap="flat" cmpd="sng" w="159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7"/>
                <p:cNvCxnSpPr/>
                <p:nvPr/>
              </p:nvCxnSpPr>
              <p:spPr>
                <a:xfrm flipH="1" rot="10800000">
                  <a:off x="4191875" y="2084000"/>
                  <a:ext cx="231300" cy="600"/>
                </a:xfrm>
                <a:prstGeom prst="straightConnector1">
                  <a:avLst/>
                </a:prstGeom>
                <a:noFill/>
                <a:ln cap="flat" cmpd="sng" w="159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7"/>
                <p:cNvCxnSpPr/>
                <p:nvPr/>
              </p:nvCxnSpPr>
              <p:spPr>
                <a:xfrm flipH="1" rot="10800000">
                  <a:off x="4421575" y="2442350"/>
                  <a:ext cx="231300" cy="600"/>
                </a:xfrm>
                <a:prstGeom prst="straightConnector1">
                  <a:avLst/>
                </a:prstGeom>
                <a:noFill/>
                <a:ln cap="flat" cmpd="sng" w="159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8" name="Google Shape;108;p17"/>
              <p:cNvGrpSpPr/>
              <p:nvPr/>
            </p:nvGrpSpPr>
            <p:grpSpPr>
              <a:xfrm>
                <a:off x="5009114" y="2985726"/>
                <a:ext cx="651255" cy="964888"/>
                <a:chOff x="4191875" y="2082925"/>
                <a:chExt cx="461000" cy="719100"/>
              </a:xfrm>
            </p:grpSpPr>
            <p:cxnSp>
              <p:nvCxnSpPr>
                <p:cNvPr id="109" name="Google Shape;109;p17"/>
                <p:cNvCxnSpPr/>
                <p:nvPr/>
              </p:nvCxnSpPr>
              <p:spPr>
                <a:xfrm flipH="1" rot="10800000">
                  <a:off x="4191875" y="2800700"/>
                  <a:ext cx="231300" cy="600"/>
                </a:xfrm>
                <a:prstGeom prst="straightConnector1">
                  <a:avLst/>
                </a:prstGeom>
                <a:noFill/>
                <a:ln cap="flat" cmpd="sng" w="134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7"/>
                <p:cNvCxnSpPr/>
                <p:nvPr/>
              </p:nvCxnSpPr>
              <p:spPr>
                <a:xfrm>
                  <a:off x="4421567" y="2082925"/>
                  <a:ext cx="0" cy="719100"/>
                </a:xfrm>
                <a:prstGeom prst="straightConnector1">
                  <a:avLst/>
                </a:prstGeom>
                <a:noFill/>
                <a:ln cap="flat" cmpd="sng" w="134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7"/>
                <p:cNvCxnSpPr/>
                <p:nvPr/>
              </p:nvCxnSpPr>
              <p:spPr>
                <a:xfrm flipH="1" rot="10800000">
                  <a:off x="4191875" y="2084000"/>
                  <a:ext cx="231300" cy="600"/>
                </a:xfrm>
                <a:prstGeom prst="straightConnector1">
                  <a:avLst/>
                </a:prstGeom>
                <a:noFill/>
                <a:ln cap="flat" cmpd="sng" w="134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7"/>
                <p:cNvCxnSpPr/>
                <p:nvPr/>
              </p:nvCxnSpPr>
              <p:spPr>
                <a:xfrm flipH="1" rot="10800000">
                  <a:off x="4421575" y="2442350"/>
                  <a:ext cx="231300" cy="600"/>
                </a:xfrm>
                <a:prstGeom prst="straightConnector1">
                  <a:avLst/>
                </a:prstGeom>
                <a:noFill/>
                <a:ln cap="flat" cmpd="sng" w="134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3" name="Google Shape;113;p17"/>
              <p:cNvSpPr txBox="1"/>
              <p:nvPr/>
            </p:nvSpPr>
            <p:spPr>
              <a:xfrm>
                <a:off x="4948800" y="2612379"/>
                <a:ext cx="771900" cy="3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Jointure </a:t>
                </a:r>
                <a:endParaRPr sz="9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gauche</a:t>
                </a:r>
                <a:endParaRPr sz="9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14" name="Google Shape;114;p17"/>
              <p:cNvSpPr txBox="1"/>
              <p:nvPr/>
            </p:nvSpPr>
            <p:spPr>
              <a:xfrm>
                <a:off x="5454874" y="3816875"/>
                <a:ext cx="1170600" cy="3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1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BDD après jointure N-1</a:t>
                </a:r>
                <a:endParaRPr sz="11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pic>
            <p:nvPicPr>
              <p:cNvPr id="115" name="Google Shape;115;p17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660382" y="3225383"/>
                <a:ext cx="531505" cy="48557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16" name="Google Shape;116;p17"/>
              <p:cNvGrpSpPr/>
              <p:nvPr/>
            </p:nvGrpSpPr>
            <p:grpSpPr>
              <a:xfrm>
                <a:off x="5080421" y="4402040"/>
                <a:ext cx="1111444" cy="370947"/>
                <a:chOff x="5080421" y="4402040"/>
                <a:chExt cx="1111444" cy="370947"/>
              </a:xfrm>
            </p:grpSpPr>
            <p:pic>
              <p:nvPicPr>
                <p:cNvPr id="117" name="Google Shape;117;p17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5080421" y="4402040"/>
                  <a:ext cx="370947" cy="3709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8" name="Google Shape;118;p17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5820918" y="4402040"/>
                  <a:ext cx="370947" cy="3709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9" name="Google Shape;119;p17"/>
                <p:cNvSpPr/>
                <p:nvPr/>
              </p:nvSpPr>
              <p:spPr>
                <a:xfrm>
                  <a:off x="5520492" y="4472571"/>
                  <a:ext cx="229886" cy="229886"/>
                </a:xfrm>
                <a:prstGeom prst="mathMultiply">
                  <a:avLst>
                    <a:gd fmla="val 23520" name="adj1"/>
                  </a:avLst>
                </a:prstGeom>
                <a:solidFill>
                  <a:schemeClr val="lt2"/>
                </a:solidFill>
                <a:ln cap="flat" cmpd="sng" w="72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9375" lIns="69375" spcFirstLastPara="1" rIns="69375" wrap="square" tIns="693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62"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  <p:sp>
            <p:nvSpPr>
              <p:cNvPr id="120" name="Google Shape;120;p17"/>
              <p:cNvSpPr txBox="1"/>
              <p:nvPr/>
            </p:nvSpPr>
            <p:spPr>
              <a:xfrm>
                <a:off x="6881574" y="4458900"/>
                <a:ext cx="1170600" cy="3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1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BDD finale</a:t>
                </a:r>
                <a:endParaRPr b="1" sz="11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21" name="Google Shape;121;p17"/>
              <p:cNvSpPr txBox="1"/>
              <p:nvPr/>
            </p:nvSpPr>
            <p:spPr>
              <a:xfrm>
                <a:off x="4940248" y="4715595"/>
                <a:ext cx="651300" cy="3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Code du </a:t>
                </a:r>
                <a:endParaRPr sz="9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pays</a:t>
                </a:r>
                <a:endParaRPr sz="9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22" name="Google Shape;122;p17"/>
              <p:cNvSpPr txBox="1"/>
              <p:nvPr/>
            </p:nvSpPr>
            <p:spPr>
              <a:xfrm>
                <a:off x="5703047" y="4715595"/>
                <a:ext cx="651300" cy="3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Fichier N</a:t>
                </a:r>
                <a:endParaRPr sz="9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123" name="Google Shape;123;p17"/>
            <p:cNvGrpSpPr/>
            <p:nvPr/>
          </p:nvGrpSpPr>
          <p:grpSpPr>
            <a:xfrm>
              <a:off x="311696" y="1164687"/>
              <a:ext cx="3677529" cy="2272258"/>
              <a:chOff x="311696" y="1164687"/>
              <a:chExt cx="3677529" cy="2272258"/>
            </a:xfrm>
          </p:grpSpPr>
          <p:grpSp>
            <p:nvGrpSpPr>
              <p:cNvPr id="124" name="Google Shape;124;p17"/>
              <p:cNvGrpSpPr/>
              <p:nvPr/>
            </p:nvGrpSpPr>
            <p:grpSpPr>
              <a:xfrm>
                <a:off x="467864" y="1488791"/>
                <a:ext cx="3203524" cy="1605552"/>
                <a:chOff x="467869" y="1488834"/>
                <a:chExt cx="3925406" cy="1967348"/>
              </a:xfrm>
            </p:grpSpPr>
            <p:grpSp>
              <p:nvGrpSpPr>
                <p:cNvPr id="125" name="Google Shape;125;p17"/>
                <p:cNvGrpSpPr/>
                <p:nvPr/>
              </p:nvGrpSpPr>
              <p:grpSpPr>
                <a:xfrm>
                  <a:off x="2970242" y="2107655"/>
                  <a:ext cx="771760" cy="1143369"/>
                  <a:chOff x="4191875" y="2082925"/>
                  <a:chExt cx="461000" cy="719100"/>
                </a:xfrm>
              </p:grpSpPr>
              <p:cxnSp>
                <p:nvCxnSpPr>
                  <p:cNvPr id="126" name="Google Shape;126;p17"/>
                  <p:cNvCxnSpPr/>
                  <p:nvPr/>
                </p:nvCxnSpPr>
                <p:spPr>
                  <a:xfrm flipH="1" rot="10800000">
                    <a:off x="4191875" y="2800700"/>
                    <a:ext cx="231300" cy="600"/>
                  </a:xfrm>
                  <a:prstGeom prst="straightConnector1">
                    <a:avLst/>
                  </a:prstGeom>
                  <a:noFill/>
                  <a:ln cap="flat" cmpd="sng" w="130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7" name="Google Shape;127;p17"/>
                  <p:cNvCxnSpPr/>
                  <p:nvPr/>
                </p:nvCxnSpPr>
                <p:spPr>
                  <a:xfrm>
                    <a:off x="4421567" y="2082925"/>
                    <a:ext cx="0" cy="719100"/>
                  </a:xfrm>
                  <a:prstGeom prst="straightConnector1">
                    <a:avLst/>
                  </a:prstGeom>
                  <a:noFill/>
                  <a:ln cap="flat" cmpd="sng" w="130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8" name="Google Shape;128;p17"/>
                  <p:cNvCxnSpPr/>
                  <p:nvPr/>
                </p:nvCxnSpPr>
                <p:spPr>
                  <a:xfrm flipH="1" rot="10800000">
                    <a:off x="4191875" y="2084000"/>
                    <a:ext cx="231300" cy="600"/>
                  </a:xfrm>
                  <a:prstGeom prst="straightConnector1">
                    <a:avLst/>
                  </a:prstGeom>
                  <a:noFill/>
                  <a:ln cap="flat" cmpd="sng" w="130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9" name="Google Shape;129;p17"/>
                  <p:cNvCxnSpPr/>
                  <p:nvPr/>
                </p:nvCxnSpPr>
                <p:spPr>
                  <a:xfrm flipH="1" rot="10800000">
                    <a:off x="4421575" y="2442350"/>
                    <a:ext cx="231300" cy="600"/>
                  </a:xfrm>
                  <a:prstGeom prst="straightConnector1">
                    <a:avLst/>
                  </a:prstGeom>
                  <a:noFill/>
                  <a:ln cap="flat" cmpd="sng" w="130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130" name="Google Shape;130;p17"/>
                <p:cNvGrpSpPr/>
                <p:nvPr/>
              </p:nvGrpSpPr>
              <p:grpSpPr>
                <a:xfrm>
                  <a:off x="467869" y="1488834"/>
                  <a:ext cx="2502081" cy="1210951"/>
                  <a:chOff x="467869" y="1488834"/>
                  <a:chExt cx="2502081" cy="1210951"/>
                </a:xfrm>
              </p:grpSpPr>
              <p:pic>
                <p:nvPicPr>
                  <p:cNvPr id="131" name="Google Shape;131;p17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2318675" y="1814725"/>
                    <a:ext cx="651275" cy="5949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132" name="Google Shape;132;p17"/>
                  <p:cNvGrpSpPr/>
                  <p:nvPr/>
                </p:nvGrpSpPr>
                <p:grpSpPr>
                  <a:xfrm>
                    <a:off x="1857675" y="1689685"/>
                    <a:ext cx="461000" cy="845086"/>
                    <a:chOff x="4191875" y="2082925"/>
                    <a:chExt cx="461000" cy="719100"/>
                  </a:xfrm>
                </p:grpSpPr>
                <p:cxnSp>
                  <p:nvCxnSpPr>
                    <p:cNvPr id="133" name="Google Shape;133;p17"/>
                    <p:cNvCxnSpPr/>
                    <p:nvPr/>
                  </p:nvCxnSpPr>
                  <p:spPr>
                    <a:xfrm flipH="1" rot="10800000">
                      <a:off x="4191875" y="2800700"/>
                      <a:ext cx="231300" cy="600"/>
                    </a:xfrm>
                    <a:prstGeom prst="straightConnector1">
                      <a:avLst/>
                    </a:prstGeom>
                    <a:noFill/>
                    <a:ln cap="flat" cmpd="sng" w="777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34" name="Google Shape;134;p17"/>
                    <p:cNvCxnSpPr/>
                    <p:nvPr/>
                  </p:nvCxnSpPr>
                  <p:spPr>
                    <a:xfrm>
                      <a:off x="4421567" y="2082925"/>
                      <a:ext cx="0" cy="719100"/>
                    </a:xfrm>
                    <a:prstGeom prst="straightConnector1">
                      <a:avLst/>
                    </a:prstGeom>
                    <a:noFill/>
                    <a:ln cap="flat" cmpd="sng" w="777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35" name="Google Shape;135;p17"/>
                    <p:cNvCxnSpPr/>
                    <p:nvPr/>
                  </p:nvCxnSpPr>
                  <p:spPr>
                    <a:xfrm flipH="1" rot="10800000">
                      <a:off x="4191875" y="2084000"/>
                      <a:ext cx="231300" cy="600"/>
                    </a:xfrm>
                    <a:prstGeom prst="straightConnector1">
                      <a:avLst/>
                    </a:prstGeom>
                    <a:noFill/>
                    <a:ln cap="flat" cmpd="sng" w="777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36" name="Google Shape;136;p17"/>
                    <p:cNvCxnSpPr/>
                    <p:nvPr/>
                  </p:nvCxnSpPr>
                  <p:spPr>
                    <a:xfrm flipH="1" rot="10800000">
                      <a:off x="4421575" y="2442350"/>
                      <a:ext cx="231300" cy="600"/>
                    </a:xfrm>
                    <a:prstGeom prst="straightConnector1">
                      <a:avLst/>
                    </a:prstGeom>
                    <a:noFill/>
                    <a:ln cap="flat" cmpd="sng" w="777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137" name="Google Shape;137;p17"/>
                  <p:cNvGrpSpPr/>
                  <p:nvPr/>
                </p:nvGrpSpPr>
                <p:grpSpPr>
                  <a:xfrm>
                    <a:off x="467869" y="1488834"/>
                    <a:ext cx="1363660" cy="454553"/>
                    <a:chOff x="467850" y="1488775"/>
                    <a:chExt cx="1466774" cy="488924"/>
                  </a:xfrm>
                </p:grpSpPr>
                <p:pic>
                  <p:nvPicPr>
                    <p:cNvPr id="138" name="Google Shape;138;p17"/>
                    <p:cNvPicPr preferRelativeResize="0"/>
                    <p:nvPr/>
                  </p:nvPicPr>
                  <p:blipFill>
                    <a:blip r:embed="rId5">
                      <a:alphaModFix/>
                    </a:blip>
                    <a:stretch>
                      <a:fillRect/>
                    </a:stretch>
                  </p:blipFill>
                  <p:spPr>
                    <a:xfrm>
                      <a:off x="467850" y="1488775"/>
                      <a:ext cx="488924" cy="48892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39" name="Google Shape;139;p17"/>
                    <p:cNvPicPr preferRelativeResize="0"/>
                    <p:nvPr/>
                  </p:nvPicPr>
                  <p:blipFill>
                    <a:blip r:embed="rId7">
                      <a:alphaModFix/>
                    </a:blip>
                    <a:stretch>
                      <a:fillRect/>
                    </a:stretch>
                  </p:blipFill>
                  <p:spPr>
                    <a:xfrm>
                      <a:off x="1445700" y="1488775"/>
                      <a:ext cx="488924" cy="48892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140" name="Google Shape;140;p17"/>
                    <p:cNvSpPr/>
                    <p:nvPr/>
                  </p:nvSpPr>
                  <p:spPr>
                    <a:xfrm>
                      <a:off x="1049726" y="1581737"/>
                      <a:ext cx="303000" cy="303000"/>
                    </a:xfrm>
                    <a:prstGeom prst="mathMultiply">
                      <a:avLst>
                        <a:gd fmla="val 23520" name="adj1"/>
                      </a:avLst>
                    </a:prstGeom>
                    <a:solidFill>
                      <a:schemeClr val="lt2"/>
                    </a:solidFill>
                    <a:ln cap="flat" cmpd="sng" w="72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69375" lIns="69375" spcFirstLastPara="1" rIns="69375" wrap="square" tIns="6937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62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p:txBody>
                </p:sp>
              </p:grpSp>
              <p:grpSp>
                <p:nvGrpSpPr>
                  <p:cNvPr id="141" name="Google Shape;141;p17"/>
                  <p:cNvGrpSpPr/>
                  <p:nvPr/>
                </p:nvGrpSpPr>
                <p:grpSpPr>
                  <a:xfrm>
                    <a:off x="467869" y="2245232"/>
                    <a:ext cx="1363660" cy="454553"/>
                    <a:chOff x="467850" y="1488775"/>
                    <a:chExt cx="1466774" cy="488924"/>
                  </a:xfrm>
                </p:grpSpPr>
                <p:pic>
                  <p:nvPicPr>
                    <p:cNvPr id="142" name="Google Shape;142;p17"/>
                    <p:cNvPicPr preferRelativeResize="0"/>
                    <p:nvPr/>
                  </p:nvPicPr>
                  <p:blipFill>
                    <a:blip r:embed="rId5">
                      <a:alphaModFix/>
                    </a:blip>
                    <a:stretch>
                      <a:fillRect/>
                    </a:stretch>
                  </p:blipFill>
                  <p:spPr>
                    <a:xfrm>
                      <a:off x="467850" y="1488775"/>
                      <a:ext cx="488924" cy="48892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43" name="Google Shape;143;p17"/>
                    <p:cNvPicPr preferRelativeResize="0"/>
                    <p:nvPr/>
                  </p:nvPicPr>
                  <p:blipFill>
                    <a:blip r:embed="rId8">
                      <a:alphaModFix/>
                    </a:blip>
                    <a:stretch>
                      <a:fillRect/>
                    </a:stretch>
                  </p:blipFill>
                  <p:spPr>
                    <a:xfrm>
                      <a:off x="1445700" y="1488775"/>
                      <a:ext cx="488924" cy="48892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144" name="Google Shape;144;p17"/>
                    <p:cNvSpPr/>
                    <p:nvPr/>
                  </p:nvSpPr>
                  <p:spPr>
                    <a:xfrm>
                      <a:off x="1049726" y="1581737"/>
                      <a:ext cx="303000" cy="303000"/>
                    </a:xfrm>
                    <a:prstGeom prst="mathMultiply">
                      <a:avLst>
                        <a:gd fmla="val 23520" name="adj1"/>
                      </a:avLst>
                    </a:prstGeom>
                    <a:solidFill>
                      <a:schemeClr val="lt2"/>
                    </a:solidFill>
                    <a:ln cap="flat" cmpd="sng" w="72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69375" lIns="69375" spcFirstLastPara="1" rIns="69375" wrap="square" tIns="6937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62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p:txBody>
                </p:sp>
              </p:grpSp>
            </p:grpSp>
            <p:grpSp>
              <p:nvGrpSpPr>
                <p:cNvPr id="145" name="Google Shape;145;p17"/>
                <p:cNvGrpSpPr/>
                <p:nvPr/>
              </p:nvGrpSpPr>
              <p:grpSpPr>
                <a:xfrm>
                  <a:off x="1546594" y="3001629"/>
                  <a:ext cx="1363660" cy="454553"/>
                  <a:chOff x="467850" y="1488775"/>
                  <a:chExt cx="1466774" cy="488924"/>
                </a:xfrm>
              </p:grpSpPr>
              <p:pic>
                <p:nvPicPr>
                  <p:cNvPr id="146" name="Google Shape;146;p17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467850" y="1488775"/>
                    <a:ext cx="488924" cy="4889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47" name="Google Shape;147;p17"/>
                  <p:cNvPicPr preferRelativeResize="0"/>
                  <p:nvPr/>
                </p:nvPicPr>
                <p:blipFill>
                  <a:blip r:embed="rId9">
                    <a:alphaModFix/>
                  </a:blip>
                  <a:stretch>
                    <a:fillRect/>
                  </a:stretch>
                </p:blipFill>
                <p:spPr>
                  <a:xfrm>
                    <a:off x="1445700" y="1488775"/>
                    <a:ext cx="488924" cy="4889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48" name="Google Shape;148;p17"/>
                  <p:cNvSpPr/>
                  <p:nvPr/>
                </p:nvSpPr>
                <p:spPr>
                  <a:xfrm>
                    <a:off x="1049726" y="1581737"/>
                    <a:ext cx="303000" cy="303000"/>
                  </a:xfrm>
                  <a:prstGeom prst="mathMultiply">
                    <a:avLst>
                      <a:gd fmla="val 23520" name="adj1"/>
                    </a:avLst>
                  </a:prstGeom>
                  <a:solidFill>
                    <a:schemeClr val="lt2"/>
                  </a:solidFill>
                  <a:ln cap="flat" cmpd="sng" w="72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69375" lIns="69375" spcFirstLastPara="1" rIns="69375" wrap="square" tIns="6937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62">
                      <a:latin typeface="Source Sans Pro"/>
                      <a:ea typeface="Source Sans Pro"/>
                      <a:cs typeface="Source Sans Pro"/>
                      <a:sym typeface="Source Sans Pro"/>
                    </a:endParaRPr>
                  </a:p>
                </p:txBody>
              </p:sp>
            </p:grpSp>
            <p:pic>
              <p:nvPicPr>
                <p:cNvPr id="149" name="Google Shape;149;p17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742000" y="2381838"/>
                  <a:ext cx="651275" cy="5949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50" name="Google Shape;150;p17"/>
              <p:cNvSpPr txBox="1"/>
              <p:nvPr/>
            </p:nvSpPr>
            <p:spPr>
              <a:xfrm>
                <a:off x="1179371" y="3094345"/>
                <a:ext cx="651300" cy="3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Code du </a:t>
                </a:r>
                <a:endParaRPr sz="9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pays</a:t>
                </a:r>
                <a:endParaRPr sz="9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51" name="Google Shape;151;p17"/>
              <p:cNvSpPr txBox="1"/>
              <p:nvPr/>
            </p:nvSpPr>
            <p:spPr>
              <a:xfrm>
                <a:off x="1942170" y="3094345"/>
                <a:ext cx="651300" cy="3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Fichier 3</a:t>
                </a:r>
                <a:endParaRPr sz="9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52" name="Google Shape;152;p17"/>
              <p:cNvSpPr txBox="1"/>
              <p:nvPr/>
            </p:nvSpPr>
            <p:spPr>
              <a:xfrm>
                <a:off x="311696" y="1164687"/>
                <a:ext cx="651300" cy="3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Code du </a:t>
                </a:r>
                <a:endParaRPr sz="9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pays</a:t>
                </a:r>
                <a:endParaRPr sz="9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53" name="Google Shape;153;p17"/>
              <p:cNvSpPr txBox="1"/>
              <p:nvPr/>
            </p:nvSpPr>
            <p:spPr>
              <a:xfrm>
                <a:off x="1074495" y="1164687"/>
                <a:ext cx="651300" cy="3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Fichier 1</a:t>
                </a:r>
                <a:endParaRPr sz="9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54" name="Google Shape;154;p17"/>
              <p:cNvSpPr txBox="1"/>
              <p:nvPr/>
            </p:nvSpPr>
            <p:spPr>
              <a:xfrm>
                <a:off x="1801837" y="2249325"/>
                <a:ext cx="1170600" cy="3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BDD après première jointure</a:t>
                </a:r>
                <a:endParaRPr sz="9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55" name="Google Shape;155;p17"/>
              <p:cNvSpPr txBox="1"/>
              <p:nvPr/>
            </p:nvSpPr>
            <p:spPr>
              <a:xfrm>
                <a:off x="2818624" y="2735688"/>
                <a:ext cx="1170600" cy="3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100">
                    <a:solidFill>
                      <a:schemeClr val="accen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BDD après jointure 2</a:t>
                </a:r>
                <a:endParaRPr sz="11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4976350" y="1152475"/>
            <a:ext cx="3855900" cy="12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aleway"/>
              <a:buChar char="-"/>
            </a:pPr>
            <a:r>
              <a:rPr lang="fr" sz="1100"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fr" sz="1100">
                <a:latin typeface="Raleway"/>
                <a:ea typeface="Raleway"/>
                <a:cs typeface="Raleway"/>
                <a:sym typeface="Raleway"/>
              </a:rPr>
              <a:t>ligner la granularité temporelle du jeu de données en 2017 (ex. food_infla)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aleway"/>
              <a:buChar char="-"/>
            </a:pPr>
            <a:r>
              <a:rPr lang="fr" sz="1100">
                <a:latin typeface="Raleway"/>
                <a:ea typeface="Raleway"/>
                <a:cs typeface="Raleway"/>
                <a:sym typeface="Raleway"/>
              </a:rPr>
              <a:t>Pivoter les données si nécessaire (ex: émissions gaz à effet de serre, ODD, disponibilité alimentaire, sécurité alimentaire)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Nettoyage du jeu de données complet</a:t>
            </a:r>
            <a:endParaRPr/>
          </a:p>
        </p:txBody>
      </p:sp>
      <p:sp>
        <p:nvSpPr>
          <p:cNvPr id="162" name="Google Shape;162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63" name="Google Shape;163;p18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311700" y="1156072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latin typeface="Raleway"/>
                <a:ea typeface="Raleway"/>
                <a:cs typeface="Raleway"/>
                <a:sym typeface="Raleway"/>
              </a:rPr>
              <a:t>Pour données complètes : 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b="1" lang="fr">
                <a:latin typeface="Raleway"/>
                <a:ea typeface="Raleway"/>
                <a:cs typeface="Raleway"/>
                <a:sym typeface="Raleway"/>
              </a:rPr>
              <a:t>filtrer les variables ayant &lt; 35%</a:t>
            </a:r>
            <a:r>
              <a:rPr lang="fr">
                <a:latin typeface="Raleway"/>
                <a:ea typeface="Raleway"/>
                <a:cs typeface="Raleway"/>
                <a:sym typeface="Raleway"/>
              </a:rPr>
              <a:t> de valeurs manquantes</a:t>
            </a:r>
            <a:r>
              <a:rPr b="1" lang="fr">
                <a:latin typeface="Raleway"/>
                <a:ea typeface="Raleway"/>
                <a:cs typeface="Raleway"/>
                <a:sym typeface="Raleway"/>
              </a:rPr>
              <a:t> =&gt; 139 pays ont été conservés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fr">
                <a:latin typeface="Raleway"/>
                <a:ea typeface="Raleway"/>
                <a:cs typeface="Raleway"/>
                <a:sym typeface="Raleway"/>
              </a:rPr>
              <a:t>remplacer les valeurs manquantes</a:t>
            </a:r>
            <a:r>
              <a:rPr lang="fr">
                <a:latin typeface="Raleway"/>
                <a:ea typeface="Raleway"/>
                <a:cs typeface="Raleway"/>
                <a:sym typeface="Raleway"/>
              </a:rPr>
              <a:t> par leurs valeurs moyennes ou médianes 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nettoyage des </a:t>
            </a:r>
            <a:r>
              <a:rPr b="1" lang="fr">
                <a:latin typeface="Raleway"/>
                <a:ea typeface="Raleway"/>
                <a:cs typeface="Raleway"/>
                <a:sym typeface="Raleway"/>
              </a:rPr>
              <a:t>variables de forte corrélation linéaire</a:t>
            </a:r>
            <a:r>
              <a:rPr lang="fr">
                <a:latin typeface="Raleway"/>
                <a:ea typeface="Raleway"/>
                <a:cs typeface="Raleway"/>
                <a:sym typeface="Raleway"/>
              </a:rPr>
              <a:t> 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utiliser les </a:t>
            </a:r>
            <a:r>
              <a:rPr b="1" lang="fr">
                <a:latin typeface="Raleway"/>
                <a:ea typeface="Raleway"/>
                <a:cs typeface="Raleway"/>
                <a:sym typeface="Raleway"/>
              </a:rPr>
              <a:t>fonctions logarithmes</a:t>
            </a:r>
            <a:r>
              <a:rPr lang="fr">
                <a:latin typeface="Raleway"/>
                <a:ea typeface="Raleway"/>
                <a:cs typeface="Raleway"/>
                <a:sym typeface="Raleway"/>
              </a:rPr>
              <a:t> pour réduire l'asymétrie d’une distribution positives et très étalée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identifier les </a:t>
            </a:r>
            <a:r>
              <a:rPr b="1" lang="fr">
                <a:latin typeface="Raleway"/>
                <a:ea typeface="Raleway"/>
                <a:cs typeface="Raleway"/>
                <a:sym typeface="Raleway"/>
              </a:rPr>
              <a:t>valeurs aberrantes à l’aide IQR  </a:t>
            </a:r>
            <a:r>
              <a:rPr lang="fr">
                <a:latin typeface="Raleway"/>
                <a:ea typeface="Raleway"/>
                <a:cs typeface="Raleway"/>
                <a:sym typeface="Raleway"/>
              </a:rPr>
              <a:t>et neutraliser ces valeurs anormales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Corrélation linéaire entre les variables</a:t>
            </a:r>
            <a:endParaRPr/>
          </a:p>
        </p:txBody>
      </p:sp>
      <p:sp>
        <p:nvSpPr>
          <p:cNvPr id="170" name="Google Shape;170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1" name="Google Shape;171;p19" title="matrix_corr_original.png"/>
          <p:cNvPicPr preferRelativeResize="0"/>
          <p:nvPr/>
        </p:nvPicPr>
        <p:blipFill rotWithShape="1">
          <a:blip r:embed="rId3">
            <a:alphaModFix/>
          </a:blip>
          <a:srcRect b="0" l="10524" r="10524" t="0"/>
          <a:stretch/>
        </p:blipFill>
        <p:spPr>
          <a:xfrm>
            <a:off x="311700" y="1321612"/>
            <a:ext cx="4097600" cy="311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title="Matrice_correlation_finale.png"/>
          <p:cNvPicPr preferRelativeResize="0"/>
          <p:nvPr/>
        </p:nvPicPr>
        <p:blipFill rotWithShape="1">
          <a:blip r:embed="rId4">
            <a:alphaModFix/>
          </a:blip>
          <a:srcRect b="0" l="12526" r="9864" t="0"/>
          <a:stretch/>
        </p:blipFill>
        <p:spPr>
          <a:xfrm>
            <a:off x="4734700" y="1558645"/>
            <a:ext cx="4097599" cy="2639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19"/>
          <p:cNvCxnSpPr>
            <a:stCxn id="171" idx="3"/>
          </p:cNvCxnSpPr>
          <p:nvPr/>
        </p:nvCxnSpPr>
        <p:spPr>
          <a:xfrm flipH="1" rot="10800000">
            <a:off x="4409300" y="2878288"/>
            <a:ext cx="537600" cy="3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Base de données finale nettoyée</a:t>
            </a:r>
            <a:endParaRPr/>
          </a:p>
        </p:txBody>
      </p:sp>
      <p:sp>
        <p:nvSpPr>
          <p:cNvPr id="180" name="Google Shape;180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1" name="Google Shape;181;p20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20"/>
          <p:cNvGraphicFramePr/>
          <p:nvPr/>
        </p:nvGraphicFramePr>
        <p:xfrm>
          <a:off x="545400" y="13094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{C9DBE2C7-B8DB-4971-BB66-1B6876A2AB9B}</a:tableStyleId>
              </a:tblPr>
              <a:tblGrid>
                <a:gridCol w="1547925"/>
                <a:gridCol w="5035550"/>
                <a:gridCol w="1225525"/>
              </a:tblGrid>
              <a:tr h="291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Variable</a:t>
                      </a:r>
                      <a:endParaRPr b="1"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Description</a:t>
                      </a:r>
                      <a:endParaRPr b="1"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PESTEL</a:t>
                      </a:r>
                      <a:endParaRPr b="1"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42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culture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Pourcentage de dépense totale par rapport au monnaie locale sur la récréation, culture et la religion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culture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291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emploi_rural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Nombre d’emplois en milieu rural occupés par des personnes âgées de plus de 15 ans (en milliers)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social, économie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55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payment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</a:t>
                      </a: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ourcentage d</a:t>
                      </a:r>
                      <a:r>
                        <a:rPr lang="fr" sz="1000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es jeunes de 15 à 24 ans </a:t>
                      </a: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déclarée avoir effectué un achat via un compte bancaire ou un compte de monnaie mobile en ligne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technologie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291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dispoA_qt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Disponibilité alimentaire en quantité (kg/personne/an)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santé, </a:t>
                      </a: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économie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291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PIBhab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PIB par habitant, ($ PPA internationaux constants de 2021)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PPA (Parité de pouvoir d’achat)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économie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291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Obesite_preval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Prévalence de l'obésité chez l'adulte (18 ans ou plus)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santé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291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stabPol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Stabilité politique et absence de violence/terrorisme (indice)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politique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291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partSuffit_Apport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Suffisance des apports énergétiques alimentaires moyens (%) (moyenne sur 3 ans)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santé</a:t>
                      </a:r>
                      <a:endParaRPr sz="1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en composantes principales (ACP)</a:t>
            </a:r>
            <a:endParaRPr/>
          </a:p>
        </p:txBody>
      </p:sp>
      <p:sp>
        <p:nvSpPr>
          <p:cNvPr id="188" name="Google Shape;18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Construire de nouvelles caractéristiques </a:t>
            </a: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à partir de variables prétraitées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0" name="Google Shape;190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91" name="Google Shape;191;p21" title="capture-decran-2022-05-07-a-1731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036" y="1595575"/>
            <a:ext cx="3889951" cy="19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 axes principaux d’inertie</a:t>
            </a:r>
            <a:endParaRPr/>
          </a:p>
        </p:txBody>
      </p:sp>
      <p:sp>
        <p:nvSpPr>
          <p:cNvPr id="197" name="Google Shape;197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Char char="-"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selon la </a:t>
            </a:r>
            <a:r>
              <a:rPr b="1" lang="fr">
                <a:latin typeface="Raleway"/>
                <a:ea typeface="Raleway"/>
                <a:cs typeface="Raleway"/>
                <a:sym typeface="Raleway"/>
              </a:rPr>
              <a:t>méthode du coude</a:t>
            </a:r>
            <a:r>
              <a:rPr lang="fr">
                <a:latin typeface="Raleway"/>
                <a:ea typeface="Raleway"/>
                <a:cs typeface="Raleway"/>
                <a:sym typeface="Raleway"/>
              </a:rPr>
              <a:t> (identification de l’axe d’inertie à partir duquel l’augmentation du pourcentage d’inertie ralentit)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Char char="-"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selon le </a:t>
            </a:r>
            <a:r>
              <a:rPr b="1" lang="fr">
                <a:latin typeface="Raleway"/>
                <a:ea typeface="Raleway"/>
                <a:cs typeface="Raleway"/>
                <a:sym typeface="Raleway"/>
              </a:rPr>
              <a:t>critère de Kaiser </a:t>
            </a:r>
            <a:r>
              <a:rPr lang="fr">
                <a:latin typeface="Raleway"/>
                <a:ea typeface="Raleway"/>
                <a:cs typeface="Raleway"/>
                <a:sym typeface="Raleway"/>
              </a:rPr>
              <a:t>(pourcentage d’inertie d’axe doit dépasser </a:t>
            </a:r>
            <a:r>
              <a:rPr b="1" lang="fr">
                <a:latin typeface="Raleway"/>
                <a:ea typeface="Raleway"/>
                <a:cs typeface="Raleway"/>
                <a:sym typeface="Raleway"/>
              </a:rPr>
              <a:t>(100/p = 12.5%)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>
                <a:latin typeface="Raleway"/>
                <a:ea typeface="Raleway"/>
                <a:cs typeface="Raleway"/>
                <a:sym typeface="Raleway"/>
              </a:rPr>
              <a:t>=&gt; respect la méthode du coude avec </a:t>
            </a:r>
            <a:r>
              <a:rPr lang="fr">
                <a:latin typeface="Raleway"/>
                <a:ea typeface="Raleway"/>
                <a:cs typeface="Raleway"/>
                <a:sym typeface="Raleway"/>
              </a:rPr>
              <a:t>4 axes principaux </a:t>
            </a:r>
            <a:r>
              <a:rPr b="1" lang="fr">
                <a:latin typeface="Raleway"/>
                <a:ea typeface="Raleway"/>
                <a:cs typeface="Raleway"/>
                <a:sym typeface="Raleway"/>
              </a:rPr>
              <a:t>&gt; 80% d’inertie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8" name="Google Shape;198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99" name="Google Shape;199;p22" title="ptg_inerti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6812"/>
            <a:ext cx="4383650" cy="3287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2"/>
          <p:cNvGrpSpPr/>
          <p:nvPr/>
        </p:nvGrpSpPr>
        <p:grpSpPr>
          <a:xfrm>
            <a:off x="872162" y="2001225"/>
            <a:ext cx="1677649" cy="1930121"/>
            <a:chOff x="872150" y="1972407"/>
            <a:chExt cx="1740300" cy="2002200"/>
          </a:xfrm>
        </p:grpSpPr>
        <p:sp>
          <p:nvSpPr>
            <p:cNvPr id="201" name="Google Shape;201;p22"/>
            <p:cNvSpPr/>
            <p:nvPr/>
          </p:nvSpPr>
          <p:spPr>
            <a:xfrm>
              <a:off x="2297150" y="1972407"/>
              <a:ext cx="315300" cy="300900"/>
            </a:xfrm>
            <a:prstGeom prst="ellipse">
              <a:avLst/>
            </a:prstGeom>
            <a:noFill/>
            <a:ln cap="flat" cmpd="sng" w="367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125" lIns="88125" spcFirstLastPara="1" rIns="88125" wrap="square" tIns="88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9"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202" name="Google Shape;202;p22"/>
            <p:cNvCxnSpPr>
              <a:endCxn id="201" idx="2"/>
            </p:cNvCxnSpPr>
            <p:nvPr/>
          </p:nvCxnSpPr>
          <p:spPr>
            <a:xfrm>
              <a:off x="872150" y="2118057"/>
              <a:ext cx="1425000" cy="4800"/>
            </a:xfrm>
            <a:prstGeom prst="straightConnector1">
              <a:avLst/>
            </a:prstGeom>
            <a:noFill/>
            <a:ln cap="flat" cmpd="sng" w="367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22"/>
            <p:cNvCxnSpPr>
              <a:endCxn id="201" idx="4"/>
            </p:cNvCxnSpPr>
            <p:nvPr/>
          </p:nvCxnSpPr>
          <p:spPr>
            <a:xfrm flipH="1" rot="10800000">
              <a:off x="2451500" y="2273307"/>
              <a:ext cx="3300" cy="1701300"/>
            </a:xfrm>
            <a:prstGeom prst="straightConnector1">
              <a:avLst/>
            </a:prstGeom>
            <a:noFill/>
            <a:ln cap="flat" cmpd="sng" w="367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04" name="Google Shape;204;p22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61% d’inertie au 1er plan</a:t>
            </a:r>
            <a:endParaRPr/>
          </a:p>
        </p:txBody>
      </p:sp>
      <p:sp>
        <p:nvSpPr>
          <p:cNvPr id="210" name="Google Shape;210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11" name="Google Shape;211;p23" title="cercle_correlation(0, 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5917" y="1203850"/>
            <a:ext cx="3780349" cy="37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3" title="composant_inertie.png"/>
          <p:cNvPicPr preferRelativeResize="0"/>
          <p:nvPr/>
        </p:nvPicPr>
        <p:blipFill rotWithShape="1">
          <a:blip r:embed="rId4">
            <a:alphaModFix/>
          </a:blip>
          <a:srcRect b="2624" l="1587" r="1597" t="2624"/>
          <a:stretch/>
        </p:blipFill>
        <p:spPr>
          <a:xfrm>
            <a:off x="311697" y="2039451"/>
            <a:ext cx="4309875" cy="210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Projection étalée d’individus sur le 1er plan</a:t>
            </a:r>
            <a:endParaRPr/>
          </a:p>
        </p:txBody>
      </p:sp>
      <p:sp>
        <p:nvSpPr>
          <p:cNvPr id="219" name="Google Shape;219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20" name="Google Shape;220;p24" title="cercle_correlation(0, 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780350" cy="37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 title="projection_individu_couleur.png"/>
          <p:cNvPicPr preferRelativeResize="0"/>
          <p:nvPr/>
        </p:nvPicPr>
        <p:blipFill rotWithShape="1">
          <a:blip r:embed="rId4">
            <a:alphaModFix/>
          </a:blip>
          <a:srcRect b="5954" l="5954" r="5954" t="5954"/>
          <a:stretch/>
        </p:blipFill>
        <p:spPr>
          <a:xfrm>
            <a:off x="4000100" y="1230575"/>
            <a:ext cx="4832200" cy="3624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24"/>
          <p:cNvCxnSpPr/>
          <p:nvPr/>
        </p:nvCxnSpPr>
        <p:spPr>
          <a:xfrm flipH="1" rot="10800000">
            <a:off x="6602225" y="1884750"/>
            <a:ext cx="1266000" cy="11775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4"/>
          <p:cNvCxnSpPr/>
          <p:nvPr/>
        </p:nvCxnSpPr>
        <p:spPr>
          <a:xfrm>
            <a:off x="6586475" y="3073350"/>
            <a:ext cx="1732800" cy="906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4"/>
          <p:cNvCxnSpPr/>
          <p:nvPr/>
        </p:nvCxnSpPr>
        <p:spPr>
          <a:xfrm rot="10800000">
            <a:off x="5956175" y="2571750"/>
            <a:ext cx="630300" cy="5055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5" name="Google Shape;225;p24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400"/>
              <a:t>Clustering CAH et K-means</a:t>
            </a:r>
            <a:endParaRPr sz="3400"/>
          </a:p>
        </p:txBody>
      </p:sp>
      <p:sp>
        <p:nvSpPr>
          <p:cNvPr id="231" name="Google Shape;231;p2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Déterminer des profils de pays similaires favorables à l’exportation de poulets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3" name="Google Shape;233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34" name="Google Shape;234;p25" title="capture-decran-2022-05-07-a-1731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036" y="1595575"/>
            <a:ext cx="3889951" cy="19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CAH : 3 groupes de pays envisagés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pSp>
        <p:nvGrpSpPr>
          <p:cNvPr id="241" name="Google Shape;241;p26"/>
          <p:cNvGrpSpPr/>
          <p:nvPr/>
        </p:nvGrpSpPr>
        <p:grpSpPr>
          <a:xfrm>
            <a:off x="803629" y="1522459"/>
            <a:ext cx="7536704" cy="3559894"/>
            <a:chOff x="586501" y="1068425"/>
            <a:chExt cx="7982106" cy="3770276"/>
          </a:xfrm>
        </p:grpSpPr>
        <p:pic>
          <p:nvPicPr>
            <p:cNvPr id="242" name="Google Shape;242;p26" title="dendrogra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6501" y="1068425"/>
              <a:ext cx="7970998" cy="3770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3" name="Google Shape;243;p26"/>
            <p:cNvCxnSpPr/>
            <p:nvPr/>
          </p:nvCxnSpPr>
          <p:spPr>
            <a:xfrm>
              <a:off x="597606" y="2308756"/>
              <a:ext cx="7971000" cy="0"/>
            </a:xfrm>
            <a:prstGeom prst="straightConnector1">
              <a:avLst/>
            </a:prstGeom>
            <a:noFill/>
            <a:ln cap="flat" cmpd="sng" w="269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44" name="Google Shape;244;p26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26"/>
          <p:cNvGrpSpPr/>
          <p:nvPr/>
        </p:nvGrpSpPr>
        <p:grpSpPr>
          <a:xfrm>
            <a:off x="2023305" y="1068433"/>
            <a:ext cx="5097400" cy="3882647"/>
            <a:chOff x="2084225" y="1292554"/>
            <a:chExt cx="4975500" cy="3789797"/>
          </a:xfrm>
        </p:grpSpPr>
        <p:grpSp>
          <p:nvGrpSpPr>
            <p:cNvPr id="246" name="Google Shape;246;p26"/>
            <p:cNvGrpSpPr/>
            <p:nvPr/>
          </p:nvGrpSpPr>
          <p:grpSpPr>
            <a:xfrm>
              <a:off x="2084225" y="1292554"/>
              <a:ext cx="4975500" cy="3789797"/>
              <a:chOff x="2084225" y="1292554"/>
              <a:chExt cx="4975500" cy="3789797"/>
            </a:xfrm>
          </p:grpSpPr>
          <p:pic>
            <p:nvPicPr>
              <p:cNvPr id="247" name="Google Shape;247;p26" title="projection_individu_cah.png"/>
              <p:cNvPicPr preferRelativeResize="0"/>
              <p:nvPr/>
            </p:nvPicPr>
            <p:blipFill rotWithShape="1">
              <a:blip r:embed="rId5">
                <a:alphaModFix/>
              </a:blip>
              <a:srcRect b="5027" l="5027" r="5027" t="5027"/>
              <a:stretch/>
            </p:blipFill>
            <p:spPr>
              <a:xfrm>
                <a:off x="2084225" y="1350750"/>
                <a:ext cx="4975500" cy="373160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48" name="Google Shape;248;p26"/>
              <p:cNvGrpSpPr/>
              <p:nvPr/>
            </p:nvGrpSpPr>
            <p:grpSpPr>
              <a:xfrm>
                <a:off x="2298926" y="1292554"/>
                <a:ext cx="4626845" cy="3698671"/>
                <a:chOff x="3754901" y="1186304"/>
                <a:chExt cx="4626845" cy="3698671"/>
              </a:xfrm>
            </p:grpSpPr>
            <p:sp>
              <p:nvSpPr>
                <p:cNvPr id="249" name="Google Shape;249;p26"/>
                <p:cNvSpPr/>
                <p:nvPr/>
              </p:nvSpPr>
              <p:spPr>
                <a:xfrm rot="-1722718">
                  <a:off x="3986835" y="2285833"/>
                  <a:ext cx="2027032" cy="1484492"/>
                </a:xfrm>
                <a:prstGeom prst="ellipse">
                  <a:avLst/>
                </a:prstGeom>
                <a:noFill/>
                <a:ln cap="flat" cmpd="sng" w="29275">
                  <a:solidFill>
                    <a:srgbClr val="44015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3675" lIns="93675" spcFirstLastPara="1" rIns="93675" wrap="square" tIns="936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34">
                    <a:solidFill>
                      <a:srgbClr val="440154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250" name="Google Shape;250;p26"/>
                <p:cNvSpPr/>
                <p:nvPr/>
              </p:nvSpPr>
              <p:spPr>
                <a:xfrm rot="2578904">
                  <a:off x="5740959" y="2811921"/>
                  <a:ext cx="2493674" cy="1412808"/>
                </a:xfrm>
                <a:prstGeom prst="ellipse">
                  <a:avLst/>
                </a:prstGeom>
                <a:noFill/>
                <a:ln cap="flat" cmpd="sng" w="29275">
                  <a:solidFill>
                    <a:srgbClr val="21918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3675" lIns="93675" spcFirstLastPara="1" rIns="93675" wrap="square" tIns="936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34"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251" name="Google Shape;251;p26"/>
                <p:cNvSpPr/>
                <p:nvPr/>
              </p:nvSpPr>
              <p:spPr>
                <a:xfrm rot="-1947588">
                  <a:off x="5569057" y="1675644"/>
                  <a:ext cx="2197286" cy="1284820"/>
                </a:xfrm>
                <a:prstGeom prst="ellipse">
                  <a:avLst/>
                </a:prstGeom>
                <a:noFill/>
                <a:ln cap="flat" cmpd="sng" w="29275">
                  <a:solidFill>
                    <a:srgbClr val="FDE72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3675" lIns="93675" spcFirstLastPara="1" rIns="93675" wrap="square" tIns="936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34"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</p:grpSp>
        <p:grpSp>
          <p:nvGrpSpPr>
            <p:cNvPr id="252" name="Google Shape;252;p26"/>
            <p:cNvGrpSpPr/>
            <p:nvPr/>
          </p:nvGrpSpPr>
          <p:grpSpPr>
            <a:xfrm>
              <a:off x="3481725" y="1729088"/>
              <a:ext cx="3295975" cy="1421825"/>
              <a:chOff x="3481725" y="1729088"/>
              <a:chExt cx="3295975" cy="1421825"/>
            </a:xfrm>
          </p:grpSpPr>
          <p:sp>
            <p:nvSpPr>
              <p:cNvPr id="253" name="Google Shape;253;p26"/>
              <p:cNvSpPr txBox="1"/>
              <p:nvPr/>
            </p:nvSpPr>
            <p:spPr>
              <a:xfrm>
                <a:off x="3481725" y="2066538"/>
                <a:ext cx="760800" cy="18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3675" lIns="93675" spcFirstLastPara="1" rIns="93675" wrap="square" tIns="93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024">
                    <a:solidFill>
                      <a:srgbClr val="44015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Groupe 1</a:t>
                </a:r>
                <a:endParaRPr b="1" sz="1024">
                  <a:solidFill>
                    <a:srgbClr val="44015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54" name="Google Shape;254;p26"/>
              <p:cNvSpPr txBox="1"/>
              <p:nvPr/>
            </p:nvSpPr>
            <p:spPr>
              <a:xfrm>
                <a:off x="5256100" y="1729088"/>
                <a:ext cx="760800" cy="18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3675" lIns="93675" spcFirstLastPara="1" rIns="93675" wrap="square" tIns="93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024">
                    <a:solidFill>
                      <a:srgbClr val="F1C232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Groupe 3</a:t>
                </a:r>
                <a:endParaRPr b="1" sz="1024">
                  <a:solidFill>
                    <a:srgbClr val="F1C232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55" name="Google Shape;255;p26"/>
              <p:cNvSpPr txBox="1"/>
              <p:nvPr/>
            </p:nvSpPr>
            <p:spPr>
              <a:xfrm>
                <a:off x="6016900" y="2964613"/>
                <a:ext cx="760800" cy="18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3675" lIns="93675" spcFirstLastPara="1" rIns="93675" wrap="square" tIns="93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024">
                    <a:solidFill>
                      <a:srgbClr val="21918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Groupe 2</a:t>
                </a:r>
                <a:endParaRPr b="1" sz="1024">
                  <a:solidFill>
                    <a:srgbClr val="21918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61" name="Google Shape;261;p27" title="choix_nclusters_kmean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8250" y="1913863"/>
            <a:ext cx="4734050" cy="189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Kmeans : 3 groupes de pays envisagés </a:t>
            </a:r>
            <a:endParaRPr/>
          </a:p>
        </p:txBody>
      </p:sp>
      <p:pic>
        <p:nvPicPr>
          <p:cNvPr id="263" name="Google Shape;263;p27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latin typeface="Raleway"/>
                <a:ea typeface="Raleway"/>
                <a:cs typeface="Raleway"/>
                <a:sym typeface="Raleway"/>
              </a:rPr>
              <a:t>Inertie intraclasse 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Raleway"/>
              <a:buChar char="-"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cherche à minimiser l’inertie intra-classe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Char char="-"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diminution mécanique avec k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=&gt; k = 3, </a:t>
            </a:r>
            <a:r>
              <a:rPr b="1" lang="fr">
                <a:latin typeface="Raleway"/>
                <a:ea typeface="Raleway"/>
                <a:cs typeface="Raleway"/>
                <a:sym typeface="Raleway"/>
              </a:rPr>
              <a:t>une diminution brusque d’inertie intraclasse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latin typeface="Raleway"/>
                <a:ea typeface="Raleway"/>
                <a:cs typeface="Raleway"/>
                <a:sym typeface="Raleway"/>
              </a:rPr>
              <a:t>Score de silhouette : 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Raleway"/>
              <a:buChar char="-"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proche de 1 (très bon clustering)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Char char="-"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proche de 0 (clusters mal séparés)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=&gt;  k = 3, </a:t>
            </a:r>
            <a:r>
              <a:rPr b="1" lang="fr">
                <a:latin typeface="Raleway"/>
                <a:ea typeface="Raleway"/>
                <a:cs typeface="Raleway"/>
                <a:sym typeface="Raleway"/>
              </a:rPr>
              <a:t>score &gt; 0.29</a:t>
            </a:r>
            <a:r>
              <a:rPr lang="fr">
                <a:latin typeface="Raleway"/>
                <a:ea typeface="Raleway"/>
                <a:cs typeface="Raleway"/>
                <a:sym typeface="Raleway"/>
              </a:rPr>
              <a:t> (correct)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65" name="Google Shape;265;p27"/>
          <p:cNvGrpSpPr/>
          <p:nvPr/>
        </p:nvGrpSpPr>
        <p:grpSpPr>
          <a:xfrm>
            <a:off x="2101975" y="1006779"/>
            <a:ext cx="4940052" cy="3927628"/>
            <a:chOff x="2101975" y="1010448"/>
            <a:chExt cx="4940052" cy="3927628"/>
          </a:xfrm>
        </p:grpSpPr>
        <p:grpSp>
          <p:nvGrpSpPr>
            <p:cNvPr id="266" name="Google Shape;266;p27"/>
            <p:cNvGrpSpPr/>
            <p:nvPr/>
          </p:nvGrpSpPr>
          <p:grpSpPr>
            <a:xfrm>
              <a:off x="2101975" y="1010448"/>
              <a:ext cx="4940052" cy="3927628"/>
              <a:chOff x="3557950" y="904198"/>
              <a:chExt cx="4940052" cy="3927628"/>
            </a:xfrm>
          </p:grpSpPr>
          <p:pic>
            <p:nvPicPr>
              <p:cNvPr id="267" name="Google Shape;267;p27" title="projection_individu_kmeans.png"/>
              <p:cNvPicPr preferRelativeResize="0"/>
              <p:nvPr/>
            </p:nvPicPr>
            <p:blipFill rotWithShape="1">
              <a:blip r:embed="rId5">
                <a:alphaModFix/>
              </a:blip>
              <a:srcRect b="6078" l="6078" r="6078" t="6078"/>
              <a:stretch/>
            </p:blipFill>
            <p:spPr>
              <a:xfrm>
                <a:off x="3557950" y="1126775"/>
                <a:ext cx="4940052" cy="37050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68" name="Google Shape;268;p27"/>
              <p:cNvGrpSpPr/>
              <p:nvPr/>
            </p:nvGrpSpPr>
            <p:grpSpPr>
              <a:xfrm>
                <a:off x="3745351" y="904198"/>
                <a:ext cx="4633675" cy="3793877"/>
                <a:chOff x="3745351" y="904198"/>
                <a:chExt cx="4633675" cy="3793877"/>
              </a:xfrm>
            </p:grpSpPr>
            <p:sp>
              <p:nvSpPr>
                <p:cNvPr id="269" name="Google Shape;269;p27"/>
                <p:cNvSpPr/>
                <p:nvPr/>
              </p:nvSpPr>
              <p:spPr>
                <a:xfrm rot="-2324301">
                  <a:off x="4038629" y="2223293"/>
                  <a:ext cx="2153045" cy="1694455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44015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270" name="Google Shape;270;p27"/>
                <p:cNvSpPr/>
                <p:nvPr/>
              </p:nvSpPr>
              <p:spPr>
                <a:xfrm rot="2062637">
                  <a:off x="6007776" y="2900139"/>
                  <a:ext cx="2199101" cy="1289773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FDE72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271" name="Google Shape;271;p27"/>
                <p:cNvSpPr/>
                <p:nvPr/>
              </p:nvSpPr>
              <p:spPr>
                <a:xfrm rot="-2574552">
                  <a:off x="5673661" y="1463864"/>
                  <a:ext cx="2197878" cy="1409068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21918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</p:grpSp>
        <p:grpSp>
          <p:nvGrpSpPr>
            <p:cNvPr id="272" name="Google Shape;272;p27"/>
            <p:cNvGrpSpPr/>
            <p:nvPr/>
          </p:nvGrpSpPr>
          <p:grpSpPr>
            <a:xfrm>
              <a:off x="3481725" y="1397988"/>
              <a:ext cx="3067800" cy="1624725"/>
              <a:chOff x="3481725" y="1397988"/>
              <a:chExt cx="3067800" cy="1624725"/>
            </a:xfrm>
          </p:grpSpPr>
          <p:sp>
            <p:nvSpPr>
              <p:cNvPr id="273" name="Google Shape;273;p27"/>
              <p:cNvSpPr txBox="1"/>
              <p:nvPr/>
            </p:nvSpPr>
            <p:spPr>
              <a:xfrm>
                <a:off x="5379200" y="1397988"/>
                <a:ext cx="760800" cy="18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000">
                    <a:solidFill>
                      <a:srgbClr val="21918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Groupe 1</a:t>
                </a:r>
                <a:endParaRPr b="1" sz="1000">
                  <a:solidFill>
                    <a:srgbClr val="21918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74" name="Google Shape;274;p27"/>
              <p:cNvSpPr txBox="1"/>
              <p:nvPr/>
            </p:nvSpPr>
            <p:spPr>
              <a:xfrm>
                <a:off x="3481725" y="2066538"/>
                <a:ext cx="760800" cy="18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000">
                    <a:solidFill>
                      <a:srgbClr val="44015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Groupe 0</a:t>
                </a:r>
                <a:endParaRPr b="1" sz="1000">
                  <a:solidFill>
                    <a:srgbClr val="44015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75" name="Google Shape;275;p27"/>
              <p:cNvSpPr txBox="1"/>
              <p:nvPr/>
            </p:nvSpPr>
            <p:spPr>
              <a:xfrm>
                <a:off x="5788725" y="2836413"/>
                <a:ext cx="760800" cy="18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000">
                    <a:solidFill>
                      <a:srgbClr val="F1C232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Groupe 2</a:t>
                </a:r>
                <a:endParaRPr b="1" sz="1000">
                  <a:solidFill>
                    <a:srgbClr val="F1C232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676950" y="1068423"/>
            <a:ext cx="4940052" cy="3927628"/>
            <a:chOff x="2101975" y="1010448"/>
            <a:chExt cx="4940052" cy="3927628"/>
          </a:xfrm>
        </p:grpSpPr>
        <p:grpSp>
          <p:nvGrpSpPr>
            <p:cNvPr id="281" name="Google Shape;281;p28"/>
            <p:cNvGrpSpPr/>
            <p:nvPr/>
          </p:nvGrpSpPr>
          <p:grpSpPr>
            <a:xfrm>
              <a:off x="2101975" y="1010448"/>
              <a:ext cx="4940052" cy="3927628"/>
              <a:chOff x="3557950" y="904198"/>
              <a:chExt cx="4940052" cy="3927628"/>
            </a:xfrm>
          </p:grpSpPr>
          <p:pic>
            <p:nvPicPr>
              <p:cNvPr id="282" name="Google Shape;282;p28" title="projection_individu_kmeans.png"/>
              <p:cNvPicPr preferRelativeResize="0"/>
              <p:nvPr/>
            </p:nvPicPr>
            <p:blipFill rotWithShape="1">
              <a:blip r:embed="rId3">
                <a:alphaModFix/>
              </a:blip>
              <a:srcRect b="6078" l="6078" r="6078" t="6078"/>
              <a:stretch/>
            </p:blipFill>
            <p:spPr>
              <a:xfrm>
                <a:off x="3557950" y="1126775"/>
                <a:ext cx="4940052" cy="37050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83" name="Google Shape;283;p28"/>
              <p:cNvGrpSpPr/>
              <p:nvPr/>
            </p:nvGrpSpPr>
            <p:grpSpPr>
              <a:xfrm>
                <a:off x="3745351" y="904198"/>
                <a:ext cx="4633675" cy="3793877"/>
                <a:chOff x="3745351" y="904198"/>
                <a:chExt cx="4633675" cy="3793877"/>
              </a:xfrm>
            </p:grpSpPr>
            <p:sp>
              <p:nvSpPr>
                <p:cNvPr id="284" name="Google Shape;284;p28"/>
                <p:cNvSpPr/>
                <p:nvPr/>
              </p:nvSpPr>
              <p:spPr>
                <a:xfrm rot="-2324301">
                  <a:off x="4038629" y="2223293"/>
                  <a:ext cx="2153045" cy="1694455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44015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285" name="Google Shape;285;p28"/>
                <p:cNvSpPr/>
                <p:nvPr/>
              </p:nvSpPr>
              <p:spPr>
                <a:xfrm rot="2062637">
                  <a:off x="6007776" y="2900139"/>
                  <a:ext cx="2199101" cy="1289773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FDE72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286" name="Google Shape;286;p28"/>
                <p:cNvSpPr/>
                <p:nvPr/>
              </p:nvSpPr>
              <p:spPr>
                <a:xfrm rot="-2574552">
                  <a:off x="5673661" y="1463864"/>
                  <a:ext cx="2197878" cy="1409068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21918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</p:grpSp>
        <p:grpSp>
          <p:nvGrpSpPr>
            <p:cNvPr id="287" name="Google Shape;287;p28"/>
            <p:cNvGrpSpPr/>
            <p:nvPr/>
          </p:nvGrpSpPr>
          <p:grpSpPr>
            <a:xfrm>
              <a:off x="3481725" y="1397988"/>
              <a:ext cx="3067800" cy="1624725"/>
              <a:chOff x="3481725" y="1397988"/>
              <a:chExt cx="3067800" cy="1624725"/>
            </a:xfrm>
          </p:grpSpPr>
          <p:sp>
            <p:nvSpPr>
              <p:cNvPr id="288" name="Google Shape;288;p28"/>
              <p:cNvSpPr txBox="1"/>
              <p:nvPr/>
            </p:nvSpPr>
            <p:spPr>
              <a:xfrm>
                <a:off x="5404600" y="1397988"/>
                <a:ext cx="760800" cy="18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800">
                    <a:solidFill>
                      <a:srgbClr val="21918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Groupe 1</a:t>
                </a:r>
                <a:endParaRPr b="1" sz="800">
                  <a:solidFill>
                    <a:srgbClr val="21918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89" name="Google Shape;289;p28"/>
              <p:cNvSpPr txBox="1"/>
              <p:nvPr/>
            </p:nvSpPr>
            <p:spPr>
              <a:xfrm>
                <a:off x="3481725" y="2066538"/>
                <a:ext cx="760800" cy="18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800">
                    <a:solidFill>
                      <a:srgbClr val="44015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Groupe 0</a:t>
                </a:r>
                <a:endParaRPr b="1" sz="800">
                  <a:solidFill>
                    <a:srgbClr val="44015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90" name="Google Shape;290;p28"/>
              <p:cNvSpPr txBox="1"/>
              <p:nvPr/>
            </p:nvSpPr>
            <p:spPr>
              <a:xfrm>
                <a:off x="5788725" y="2836413"/>
                <a:ext cx="760800" cy="18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800">
                    <a:solidFill>
                      <a:srgbClr val="F1C232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Groupe 2</a:t>
                </a:r>
                <a:endParaRPr b="1" sz="800">
                  <a:solidFill>
                    <a:srgbClr val="F1C232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sp>
        <p:nvSpPr>
          <p:cNvPr id="291" name="Google Shape;291;p2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r>
              <a:rPr lang="fr"/>
              <a:t> et recommandations</a:t>
            </a:r>
            <a:endParaRPr/>
          </a:p>
        </p:txBody>
      </p:sp>
      <p:sp>
        <p:nvSpPr>
          <p:cNvPr id="292" name="Google Shape;292;p2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93" name="Google Shape;293;p28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4" name="Google Shape;294;p28"/>
          <p:cNvGrpSpPr/>
          <p:nvPr/>
        </p:nvGrpSpPr>
        <p:grpSpPr>
          <a:xfrm>
            <a:off x="1384619" y="1569886"/>
            <a:ext cx="2089990" cy="3118854"/>
            <a:chOff x="1118224" y="283725"/>
            <a:chExt cx="2090826" cy="4076400"/>
          </a:xfrm>
        </p:grpSpPr>
        <p:sp>
          <p:nvSpPr>
            <p:cNvPr id="295" name="Google Shape;295;p28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6"/>
            </a:p>
          </p:txBody>
        </p:sp>
        <p:sp>
          <p:nvSpPr>
            <p:cNvPr id="296" name="Google Shape;296;p28"/>
            <p:cNvSpPr/>
            <p:nvPr/>
          </p:nvSpPr>
          <p:spPr>
            <a:xfrm>
              <a:off x="1118224" y="341749"/>
              <a:ext cx="2048100" cy="2490600"/>
            </a:xfrm>
            <a:prstGeom prst="rect">
              <a:avLst/>
            </a:prstGeom>
            <a:solidFill>
              <a:srgbClr val="FFFFFF"/>
            </a:solidFill>
            <a:ln cap="flat" cmpd="sng" w="160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6"/>
            </a:p>
          </p:txBody>
        </p:sp>
        <p:sp>
          <p:nvSpPr>
            <p:cNvPr id="297" name="Google Shape;297;p28"/>
            <p:cNvSpPr/>
            <p:nvPr/>
          </p:nvSpPr>
          <p:spPr>
            <a:xfrm>
              <a:off x="1233923" y="1225061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8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Nigéria</a:t>
              </a:r>
              <a:endParaRPr b="1" sz="1008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98" name="Google Shape;298;p28"/>
            <p:cNvSpPr/>
            <p:nvPr/>
          </p:nvSpPr>
          <p:spPr>
            <a:xfrm>
              <a:off x="1233923" y="1846625"/>
              <a:ext cx="1815000" cy="82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825" lIns="76825" spcFirstLastPara="1" rIns="76825" wrap="square" tIns="768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Politique instable</a:t>
              </a:r>
              <a:endParaRPr sz="800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Technologie de paiement limité</a:t>
              </a:r>
              <a:endParaRPr sz="800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99" name="Google Shape;299;p28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2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Groupe 0</a:t>
              </a:r>
              <a:endParaRPr sz="2800">
                <a:solidFill>
                  <a:srgbClr val="7F6000"/>
                </a:solidFill>
                <a:latin typeface="Raleway Thin"/>
                <a:ea typeface="Raleway Thin"/>
                <a:cs typeface="Raleway Thin"/>
                <a:sym typeface="Raleway Thin"/>
              </a:endParaRPr>
            </a:p>
          </p:txBody>
        </p:sp>
        <p:sp>
          <p:nvSpPr>
            <p:cNvPr id="300" name="Google Shape;300;p28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6"/>
            </a:p>
          </p:txBody>
        </p:sp>
        <p:sp>
          <p:nvSpPr>
            <p:cNvPr id="301" name="Google Shape;301;p28"/>
            <p:cNvSpPr/>
            <p:nvPr/>
          </p:nvSpPr>
          <p:spPr>
            <a:xfrm>
              <a:off x="1118308" y="3172455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825" lIns="76825" spcFirstLastPara="1" rIns="76825" wrap="square" tIns="76825">
              <a:noAutofit/>
            </a:bodyPr>
            <a:lstStyle/>
            <a:p>
              <a:pPr indent="-242916" lvl="0" marL="38423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Raleway"/>
                <a:buChar char="●"/>
              </a:pPr>
              <a:r>
                <a:rPr lang="fr" sz="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Politique instable et </a:t>
              </a:r>
              <a:r>
                <a:rPr lang="fr" sz="8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t</a:t>
              </a:r>
              <a:r>
                <a:rPr lang="fr" sz="8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echnologie de paiement limité</a:t>
              </a:r>
              <a:endParaRPr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38423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est </a:t>
              </a:r>
              <a:r>
                <a:rPr b="1" lang="fr" sz="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NON favorable pour la vente</a:t>
              </a:r>
              <a:endParaRPr b="1" sz="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38423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02" name="Google Shape;302;p28"/>
          <p:cNvGrpSpPr/>
          <p:nvPr/>
        </p:nvGrpSpPr>
        <p:grpSpPr>
          <a:xfrm>
            <a:off x="3527001" y="1569886"/>
            <a:ext cx="2089990" cy="3118854"/>
            <a:chOff x="1118224" y="283725"/>
            <a:chExt cx="2090826" cy="4076400"/>
          </a:xfrm>
        </p:grpSpPr>
        <p:sp>
          <p:nvSpPr>
            <p:cNvPr id="303" name="Google Shape;303;p28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6"/>
            </a:p>
          </p:txBody>
        </p:sp>
        <p:sp>
          <p:nvSpPr>
            <p:cNvPr id="304" name="Google Shape;304;p28"/>
            <p:cNvSpPr/>
            <p:nvPr/>
          </p:nvSpPr>
          <p:spPr>
            <a:xfrm>
              <a:off x="1118224" y="341749"/>
              <a:ext cx="2048100" cy="2490600"/>
            </a:xfrm>
            <a:prstGeom prst="rect">
              <a:avLst/>
            </a:prstGeom>
            <a:solidFill>
              <a:srgbClr val="FFFFFF"/>
            </a:solidFill>
            <a:ln cap="flat" cmpd="sng" w="160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6"/>
            </a:p>
          </p:txBody>
        </p:sp>
        <p:sp>
          <p:nvSpPr>
            <p:cNvPr id="305" name="Google Shape;305;p28"/>
            <p:cNvSpPr/>
            <p:nvPr/>
          </p:nvSpPr>
          <p:spPr>
            <a:xfrm>
              <a:off x="1233923" y="1225061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8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US</a:t>
              </a:r>
              <a:endParaRPr b="1" sz="1008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06" name="Google Shape;306;p28"/>
            <p:cNvSpPr/>
            <p:nvPr/>
          </p:nvSpPr>
          <p:spPr>
            <a:xfrm>
              <a:off x="1233923" y="1846625"/>
              <a:ext cx="1815000" cy="82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825" lIns="76825" spcFirstLastPara="1" rIns="76825" wrap="square" tIns="768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PIB par habitant élevé</a:t>
              </a:r>
              <a:endParaRPr sz="800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Emploi rural important</a:t>
              </a:r>
              <a:endParaRPr sz="800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Disponibilité alimentaire élevée</a:t>
              </a:r>
              <a:endParaRPr sz="800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Prévalence d’obésité</a:t>
              </a:r>
              <a:endParaRPr sz="800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2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07" name="Google Shape;307;p28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2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Groupe 1</a:t>
              </a:r>
              <a:endParaRPr sz="2800">
                <a:solidFill>
                  <a:srgbClr val="7F6000"/>
                </a:solidFill>
                <a:latin typeface="Raleway Thin"/>
                <a:ea typeface="Raleway Thin"/>
                <a:cs typeface="Raleway Thin"/>
                <a:sym typeface="Raleway Thin"/>
              </a:endParaRPr>
            </a:p>
          </p:txBody>
        </p:sp>
        <p:sp>
          <p:nvSpPr>
            <p:cNvPr id="308" name="Google Shape;308;p28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6"/>
            </a:p>
          </p:txBody>
        </p:sp>
        <p:sp>
          <p:nvSpPr>
            <p:cNvPr id="309" name="Google Shape;309;p28"/>
            <p:cNvSpPr/>
            <p:nvPr/>
          </p:nvSpPr>
          <p:spPr>
            <a:xfrm>
              <a:off x="1118308" y="3172455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825" lIns="76825" spcFirstLastPara="1" rIns="76825" wrap="square" tIns="76825">
              <a:noAutofit/>
            </a:bodyPr>
            <a:lstStyle/>
            <a:p>
              <a:pPr indent="-242916" lvl="0" marL="38423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Raleway"/>
                <a:buChar char="●"/>
              </a:pPr>
              <a:r>
                <a:rPr lang="fr" sz="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Emploi rural et d</a:t>
              </a:r>
              <a:r>
                <a:rPr lang="fr" sz="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isponibilité alimentaire importante montre </a:t>
              </a:r>
              <a:r>
                <a:rPr b="1" lang="fr" sz="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une CONCURRENCE potentielle importante</a:t>
              </a:r>
              <a:endParaRPr b="1" sz="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10" name="Google Shape;310;p28"/>
          <p:cNvGrpSpPr/>
          <p:nvPr/>
        </p:nvGrpSpPr>
        <p:grpSpPr>
          <a:xfrm>
            <a:off x="5669383" y="1569886"/>
            <a:ext cx="2089990" cy="3118854"/>
            <a:chOff x="1118224" y="283725"/>
            <a:chExt cx="2090826" cy="4076400"/>
          </a:xfrm>
        </p:grpSpPr>
        <p:sp>
          <p:nvSpPr>
            <p:cNvPr id="311" name="Google Shape;311;p28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6"/>
            </a:p>
          </p:txBody>
        </p:sp>
        <p:sp>
          <p:nvSpPr>
            <p:cNvPr id="312" name="Google Shape;312;p28"/>
            <p:cNvSpPr/>
            <p:nvPr/>
          </p:nvSpPr>
          <p:spPr>
            <a:xfrm>
              <a:off x="1118224" y="341749"/>
              <a:ext cx="2048100" cy="2490600"/>
            </a:xfrm>
            <a:prstGeom prst="rect">
              <a:avLst/>
            </a:prstGeom>
            <a:solidFill>
              <a:srgbClr val="FFFFFF"/>
            </a:solidFill>
            <a:ln cap="flat" cmpd="sng" w="160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6"/>
            </a:p>
          </p:txBody>
        </p:sp>
        <p:sp>
          <p:nvSpPr>
            <p:cNvPr id="313" name="Google Shape;313;p28"/>
            <p:cNvSpPr/>
            <p:nvPr/>
          </p:nvSpPr>
          <p:spPr>
            <a:xfrm>
              <a:off x="1233923" y="1225061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8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Luxembourg</a:t>
              </a:r>
              <a:endParaRPr b="1" sz="1008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14" name="Google Shape;314;p28"/>
            <p:cNvSpPr/>
            <p:nvPr/>
          </p:nvSpPr>
          <p:spPr>
            <a:xfrm>
              <a:off x="1233923" y="1846625"/>
              <a:ext cx="1815000" cy="82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825" lIns="76825" spcFirstLastPara="1" rIns="76825" wrap="square" tIns="768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PIB par habitant élevé</a:t>
              </a:r>
              <a:endParaRPr sz="800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Disponibilité alimentaire modérée</a:t>
              </a:r>
              <a:endParaRPr sz="800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Politique stable</a:t>
              </a:r>
              <a:endParaRPr sz="800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Moyens de paiement modernes</a:t>
              </a:r>
              <a:endParaRPr sz="800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2">
                <a:solidFill>
                  <a:srgbClr val="7F6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15" name="Google Shape;315;p28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2800">
                  <a:solidFill>
                    <a:srgbClr val="7F6000"/>
                  </a:solidFill>
                  <a:latin typeface="Raleway"/>
                  <a:ea typeface="Raleway"/>
                  <a:cs typeface="Raleway"/>
                  <a:sym typeface="Raleway"/>
                </a:rPr>
                <a:t>Groupe 2</a:t>
              </a:r>
              <a:endParaRPr sz="2800">
                <a:solidFill>
                  <a:srgbClr val="7F6000"/>
                </a:solidFill>
                <a:latin typeface="Raleway Thin"/>
                <a:ea typeface="Raleway Thin"/>
                <a:cs typeface="Raleway Thin"/>
                <a:sym typeface="Raleway Thin"/>
              </a:endParaRPr>
            </a:p>
          </p:txBody>
        </p:sp>
        <p:sp>
          <p:nvSpPr>
            <p:cNvPr id="316" name="Google Shape;316;p28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6"/>
            </a:p>
          </p:txBody>
        </p:sp>
        <p:sp>
          <p:nvSpPr>
            <p:cNvPr id="317" name="Google Shape;317;p28"/>
            <p:cNvSpPr/>
            <p:nvPr/>
          </p:nvSpPr>
          <p:spPr>
            <a:xfrm>
              <a:off x="1118308" y="3172455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825" lIns="76825" spcFirstLastPara="1" rIns="76825" wrap="square" tIns="76825">
              <a:noAutofit/>
            </a:bodyPr>
            <a:lstStyle/>
            <a:p>
              <a:pPr indent="-242916" lvl="0" marL="38423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Raleway"/>
                <a:buChar char="●"/>
              </a:pPr>
              <a:r>
                <a:rPr lang="fr" sz="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Toutes les éléments ci-dessus sont </a:t>
              </a:r>
              <a:r>
                <a:rPr b="1" lang="fr" sz="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favorables à l’expansion du produit poulet BIO</a:t>
              </a:r>
              <a:endParaRPr b="1" sz="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400"/>
              <a:t>Merci pour votre attention !</a:t>
            </a:r>
            <a:endParaRPr sz="3400"/>
          </a:p>
        </p:txBody>
      </p:sp>
      <p:sp>
        <p:nvSpPr>
          <p:cNvPr id="323" name="Google Shape;323;p2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24" name="Google Shape;324;p29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972" y="1299538"/>
            <a:ext cx="2882078" cy="254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Sources</a:t>
            </a:r>
            <a:endParaRPr/>
          </a:p>
        </p:txBody>
      </p:sp>
      <p:sp>
        <p:nvSpPr>
          <p:cNvPr id="330" name="Google Shape;33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https://www.rallybel.com/links_iso_national.html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https://donnees.banquemondiale.org/#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fr" sz="14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https://www.fao.org/faostat/fr/#data</a:t>
            </a:r>
            <a:endParaRPr sz="1400">
              <a:solidFill>
                <a:schemeClr val="accent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32" name="Google Shape;332;p30" title="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83101" y="0"/>
            <a:ext cx="1363600" cy="12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une_jaune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