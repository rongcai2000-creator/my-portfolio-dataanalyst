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65" r:id="rId5"/>
    <p:sldId id="263" r:id="rId6"/>
    <p:sldId id="264" r:id="rId7"/>
    <p:sldId id="258" r:id="rId8"/>
    <p:sldId id="259" r:id="rId9"/>
    <p:sldId id="260" r:id="rId10"/>
    <p:sldId id="266" r:id="rId11"/>
    <p:sldId id="267" r:id="rId12"/>
    <p:sldId id="268" r:id="rId13"/>
    <p:sldId id="269" r:id="rId14"/>
    <p:sldId id="270" r:id="rId15"/>
    <p:sldId id="261" r:id="rId16"/>
    <p:sldId id="262" r:id="rId17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5T23:19:21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42 24575,'-1'-1'0,"0"-1"0,1 1 0,-1 0 0,0-1 0,0 1 0,0 0 0,0-1 0,0 1 0,0 0 0,0 0 0,0 0 0,-1 0 0,-1-2 0,-19-12 0,28 50 0,-1-17 0,-5-18 0,0 1 0,1-1 0,-1 0 0,0 0 0,0 1 0,0-1 0,1 0 0,-1 1 0,0-1 0,0 0 0,1 0 0,-1 0 0,0 1 0,1-1 0,-1 0 0,0 0 0,1 0 0,-1 0 0,0 0 0,1 1 0,-1-1 0,0 0 0,1 0 0,-1 0 0,1 0 0,1-1 0,1 0 0,-1 0 0,0 0 0,0 0 0,0-1 0,0 1 0,0-1 0,0 1 0,0-1 0,1-2 0,15-4 0,-12 4 0,-19-8 0,4 2 0,-8-5 0,9 17 0,3 11 0,1 0-17,3-11-95,1 0-1,-1 0 1,1 0 0,-1 0-1,1 0 1,0 0 0,-1 0-1,1 0 1,0 0 0,0 0-1,1 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5T23:19:25.9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30 24575,'14'11'0,"8"5"0,-21-15 0,0 0 0,-1-1 0,1 1 0,-1 0 0,1-1 0,-1 1 0,1 0 0,-1 0 0,1-1 0,-1 1 0,1 0 0,-1 0 0,0 0 0,0 0 0,1-1 0,-1 1 0,0 0 0,0 0 0,0 0 0,0 0 0,0 0 0,0 0 0,0 1 0,-1-1 0,1-1 0,-1 1 0,0 0 0,1-1 0,-1 1 0,0-1 0,1 1 0,-1-1 0,0 1 0,1-1 0,-1 1 0,0-1 0,0 0 0,0 1 0,1-1 0,-1 0 0,0 0 0,0 0 0,0 0 0,0 1 0,0-1 0,1 0 0,-1-1 0,0 1 0,0 0 0,0 0 0,0 0 0,1 0 0,-1-1 0,0 1 0,0 0 0,-1-1 0,-26-11 0,25 9 0,0 1 0,1-1 0,-1 1 0,1-1 0,0 0 0,0 0 0,0 0 0,-3-5 0,5 7 0,-1 0 0,0 0 0,1-1 0,0 1 0,-1 0 0,1 0 0,0 0 0,-1 0 0,1 0 0,0 0 0,0-1 0,0 1 0,0 0 0,0 0 0,0 0 0,0 0 0,0-1 0,1 1 0,-1 0 0,0 0 0,1 0 0,-1 0 0,1 0 0,-1 0 0,1 0 0,0 0 0,-1 0 0,1 0 0,0 0 0,0 0 0,1-1 0,-1 1 0,0 1 0,0-1 0,1 0 0,-1 1 0,0-1 0,1 1 0,-1-1 0,0 1 0,1 0 0,-1-1 0,1 1 0,-1 0 0,0 0 0,1 0 0,-1 0 0,1 0 0,-1 0 0,0 1 0,1-1 0,-1 0 0,1 1 0,-1-1 0,0 1 0,1 0 0,1 0 0,-1 1 0,0-1 0,0 1 0,0-1 0,0 1 0,0-1 0,-1 1 0,1 0 0,-1 0 0,1 0 0,-1 0 0,1 0 0,-1 0 0,2 5 0,-3-5-85,1-1 0,-1 1-1,1 0 1,-1 1 0,1-1-1,-1 0 1,0 0 0,0 0-1,0 0 1,0 0 0,0 0-1,-1 0 1,1 0 0,-1 0-1,0 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5T23:19:2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431B023-52EF-7379-1B7D-498C3ECE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A11E968E-04D9-5A40-F54E-0EC591CF1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80CE3107-2BDC-C56F-5447-A5AD105B6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729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C728F15-17A6-20A0-CDD6-426EDC10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50E1C8D0-3186-DB92-5515-3B5AA6A03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D49CB1F7-63AD-7E77-32C4-4E6A2E744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338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A96F6C6-2DF5-6B46-4F1A-8F96FB82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25AA7F96-5C9A-CADE-56E7-F2ECB3E34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5A5CACBF-2372-0A2D-F212-99B7BDA99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48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C8E0571-47DC-1128-35E8-B8921B7C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7F750C3F-0FBA-7B59-8D05-67C36CC00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96211A9-A18A-33FC-2DC5-D84AD0A59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494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F79A84C-059E-4B5D-F536-D625E375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CF615BCF-4337-ACB2-8A58-F67E40A2E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68E1F4E2-0DA4-E43F-673F-B00B67F93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198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6007A17-DDFF-BB42-7D01-B740D58E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BC3F35AE-43FD-3CC4-44AC-EA406147F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70421E52-A128-A049-1B8A-2E072642E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073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B72453E-9303-0D0D-FE7C-FEF1F7C6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3547862D-74FD-ABE9-F592-86F60812D6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3F6CBAA9-26AF-FF2E-F28A-73D3A379D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893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8FA57CA-0D63-1861-E1F3-42817914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883237B7-8E27-A4FC-4C9D-06E77768F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09EC545F-6D55-537F-DCAC-279C52DBC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6083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69A73AA-38E1-583A-CF95-B9EC3B46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9E50161E-71B1-B7E0-A072-B2A7BD8E4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A172C0A6-CB69-3B6A-23B1-B602A38B4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0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49" y="2686725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du stock et des ventes des produits sur le site de 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848100"/>
            <a:ext cx="3807680" cy="77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CAI Rongrong</a:t>
            </a:r>
          </a:p>
          <a:p>
            <a:pPr algn="ctr">
              <a:buSzPct val="100000"/>
            </a:pPr>
            <a:r>
              <a:rPr lang="fr-FR" sz="2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fr-FR" sz="2200" b="0" i="0" u="none" strike="noStrike" cap="none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endParaRPr lang="fr-FR" sz="2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buSzPct val="100000"/>
            </a:pPr>
            <a:r>
              <a:rPr lang="fr" sz="2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r>
              <a:rPr lang="fr" sz="2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/03/2025</a:t>
            </a:r>
          </a:p>
          <a:p>
            <a:pPr algn="ctr">
              <a:buSzPct val="100000"/>
            </a:pPr>
            <a:endParaRPr lang="fr-FR" sz="2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D5492DC-4E01-553C-E409-2BCB4C677FBA}"/>
              </a:ext>
            </a:extLst>
          </p:cNvPr>
          <p:cNvSpPr/>
          <p:nvPr/>
        </p:nvSpPr>
        <p:spPr>
          <a:xfrm>
            <a:off x="3290888" y="828675"/>
            <a:ext cx="2562224" cy="1743075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F05939A3-39B8-3103-938E-26AD996FF368}"/>
                  </a:ext>
                </a:extLst>
              </p14:cNvPr>
              <p14:cNvContentPartPr/>
              <p14:nvPr/>
            </p14:nvContentPartPr>
            <p14:xfrm>
              <a:off x="5272853" y="1977008"/>
              <a:ext cx="24480" cy="237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F05939A3-39B8-3103-938E-26AD996FF3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6733" y="1970888"/>
                <a:ext cx="36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F77CC9E8-6B76-928B-E2E9-4E8A0080EE1F}"/>
                  </a:ext>
                </a:extLst>
              </p14:cNvPr>
              <p14:cNvContentPartPr/>
              <p14:nvPr/>
            </p14:nvContentPartPr>
            <p14:xfrm>
              <a:off x="5257733" y="2011568"/>
              <a:ext cx="30240" cy="3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F77CC9E8-6B76-928B-E2E9-4E8A0080EE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1613" y="2005448"/>
                <a:ext cx="424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67D5E1DD-4899-7C7A-F51F-5AC4420FAB11}"/>
                  </a:ext>
                </a:extLst>
              </p14:cNvPr>
              <p14:cNvContentPartPr/>
              <p14:nvPr/>
            </p14:nvContentPartPr>
            <p14:xfrm>
              <a:off x="5278253" y="1980968"/>
              <a:ext cx="360" cy="360"/>
            </p14:xfrm>
          </p:contentPart>
        </mc:Choice>
        <mc:Fallback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67D5E1DD-4899-7C7A-F51F-5AC4420FAB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72133" y="19748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576933" cy="298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Contexte :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Réaliser des analyses préliminaires et nettoyer l’ensemble des données en octobre en vue d’un futur projet de data visualisation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Plan : </a:t>
            </a:r>
          </a:p>
          <a:p>
            <a:pPr marL="971550" lvl="1" indent="-400050">
              <a:buClr>
                <a:srgbClr val="999999"/>
              </a:buClr>
              <a:buSzPts val="1800"/>
              <a:buFont typeface="+mj-lt"/>
              <a:buAutoNum type="romanUcPeriod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 d’exploitation des données</a:t>
            </a:r>
          </a:p>
          <a:p>
            <a:pPr marL="971550" lvl="1" indent="-400050">
              <a:buClr>
                <a:srgbClr val="999999"/>
              </a:buClr>
              <a:buSzPts val="1800"/>
              <a:buFont typeface="+mj-lt"/>
              <a:buAutoNum type="romanUcPeriod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Analyse exploratoire et nettoyage des données</a:t>
            </a:r>
          </a:p>
          <a:p>
            <a:pPr marL="971550" lvl="1" indent="-400050">
              <a:buClr>
                <a:srgbClr val="999999"/>
              </a:buClr>
              <a:buSzPts val="1800"/>
              <a:buFont typeface="+mj-lt"/>
              <a:buAutoNum type="romanUcPeriod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Analyse des variables univariées</a:t>
            </a:r>
          </a:p>
          <a:p>
            <a:pPr marL="971550" lvl="1" indent="-400050">
              <a:buClr>
                <a:srgbClr val="999999"/>
              </a:buClr>
              <a:buSzPts val="1800"/>
              <a:buFont typeface="+mj-lt"/>
              <a:buAutoNum type="romanUcPeriod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Corrélations entre les variables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Contexte &amp; objectif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9ABA09A-CDA3-D026-4569-3253C3ED1E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987351D-EBA5-0A72-3480-C19726B1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A4F8E806-32C1-6958-2A34-22D740ED4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576933" cy="298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3 BDD à disposition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ERP : 825 x 6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Web : 1513 x 29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Liaison : 825 x 2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l’unicité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la complétude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la cohérence des informations entre les variables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la cohérence entre les bases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la conformité (type, format, etc.)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D44C48D-500F-2B59-4266-7E33ECDA42D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C4841AD3-4F86-3A3B-FA1F-FD7503AB2D5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 - Méthode d’exploitation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C7407A12-1F2B-3EA7-7E12-67882F1A22E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2E64547-E5FE-E5C0-BABD-6C60871F46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93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CB3EE3D-153D-1661-37EA-17B9850F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C78DEB6F-B181-DD41-6F3E-93A9BB77D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57693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Données internes ERP : 825 x 6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:</a:t>
            </a:r>
            <a:endParaRPr lang="fr-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Confirmation de l’unicité et de la complétude des données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Harmonisation des informations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Correction des anomalies des valeurs numériques (valeurs négatives)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 :</a:t>
            </a:r>
          </a:p>
          <a:p>
            <a:pPr marL="857250" lvl="1" indent="-28575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Incohérence entre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7250" lvl="1" indent="-28575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Anomalies de valeurs telles que le prix de vente et le stockage négatifs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6963CA0-BEA4-1109-8130-A32A1D65099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9F21E8B8-9A76-1FE5-CAB6-008AC7C1726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II - Analyse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 des 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onnées ERP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EAF56793-EFA4-9D83-B966-658FABEE336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D3D68D-E83D-6123-85A2-B4CFE77AB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7C6078-0D6B-AF14-92B2-6D4ECAC7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21" y="3959824"/>
            <a:ext cx="4711942" cy="10160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5AE8FD3-D0DC-9A66-92A4-F7AEE604F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80" y="4270991"/>
            <a:ext cx="1733639" cy="68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8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6FDA0EA-28A9-7B2B-E232-D431D4D2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A8DC983D-0A7D-E3A5-87CB-36C71A25B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57693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9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Données du site Web : 1513 x 29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7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valeurs manquantes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l’unicité des articles à l’aide de </a:t>
            </a:r>
            <a:r>
              <a:rPr lang="fr-FR" sz="15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post_type</a:t>
            </a:r>
            <a:endParaRPr lang="fr-FR" sz="15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Correction des incohérences de type de données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Sélection des données utiles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" sz="15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7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Remarques &amp; pièges :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Pour la colonne servant d’identifiant « sku » :</a:t>
            </a:r>
            <a:endParaRPr lang="fr-FR" sz="15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2 produits avec un identifiant de type « caractères » </a:t>
            </a:r>
          </a:p>
          <a:p>
            <a:pPr lvl="1" indent="-34290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85 valeurs manquantes</a:t>
            </a:r>
          </a:p>
          <a:p>
            <a:pPr lvl="1" indent="-34290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2 identifiants de valeurs nulles mais contenant des informations</a:t>
            </a:r>
          </a:p>
          <a:p>
            <a:pPr lvl="1" indent="-34290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5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Chaque article est représenté en double selon post_type</a:t>
            </a:r>
          </a:p>
          <a:p>
            <a:pPr lvl="2" indent="-342900">
              <a:buClr>
                <a:srgbClr val="999999"/>
              </a:buClr>
              <a:buSzPts val="1800"/>
              <a:buFont typeface="Montserrat"/>
              <a:buChar char="●"/>
            </a:pPr>
            <a:endParaRPr lang="fr" sz="15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42900">
              <a:buClr>
                <a:srgbClr val="999999"/>
              </a:buClr>
              <a:buSzPts val="1800"/>
              <a:buFont typeface="Montserrat"/>
              <a:buChar char="●"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42900">
              <a:buClr>
                <a:srgbClr val="999999"/>
              </a:buClr>
              <a:buSzPts val="1800"/>
              <a:buFont typeface="Montserrat"/>
              <a:buChar char="●"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5CDB53-5BDD-EC7E-0A76-25CB5966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62" y="3111060"/>
            <a:ext cx="1882349" cy="99434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AE43DDD-B1B6-ED13-86AD-B9EF69E35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780" y="3511652"/>
            <a:ext cx="1568531" cy="11875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F18EFBE-8000-5F05-E400-2BF55A41C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405" y="4434602"/>
            <a:ext cx="3683189" cy="285765"/>
          </a:xfrm>
          <a:prstGeom prst="rect">
            <a:avLst/>
          </a:prstGeom>
        </p:spPr>
      </p:pic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E949CFD-6520-8BFC-2963-01CCB7583AE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83BDA66A-190B-45A0-504C-65B7889CB6B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II - Analyse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xploratoire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onnées Web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C363FD41-9904-1CDF-B76E-C2957FEEF9E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066C255-B2CE-325B-75F4-1F719FB73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B7842E4-C9FA-F680-91ED-6B0C5A4DF3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272" y="3140186"/>
            <a:ext cx="2626039" cy="54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9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5F15B30-415A-5844-D340-F1AE6565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4848007D-E122-050D-141A-F94DE251A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57693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Données de liaison : 825 x 2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doublons de l’identifiant du produit (internes et externes) et des valeurs manquantes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Correction des 2 identifiants de type caractère pour assurer la cohérence avec la BDD du Web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 :</a:t>
            </a:r>
          </a:p>
          <a:p>
            <a:pPr lvl="1" indent="-342900"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Nombre de valeurs présentes n’est pas identique</a:t>
            </a: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74678C4E-5B36-BE78-2B85-47AC9CC2AB04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FF82AE8D-1353-8EE4-3B00-FE335E2388A4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II - Analyse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xploratoire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onnées Liaison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FA4741C9-0E98-9C0A-9EF3-97F036AA820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4A932A4-DB5E-8C24-2CE4-81B3A610F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9C813E4-9ADC-464E-C475-57E21F965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767" y="4195647"/>
            <a:ext cx="5478466" cy="61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32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A2EE65-F63F-1A7B-911D-5B9F0AFCB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819" y="1539576"/>
            <a:ext cx="2592989" cy="15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Clés utilisées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BDD ERP : produit_id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BDD liaison :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produit_id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BDD Web : sku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Vigilances particulières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Jointure interne</a:t>
            </a:r>
            <a:r>
              <a:rPr lang="fr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entre les données 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91 lignes n’ont pas de correspondance entre ERP et liaison,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111 correspondances entre ERP_liaison et Web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Difficultés ou pièges rencontrés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Comprendre quelle jointure appliquer</a:t>
            </a:r>
            <a:endParaRPr lang="fr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i="1" dirty="0">
                <a:solidFill>
                  <a:srgbClr val="999999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Incohérence entre onsale_web &amp; post_status</a:t>
            </a:r>
            <a:endParaRPr dirty="0">
              <a:latin typeface="Montserrat" panose="00000500000000000000" pitchFamily="2" charset="0"/>
            </a:endParaRPr>
          </a:p>
          <a:p>
            <a:pPr marL="114300" indent="0">
              <a:buClr>
                <a:srgbClr val="434343"/>
              </a:buClr>
              <a:buNone/>
            </a:pPr>
            <a:r>
              <a:rPr lang="fr-FR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714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articles vendus en ligne sont conservés !</a:t>
            </a: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II - Fusion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onnées : articles vendus en ligne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E3CFA40-1B18-7D46-2185-AB56DC909A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575F5ED-5AD4-CD82-90A2-EDCD95663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773" y="3507136"/>
            <a:ext cx="2521080" cy="1206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48874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 statistique : </a:t>
            </a:r>
            <a:r>
              <a:rPr lang="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Z-score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Moyenne : 32,33 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Écart-type : 27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Seuil des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(Z-score) : 116,4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Observation du </a:t>
            </a:r>
            <a:r>
              <a:rPr lang="fr-FR" sz="16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aleurs positives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Médiane : 23 € 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ernier décile : 85,6 € 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Part d’outliers : </a:t>
            </a:r>
            <a:r>
              <a:rPr lang="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1,68%</a:t>
            </a: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avec un  seuil de 120 €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justifiés : vérifiés sur Internet</a:t>
            </a: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III - V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aleurs aberrantes du prix de vente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BFD2A2-14E2-2A3F-0BBA-A6780555E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799C7AC-0F59-95BB-D8C3-B01C116A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3213" y="1915098"/>
            <a:ext cx="3700787" cy="26434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III - CA par article peut atteindre plus de 2 400€/mois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00241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total en octobre : </a:t>
            </a: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143 680€</a:t>
            </a:r>
            <a:endParaRPr lang="fr-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Top 1 article : </a:t>
            </a: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+ 2400 CA/mois</a:t>
            </a:r>
            <a:endParaRPr lang="fr-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par article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Moyenne : 215,3 €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Écart-type : 301,8 €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80% du CA recolté par </a:t>
            </a:r>
            <a:r>
              <a:rPr lang="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60,64%</a:t>
            </a: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des articles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* les noms des premiers articles se trouvent dans le tableau</a:t>
            </a:r>
            <a:endParaRPr sz="1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F1FAF60-BD81-B2B4-C216-9ED45C90B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A4237C-DF4A-1DCE-B349-2590F1FAE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78839" y="1404226"/>
            <a:ext cx="3665161" cy="3665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2E87ABA-C765-A258-0071-2FF65BC4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352C4A6-24FB-236D-A5E4-680FFB3D09C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C4447EE8-4D21-0C75-6D94-AECD51E9021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sym typeface="Montserrat"/>
              </a:rPr>
              <a:t>III - Article populaire a atteint 36 ventes/mois</a:t>
            </a:r>
            <a:endParaRPr lang="fr-FR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52A29C8B-A448-07C2-88B0-A6BF14C04DA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DAA4DAAA-C5A6-35AE-A130-20DBBD485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391435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Vente totale en octobre : </a:t>
            </a: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5751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Top 1 article : </a:t>
            </a: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+ 35/mois</a:t>
            </a: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endParaRPr lang="fr-FR" sz="12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Quantité vendue par article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Moyenne : 8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Écart-type : 4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4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80% de vente réalisé par </a:t>
            </a:r>
            <a:r>
              <a:rPr lang="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60,5% </a:t>
            </a:r>
            <a:r>
              <a:rPr lang="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des articles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05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05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05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05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* les noms des premiers articles se trouvent dans le tableau</a:t>
            </a:r>
            <a:endParaRPr lang="fr-FR" sz="1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E793804-07E9-2F53-0FBA-3CF62E3F17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FA7EA7-1FB5-B968-8AB3-748B32F2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5300" y="1597985"/>
            <a:ext cx="4588700" cy="327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0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85CEBF2-A6EC-08C4-CA89-F14F5E4F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47BA2591-670C-2330-6EEE-684DDBDD21B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1C40BAA4-A3BD-ED96-047F-628103BA4F8D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III - Champagne : Fêtes de la fin d’année ?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0DCE36C6-CEBE-10BA-6C5C-7DB3978F6FD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B5B9FFDA-636A-6C30-4E69-53B59D50E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41070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buClr>
                <a:srgbClr val="999999"/>
              </a:buClr>
            </a:pPr>
            <a:r>
              <a:rPr lang="fr-FR" sz="19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Rotation de stock :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      Nombre de mois de stock =</a:t>
            </a:r>
          </a:p>
          <a:p>
            <a:pPr marL="114300" indent="0" algn="ctr">
              <a:buClr>
                <a:srgbClr val="999999"/>
              </a:buClr>
              <a:buNone/>
            </a:pP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Quantité de stock / total des ventes</a:t>
            </a: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114300" indent="0" algn="ctr">
              <a:buClr>
                <a:srgbClr val="999999"/>
              </a:buClr>
              <a:buNone/>
            </a:pPr>
            <a:endParaRPr lang="fr-FR" sz="14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Moyenne : </a:t>
            </a:r>
            <a:r>
              <a:rPr lang="fr-FR" sz="1600" i="1" dirty="0">
                <a:solidFill>
                  <a:srgbClr val="999999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2,9 mois </a:t>
            </a:r>
            <a:endParaRPr lang="fr-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Écart-type : </a:t>
            </a:r>
            <a:r>
              <a:rPr lang="fr-FR" sz="1600" i="1" dirty="0">
                <a:solidFill>
                  <a:srgbClr val="999999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3,64 mois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-FR" sz="19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Stratégie de fin d’année :</a:t>
            </a:r>
            <a:endParaRPr lang="fr-FR" sz="17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Champagne</a:t>
            </a: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Durée max. du stock : </a:t>
            </a: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+ 30 mois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Possible stock pour les fêtes de la fin d’année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indent="0">
              <a:buClr>
                <a:srgbClr val="999999"/>
              </a:buClr>
              <a:buNone/>
            </a:pPr>
            <a:endParaRPr lang="fr-FR" sz="13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indent="0">
              <a:buClr>
                <a:srgbClr val="999999"/>
              </a:buClr>
              <a:buNone/>
            </a:pPr>
            <a:r>
              <a:rPr lang="fr-FR" sz="12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* les noms des premiers articles se trouvent dans le tableau</a:t>
            </a:r>
            <a:endParaRPr lang="fr-FR" sz="1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B6499DB-FD16-4871-FCB9-AED66866BA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6" name="Graphique 5" descr="Boulier contour">
            <a:extLst>
              <a:ext uri="{FF2B5EF4-FFF2-40B4-BE49-F238E27FC236}">
                <a16:creationId xmlns:a16="http://schemas.microsoft.com/office/drawing/2014/main" id="{E4E1CE96-89CC-2C52-8637-970D83229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5481151"/>
            <a:ext cx="914400" cy="9144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298C2D5-9D83-0330-9AE3-1586BDE2D5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057" y="1699122"/>
            <a:ext cx="4297943" cy="30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29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34C4068-B11C-F678-B43C-0EB37862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6ECA7652-53CB-94C6-2C11-C2FF26541E7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476B5606-DFC2-3EA1-E7CF-5C568090FBF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sym typeface="Montserrat"/>
              </a:rPr>
              <a:t>III - Cognac, Whiskey et Gin sont les plus rentables</a:t>
            </a:r>
            <a:endParaRPr lang="fr-FR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80BAB3A-F4A5-5EF3-A919-D257E357BAF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F9AD681E-BE9A-F82E-15E8-8DE37775F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17947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Types de produit les plus rentables :</a:t>
            </a:r>
          </a:p>
          <a:p>
            <a:pPr lvl="1" indent="-342900">
              <a:buClr>
                <a:srgbClr val="999999"/>
              </a:buClr>
              <a:buSzPts val="1800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Cognac, Whisky et Gin </a:t>
            </a:r>
            <a:r>
              <a:rPr lang="fr-FR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(&gt; 110%)</a:t>
            </a:r>
          </a:p>
          <a:p>
            <a:pPr lvl="1" indent="-342900">
              <a:buClr>
                <a:srgbClr val="999999"/>
              </a:buClr>
              <a:buSzPts val="1800"/>
            </a:pPr>
            <a:endParaRPr lang="fr-FR" b="1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-FR" b="1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-FR" b="1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Types de produit les moins rentables :</a:t>
            </a:r>
          </a:p>
          <a:p>
            <a:pPr marL="857250" lvl="1" indent="-285750">
              <a:buClr>
                <a:srgbClr val="999999"/>
              </a:buClr>
              <a:buSzPts val="1800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Champagne, Huile d’olive (autour de </a:t>
            </a:r>
            <a:r>
              <a:rPr lang="fr-FR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60%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F8640E0-1C77-EF98-447F-78DD084696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13E46A7-73E8-5D35-5529-2D0DF487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4522" y="1744136"/>
            <a:ext cx="4179478" cy="298534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2DFC180-EC2F-6A02-D2F9-6AEBE2EDF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303" y="2571750"/>
            <a:ext cx="2721430" cy="40587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C1DEDD7-A962-26A8-C8B1-F3D8C5FFB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303" y="4329746"/>
            <a:ext cx="2814545" cy="3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3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1815204-B4A5-762F-C2CD-52D5BDA2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EED24720-72B3-39E8-467E-8269701D020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E1D3D4B8-4880-AB72-F18C-DD0D9C8FC425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IV - Lien fort entre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taux_marge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endParaRPr lang="fr-FR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A5BFEF06-DB54-F7C2-0868-BE9652F9E16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C32B5B8D-31A1-3FB8-5D4C-A39B7D7FF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11095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>
              <a:buClr>
                <a:srgbClr val="999999"/>
              </a:buClr>
            </a:pPr>
            <a:r>
              <a:rPr lang="fr" sz="23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Corrélation très élevée entre :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Prix de vente et d’achat (&gt;99%)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sz="23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Corrélation élevée entre :</a:t>
            </a:r>
            <a:endParaRPr lang="fr-FR" sz="23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par article et les prix (&gt;60%)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Nombre de ventes et les prix (&gt;50%)</a:t>
            </a:r>
          </a:p>
          <a:p>
            <a:pPr marL="571500" lvl="1" indent="0"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sz="23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Corrélation moyenne entre :</a:t>
            </a:r>
            <a:endParaRPr lang="fr-FR" sz="23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Quantité de stock et nombre de ventes (</a:t>
            </a:r>
            <a:r>
              <a:rPr lang="fr-FR" sz="20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44%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lvl="1" indent="-342900"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Quantité de stock et </a:t>
            </a:r>
            <a:r>
              <a:rPr lang="fr-FR" sz="20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taux de marge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fr-FR" sz="20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-46%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lang="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9397158-3129-CB99-3CC6-44B3E99AA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3ED9D5-8B2B-9704-BF70-159CF8BA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91075" y="1682191"/>
            <a:ext cx="4352925" cy="310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26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EA72ABC3-A650-0E70-EFCA-47FDE6E8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6A7565A8-93E4-ED16-BBB8-6B2F61E9715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D18CD27A-3502-B256-3FBD-BA701FF71C0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dirty="0"/>
          </a:p>
        </p:txBody>
      </p:sp>
      <p:sp>
        <p:nvSpPr>
          <p:cNvPr id="97" name="Google Shape;97;g13f9e8f1567_0_0">
            <a:extLst>
              <a:ext uri="{FF2B5EF4-FFF2-40B4-BE49-F238E27FC236}">
                <a16:creationId xmlns:a16="http://schemas.microsoft.com/office/drawing/2014/main" id="{F3E441D1-8287-2322-2A2E-A759F986177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2D62574-FD2C-9244-7529-F8E244E9D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pic>
        <p:nvPicPr>
          <p:cNvPr id="5" name="Graphique 4" descr="Pièces contour">
            <a:extLst>
              <a:ext uri="{FF2B5EF4-FFF2-40B4-BE49-F238E27FC236}">
                <a16:creationId xmlns:a16="http://schemas.microsoft.com/office/drawing/2014/main" id="{E4907CF5-3040-098E-8835-88E947F13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87" y="1925364"/>
            <a:ext cx="914400" cy="9144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E136CD2-A7A5-65D7-9901-8574E5474E4D}"/>
              </a:ext>
            </a:extLst>
          </p:cNvPr>
          <p:cNvSpPr txBox="1"/>
          <p:nvPr/>
        </p:nvSpPr>
        <p:spPr>
          <a:xfrm>
            <a:off x="1568187" y="2120954"/>
            <a:ext cx="2102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 : plus de 143k €</a:t>
            </a:r>
          </a:p>
          <a:p>
            <a:r>
              <a:rPr lang="fr-FR" dirty="0"/>
              <a:t>Vente : plus de 5,7k</a:t>
            </a:r>
          </a:p>
        </p:txBody>
      </p:sp>
      <p:pic>
        <p:nvPicPr>
          <p:cNvPr id="8" name="Graphique 7" descr="Vin contour">
            <a:extLst>
              <a:ext uri="{FF2B5EF4-FFF2-40B4-BE49-F238E27FC236}">
                <a16:creationId xmlns:a16="http://schemas.microsoft.com/office/drawing/2014/main" id="{5AAF9793-5011-7138-71E5-1F74344FF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882057" y="3303205"/>
            <a:ext cx="914400" cy="914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0338B43-2942-4240-4690-4C2D41E928E1}"/>
              </a:ext>
            </a:extLst>
          </p:cNvPr>
          <p:cNvSpPr txBox="1"/>
          <p:nvPr/>
        </p:nvSpPr>
        <p:spPr>
          <a:xfrm>
            <a:off x="5796457" y="3498795"/>
            <a:ext cx="2102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Marges les plus élevés : Cognac, Whiskey et Gin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F0F0713-595B-100C-1D5A-1B157C2AF3C8}"/>
              </a:ext>
            </a:extLst>
          </p:cNvPr>
          <p:cNvSpPr txBox="1"/>
          <p:nvPr/>
        </p:nvSpPr>
        <p:spPr>
          <a:xfrm>
            <a:off x="5796457" y="2120954"/>
            <a:ext cx="243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80% CA (quantité) apporté par 60% des produits </a:t>
            </a:r>
          </a:p>
        </p:txBody>
      </p:sp>
      <p:pic>
        <p:nvPicPr>
          <p:cNvPr id="21" name="Graphique 20" descr="Présentation avec camembert contour">
            <a:extLst>
              <a:ext uri="{FF2B5EF4-FFF2-40B4-BE49-F238E27FC236}">
                <a16:creationId xmlns:a16="http://schemas.microsoft.com/office/drawing/2014/main" id="{9DE1C648-84A9-6783-B845-B705C03E7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2057" y="1925364"/>
            <a:ext cx="914400" cy="914400"/>
          </a:xfrm>
          <a:prstGeom prst="rect">
            <a:avLst/>
          </a:prstGeom>
        </p:spPr>
      </p:pic>
      <p:pic>
        <p:nvPicPr>
          <p:cNvPr id="23" name="Graphique 22" descr="Chronomètre contour">
            <a:extLst>
              <a:ext uri="{FF2B5EF4-FFF2-40B4-BE49-F238E27FC236}">
                <a16:creationId xmlns:a16="http://schemas.microsoft.com/office/drawing/2014/main" id="{AFAE16E8-B22F-60BA-97BC-828B2DEA1C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787" y="3303205"/>
            <a:ext cx="914400" cy="9144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DB904104-E842-6C19-5DAC-DC36CE21647A}"/>
              </a:ext>
            </a:extLst>
          </p:cNvPr>
          <p:cNvSpPr txBox="1"/>
          <p:nvPr/>
        </p:nvSpPr>
        <p:spPr>
          <a:xfrm>
            <a:off x="1568187" y="3391073"/>
            <a:ext cx="285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Rotation de stock max. = 30 mois (dans 2,5 ans) pour Champagne </a:t>
            </a:r>
          </a:p>
          <a:p>
            <a:r>
              <a:rPr lang="fr-FR" dirty="0"/>
              <a:t>=&gt; Fêtes de fin d’année</a:t>
            </a:r>
          </a:p>
        </p:txBody>
      </p:sp>
    </p:spTree>
    <p:extLst>
      <p:ext uri="{BB962C8B-B14F-4D97-AF65-F5344CB8AC3E}">
        <p14:creationId xmlns:p14="http://schemas.microsoft.com/office/powerpoint/2010/main" val="389393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119ABB-2BC4-1845-A0AA-CB978F568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3" name="Google Shape;90;p7">
            <a:extLst>
              <a:ext uri="{FF2B5EF4-FFF2-40B4-BE49-F238E27FC236}">
                <a16:creationId xmlns:a16="http://schemas.microsoft.com/office/drawing/2014/main" id="{F4DB5D26-116A-E571-666F-5925F6D36F82}"/>
              </a:ext>
            </a:extLst>
          </p:cNvPr>
          <p:cNvSpPr txBox="1">
            <a:spLocks/>
          </p:cNvSpPr>
          <p:nvPr/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Contrôler la redondance des données :</a:t>
            </a:r>
          </a:p>
          <a:p>
            <a:pPr lvl="1">
              <a:buClr>
                <a:srgbClr val="999999"/>
              </a:buClr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 : BDD Web sont redondantes (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avec valeurs manquantes),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etc.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Harmoniser les types et formats des données :</a:t>
            </a:r>
          </a:p>
          <a:p>
            <a:pPr lvl="1">
              <a:buClr>
                <a:srgbClr val="999999"/>
              </a:buClr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 :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etc.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Contrôler la cohérence entre les BDD :</a:t>
            </a:r>
          </a:p>
          <a:p>
            <a:pPr lvl="1">
              <a:buClr>
                <a:srgbClr val="999999"/>
              </a:buClr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 :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Post_status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&amp;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onsale_web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product_id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etc.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Contrôler la cohérence des variables d’une BDD à l’aide de règles de gestion :</a:t>
            </a:r>
          </a:p>
          <a:p>
            <a:pPr lvl="1">
              <a:buClr>
                <a:srgbClr val="999999"/>
              </a:buClr>
              <a:buFont typeface="Courier New" panose="02070309020205020404" pitchFamily="49" charset="0"/>
              <a:buChar char="o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 :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etc.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Annexe</a:t>
            </a:r>
            <a:endParaRPr dirty="0"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84BA342-9740-ED58-BAC3-F7D9AA0274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E847F91-EDFF-9A70-AF41-15C977B98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141572"/>
              </p:ext>
            </p:extLst>
          </p:nvPr>
        </p:nvGraphicFramePr>
        <p:xfrm>
          <a:off x="2162574" y="1636044"/>
          <a:ext cx="5105400" cy="1104900"/>
        </p:xfrm>
        <a:graphic>
          <a:graphicData uri="http://schemas.openxmlformats.org/drawingml/2006/table">
            <a:tbl>
              <a:tblPr/>
              <a:tblGrid>
                <a:gridCol w="1175963">
                  <a:extLst>
                    <a:ext uri="{9D8B030D-6E8A-4147-A177-3AD203B41FA5}">
                      <a16:colId xmlns:a16="http://schemas.microsoft.com/office/drawing/2014/main" val="1078631779"/>
                    </a:ext>
                  </a:extLst>
                </a:gridCol>
                <a:gridCol w="3929437">
                  <a:extLst>
                    <a:ext uri="{9D8B030D-6E8A-4147-A177-3AD203B41FA5}">
                      <a16:colId xmlns:a16="http://schemas.microsoft.com/office/drawing/2014/main" val="80937190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Noms d'article (Graphique CA)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927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CEOGCM2008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Egly-Ouriet Grand Cru Millésimé 2008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9395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CCEOAR2016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Coteaux Champenois Egly-Ouriet Ambonnay Rouge 2016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403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CEOGCBR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Egly-Ouriet Grand Cru Brut Rosé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42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ALCRA2017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Agnès Levet Côte Rôtie Améthyste 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028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DCLV11CSM2015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Domaine des Comtes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Lafon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Volnay 1er Cru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Santenots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du Milieu 2015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28336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32150F9-1F1A-98DF-2DA0-B2808A97C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24315"/>
              </p:ext>
            </p:extLst>
          </p:nvPr>
        </p:nvGraphicFramePr>
        <p:xfrm>
          <a:off x="625874" y="3133042"/>
          <a:ext cx="4089400" cy="1419860"/>
        </p:xfrm>
        <a:graphic>
          <a:graphicData uri="http://schemas.openxmlformats.org/drawingml/2006/table">
            <a:tbl>
              <a:tblPr/>
              <a:tblGrid>
                <a:gridCol w="1079678">
                  <a:extLst>
                    <a:ext uri="{9D8B030D-6E8A-4147-A177-3AD203B41FA5}">
                      <a16:colId xmlns:a16="http://schemas.microsoft.com/office/drawing/2014/main" val="4288249979"/>
                    </a:ext>
                  </a:extLst>
                </a:gridCol>
                <a:gridCol w="3009722">
                  <a:extLst>
                    <a:ext uri="{9D8B030D-6E8A-4147-A177-3AD203B41FA5}">
                      <a16:colId xmlns:a16="http://schemas.microsoft.com/office/drawing/2014/main" val="4263474832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Noms d'article (Graphique </a:t>
                      </a:r>
                      <a:r>
                        <a:rPr lang="fr-F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sale_quantity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579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CDLSICAM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Château De La Selve IGP Coteaux de l'Ardèche Maguelonne Rosé 2019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93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MLIPHLPB2018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 Laval IGP Pays d'Hérault Les Pampres Blancs 2018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4668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IFCCL2017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 Fabbri Chianti Classico Lamole 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198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BBCRLCB2017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François Baur Pinot Noir Schlittweg 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9410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FBPNS2017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Bernard Baudry Chinon Rouge La Croix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Boissée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2017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264781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DDE903B8-54E4-8698-5212-3830D6869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10889"/>
              </p:ext>
            </p:extLst>
          </p:nvPr>
        </p:nvGraphicFramePr>
        <p:xfrm>
          <a:off x="5155825" y="3133042"/>
          <a:ext cx="3721100" cy="1262380"/>
        </p:xfrm>
        <a:graphic>
          <a:graphicData uri="http://schemas.openxmlformats.org/drawingml/2006/table">
            <a:tbl>
              <a:tblPr/>
              <a:tblGrid>
                <a:gridCol w="763303">
                  <a:extLst>
                    <a:ext uri="{9D8B030D-6E8A-4147-A177-3AD203B41FA5}">
                      <a16:colId xmlns:a16="http://schemas.microsoft.com/office/drawing/2014/main" val="3070383605"/>
                    </a:ext>
                  </a:extLst>
                </a:gridCol>
                <a:gridCol w="2957797">
                  <a:extLst>
                    <a:ext uri="{9D8B030D-6E8A-4147-A177-3AD203B41FA5}">
                      <a16:colId xmlns:a16="http://schemas.microsoft.com/office/drawing/2014/main" val="2416953606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Noms d'article (Graphique rotation_stock)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0405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CGGM2006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Gosset Grand Millésime 2006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3613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CGCV2007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Gosset Célébris Vintage 2007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0296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CEOPCLVV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Egly-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Ouriet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Premier Cru Les Vignes de Vrigny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476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CEOGCBT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Egly-Ouriet Grand Cru Brut Tradition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6798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CMGCBR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Champagne Mailly Grand Cru Brut Rosé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5667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34495</TotalTime>
  <Words>1102</Words>
  <Application>Microsoft Office PowerPoint</Application>
  <PresentationFormat>Affichage à l'écran (16:9)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Wingdings</vt:lpstr>
      <vt:lpstr>Aptos Narrow</vt:lpstr>
      <vt:lpstr>Arial</vt:lpstr>
      <vt:lpstr>Montserrat</vt:lpstr>
      <vt:lpstr>Courier New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rong CAI</cp:lastModifiedBy>
  <cp:revision>54</cp:revision>
  <dcterms:modified xsi:type="dcterms:W3CDTF">2025-03-02T00:01:01Z</dcterms:modified>
</cp:coreProperties>
</file>