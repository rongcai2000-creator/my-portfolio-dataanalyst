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8" r:id="rId4"/>
    <p:sldId id="278" r:id="rId5"/>
    <p:sldId id="279" r:id="rId6"/>
    <p:sldId id="260" r:id="rId7"/>
    <p:sldId id="276" r:id="rId8"/>
    <p:sldId id="282" r:id="rId9"/>
    <p:sldId id="281" r:id="rId10"/>
    <p:sldId id="280" r:id="rId11"/>
    <p:sldId id="268" r:id="rId12"/>
    <p:sldId id="277" r:id="rId13"/>
    <p:sldId id="262" r:id="rId14"/>
    <p:sldId id="264" r:id="rId15"/>
    <p:sldId id="284" r:id="rId16"/>
  </p:sldIdLst>
  <p:sldSz cx="18288000" cy="10287000"/>
  <p:notesSz cx="6858000" cy="9144000"/>
  <p:embeddedFontLst>
    <p:embeddedFont>
      <p:font typeface="Antonio Bold" panose="020B0604020202020204" charset="0"/>
      <p:regular r:id="rId19"/>
    </p:embeddedFont>
    <p:embeddedFont>
      <p:font typeface="Open Sauce" panose="020B0604020202020204" charset="0"/>
      <p:regular r:id="rId20"/>
    </p:embeddedFont>
    <p:embeddedFont>
      <p:font typeface="Open Sauce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B281"/>
    <a:srgbClr val="F1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2" autoAdjust="0"/>
    <p:restoredTop sz="84935" autoAdjust="0"/>
  </p:normalViewPr>
  <p:slideViewPr>
    <p:cSldViewPr>
      <p:cViewPr varScale="1">
        <p:scale>
          <a:sx n="30" d="100"/>
          <a:sy n="30" d="100"/>
        </p:scale>
        <p:origin x="1476" y="3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889D9005-2AE9-DBBE-40B9-AA3A417DC8F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D87D7F5-1D86-FB87-8D1F-06B88B13FF8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DABA14-81EC-42CB-B8AF-E0E670E97EE2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A18EE7E-C2D2-A34E-1A73-D85099A6976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ED98084-C4E3-E046-4758-CBD4DBF5027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E62FA0-CB8B-4F2C-A956-F6B7CD637C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203942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D75189-2B8E-428F-AE8E-EF17BCD5B019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FDFF71-7576-457D-AE0A-35018D506F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62115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DFF71-7576-457D-AE0A-35018D506F8B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87051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DFF71-7576-457D-AE0A-35018D506F8B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6935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DFF71-7576-457D-AE0A-35018D506F8B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49294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C0CE3-A04C-C9D6-7EEF-94CD47BF2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F628F42-8B02-502F-9702-C20FE29874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DA3D643-FD74-EA79-6272-5CD2D8AA63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7921444-A919-712C-6282-7A8876971D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DFF71-7576-457D-AE0A-35018D506F8B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07043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D3585-2B6A-CAC7-E710-1566C06E7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301C127-C8C2-9397-373E-8A08E9E9CC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E6C0D37-7C32-EEA6-9BF3-0BF4ECA7C7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F7B89EA-1F31-8C5B-3BC5-B36E6CC329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DFF71-7576-457D-AE0A-35018D506F8B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0867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FB076-9992-4174-963E-097D0860CE43}" type="datetime1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E6AFB-FB27-482F-9EC1-3EFAF1B111DC}" type="datetime1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DC173-7AA4-4A73-A76B-6F35B38997E8}" type="datetime1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BDA2-958F-46C7-AA83-9C27652C5CF8}" type="datetime1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E8A7F-B1A7-4857-8696-23F5287876E9}" type="datetime1">
              <a:rPr lang="en-US" smtClean="0"/>
              <a:t>6/1/2025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CBC61-FBB8-4C71-A25F-AC9054E37E5F}" type="datetime1">
              <a:rPr lang="en-US" smtClean="0"/>
              <a:t>6/1/2025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5F5AB-94B7-44FB-B0E7-0BC6CC6BD1C0}" type="datetime1">
              <a:rPr lang="en-US" smtClean="0"/>
              <a:t>6/1/2025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3B94F-42A9-4A01-A455-A59EF0776D20}" type="datetime1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3FE76-3F6F-477C-84FA-AADC7B672CDA}" type="datetime1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F0166-AD7E-4546-9D54-E83B2F5720F0}" type="datetime1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DD45E-558E-40C0-924D-EE56834B29D4}" type="datetime1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0796D6-A561-4E6A-B048-96DC5600883C}" type="datetime1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1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6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slide" Target="slide2.xml"/><Relationship Id="rId4" Type="http://schemas.openxmlformats.org/officeDocument/2006/relationships/image" Target="../media/image7.sv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7.sv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slide" Target="slide2.xml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slide" Target="slide2.xml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slide" Target="slide2.xml"/><Relationship Id="rId4" Type="http://schemas.openxmlformats.org/officeDocument/2006/relationships/image" Target="../media/image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slide" Target="slide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2.svg"/><Relationship Id="rId7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2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188304" y="-1513365"/>
            <a:ext cx="13313729" cy="13313729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8B281"/>
            </a:solidFill>
          </p:spPr>
          <p:txBody>
            <a:bodyPr/>
            <a:lstStyle/>
            <a:p>
              <a:endParaRPr lang="fr-FR" noProof="0" dirty="0"/>
            </a:p>
          </p:txBody>
        </p:sp>
      </p:grpSp>
      <p:grpSp>
        <p:nvGrpSpPr>
          <p:cNvPr id="4" name="Group 4"/>
          <p:cNvGrpSpPr/>
          <p:nvPr/>
        </p:nvGrpSpPr>
        <p:grpSpPr>
          <a:xfrm rot="-3270436">
            <a:off x="9315878" y="102642"/>
            <a:ext cx="12098771" cy="6654453"/>
            <a:chOff x="0" y="0"/>
            <a:chExt cx="4060919" cy="2233549"/>
          </a:xfrm>
        </p:grpSpPr>
        <p:sp>
          <p:nvSpPr>
            <p:cNvPr id="5" name="Freeform 5"/>
            <p:cNvSpPr/>
            <p:nvPr/>
          </p:nvSpPr>
          <p:spPr>
            <a:xfrm>
              <a:off x="19050" y="19050"/>
              <a:ext cx="4022947" cy="2195449"/>
            </a:xfrm>
            <a:custGeom>
              <a:avLst/>
              <a:gdLst/>
              <a:ahLst/>
              <a:cxnLst/>
              <a:rect l="l" t="t" r="r" b="b"/>
              <a:pathLst>
                <a:path w="4022947" h="2195449">
                  <a:moveTo>
                    <a:pt x="2925031" y="2195449"/>
                  </a:moveTo>
                  <a:lnTo>
                    <a:pt x="1097788" y="2195449"/>
                  </a:lnTo>
                  <a:cubicBezTo>
                    <a:pt x="491490" y="2195449"/>
                    <a:pt x="0" y="1703959"/>
                    <a:pt x="0" y="1097661"/>
                  </a:cubicBezTo>
                  <a:cubicBezTo>
                    <a:pt x="0" y="491490"/>
                    <a:pt x="491490" y="0"/>
                    <a:pt x="1097788" y="0"/>
                  </a:cubicBezTo>
                  <a:lnTo>
                    <a:pt x="2925158" y="0"/>
                  </a:lnTo>
                  <a:cubicBezTo>
                    <a:pt x="3531457" y="0"/>
                    <a:pt x="4022947" y="491490"/>
                    <a:pt x="4022947" y="1097788"/>
                  </a:cubicBezTo>
                  <a:cubicBezTo>
                    <a:pt x="4022820" y="1703959"/>
                    <a:pt x="3531329" y="2195449"/>
                    <a:pt x="2925031" y="2195449"/>
                  </a:cubicBezTo>
                  <a:close/>
                </a:path>
              </a:pathLst>
            </a:custGeom>
            <a:solidFill>
              <a:srgbClr val="F1EEEE"/>
            </a:solidFill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0" y="0"/>
              <a:ext cx="4060920" cy="2233549"/>
            </a:xfrm>
            <a:custGeom>
              <a:avLst/>
              <a:gdLst/>
              <a:ahLst/>
              <a:cxnLst/>
              <a:rect l="l" t="t" r="r" b="b"/>
              <a:pathLst>
                <a:path w="4060920" h="2233549">
                  <a:moveTo>
                    <a:pt x="2944081" y="2233549"/>
                  </a:moveTo>
                  <a:lnTo>
                    <a:pt x="1116838" y="2233549"/>
                  </a:lnTo>
                  <a:cubicBezTo>
                    <a:pt x="501015" y="2233549"/>
                    <a:pt x="0" y="1732534"/>
                    <a:pt x="0" y="1116838"/>
                  </a:cubicBezTo>
                  <a:cubicBezTo>
                    <a:pt x="0" y="501015"/>
                    <a:pt x="501015" y="0"/>
                    <a:pt x="1116838" y="0"/>
                  </a:cubicBezTo>
                  <a:lnTo>
                    <a:pt x="2944208" y="0"/>
                  </a:lnTo>
                  <a:cubicBezTo>
                    <a:pt x="3559904" y="0"/>
                    <a:pt x="4060920" y="501015"/>
                    <a:pt x="4060920" y="1116838"/>
                  </a:cubicBezTo>
                  <a:cubicBezTo>
                    <a:pt x="4060920" y="1732534"/>
                    <a:pt x="3559904" y="2233549"/>
                    <a:pt x="2944081" y="2233549"/>
                  </a:cubicBezTo>
                  <a:close/>
                  <a:moveTo>
                    <a:pt x="1116838" y="38100"/>
                  </a:moveTo>
                  <a:cubicBezTo>
                    <a:pt x="521970" y="38100"/>
                    <a:pt x="38100" y="521970"/>
                    <a:pt x="38100" y="1116838"/>
                  </a:cubicBezTo>
                  <a:cubicBezTo>
                    <a:pt x="38100" y="1711579"/>
                    <a:pt x="521970" y="2195576"/>
                    <a:pt x="1116838" y="2195576"/>
                  </a:cubicBezTo>
                  <a:lnTo>
                    <a:pt x="2944208" y="2195576"/>
                  </a:lnTo>
                  <a:cubicBezTo>
                    <a:pt x="3538950" y="2195576"/>
                    <a:pt x="4022947" y="1711706"/>
                    <a:pt x="4022947" y="1116838"/>
                  </a:cubicBezTo>
                  <a:cubicBezTo>
                    <a:pt x="4022820" y="521970"/>
                    <a:pt x="3538949" y="38100"/>
                    <a:pt x="2944081" y="38100"/>
                  </a:cubicBezTo>
                  <a:lnTo>
                    <a:pt x="1116838" y="38100"/>
                  </a:lnTo>
                  <a:close/>
                </a:path>
              </a:pathLst>
            </a:custGeom>
            <a:solidFill>
              <a:srgbClr val="F1EEEE"/>
            </a:solidFill>
          </p:spPr>
          <p:txBody>
            <a:bodyPr/>
            <a:lstStyle/>
            <a:p>
              <a:endParaRPr lang="fr-FR" noProof="0" dirty="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207104" y="2944648"/>
            <a:ext cx="5246391" cy="5246370"/>
            <a:chOff x="0" y="0"/>
            <a:chExt cx="6350000" cy="634997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25046" r="-25046"/>
              </a:stretch>
            </a:blipFill>
          </p:spPr>
          <p:txBody>
            <a:bodyPr/>
            <a:lstStyle/>
            <a:p>
              <a:endParaRPr lang="fr-FR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8920183"/>
            <a:ext cx="3798181" cy="338117"/>
            <a:chOff x="0" y="0"/>
            <a:chExt cx="5064241" cy="45082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50823" cy="450823"/>
            </a:xfrm>
            <a:custGeom>
              <a:avLst/>
              <a:gdLst/>
              <a:ahLst/>
              <a:cxnLst/>
              <a:rect l="l" t="t" r="r" b="b"/>
              <a:pathLst>
                <a:path w="450823" h="450823">
                  <a:moveTo>
                    <a:pt x="0" y="0"/>
                  </a:moveTo>
                  <a:lnTo>
                    <a:pt x="450823" y="0"/>
                  </a:lnTo>
                  <a:lnTo>
                    <a:pt x="450823" y="450823"/>
                  </a:lnTo>
                  <a:lnTo>
                    <a:pt x="0" y="450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9828" y="81689"/>
              <a:ext cx="4354413" cy="3321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80"/>
                </a:lnSpc>
                <a:spcBef>
                  <a:spcPct val="0"/>
                </a:spcBef>
              </a:pPr>
              <a:r>
                <a:rPr lang="fr-FR" sz="1600" noProof="0" dirty="0">
                  <a:solidFill>
                    <a:srgbClr val="000000"/>
                  </a:solidFill>
                  <a:latin typeface="Open Sauce"/>
                </a:rPr>
                <a:t>05/06/2025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44173" y="1008740"/>
            <a:ext cx="4145937" cy="717383"/>
            <a:chOff x="0" y="0"/>
            <a:chExt cx="5527915" cy="95651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28685" cy="956511"/>
            </a:xfrm>
            <a:custGeom>
              <a:avLst/>
              <a:gdLst/>
              <a:ahLst/>
              <a:cxnLst/>
              <a:rect l="l" t="t" r="r" b="b"/>
              <a:pathLst>
                <a:path w="928685" h="956511">
                  <a:moveTo>
                    <a:pt x="0" y="0"/>
                  </a:moveTo>
                  <a:lnTo>
                    <a:pt x="928685" y="0"/>
                  </a:lnTo>
                  <a:lnTo>
                    <a:pt x="928685" y="956511"/>
                  </a:lnTo>
                  <a:lnTo>
                    <a:pt x="0" y="956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45662" y="290527"/>
              <a:ext cx="4282253" cy="327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66"/>
                </a:lnSpc>
                <a:spcBef>
                  <a:spcPct val="0"/>
                </a:spcBef>
              </a:pPr>
              <a:r>
                <a:rPr lang="fr-FR" sz="1476" noProof="0" dirty="0">
                  <a:solidFill>
                    <a:srgbClr val="000000"/>
                  </a:solidFill>
                  <a:latin typeface="Open Sauce Bold"/>
                </a:rPr>
                <a:t>Projet 8 - Rongrong CAI 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33450" y="2514624"/>
            <a:ext cx="9429750" cy="5483201"/>
            <a:chOff x="0" y="133349"/>
            <a:chExt cx="11188030" cy="7310935"/>
          </a:xfrm>
        </p:grpSpPr>
        <p:sp>
          <p:nvSpPr>
            <p:cNvPr id="16" name="TextBox 16"/>
            <p:cNvSpPr txBox="1"/>
            <p:nvPr/>
          </p:nvSpPr>
          <p:spPr>
            <a:xfrm>
              <a:off x="0" y="133349"/>
              <a:ext cx="11061030" cy="54685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6500"/>
                </a:lnSpc>
              </a:pPr>
              <a:r>
                <a:rPr lang="fr-FR" sz="10400" spc="-675" noProof="0" dirty="0">
                  <a:solidFill>
                    <a:srgbClr val="000000"/>
                  </a:solidFill>
                  <a:latin typeface="Antonio Bold"/>
                </a:rPr>
                <a:t>Diagnostic égalité Femme/Homme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7000" y="6349967"/>
              <a:ext cx="11061030" cy="10943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240"/>
                </a:lnSpc>
              </a:pPr>
              <a:r>
                <a:rPr lang="fr-FR" sz="2700" noProof="0" dirty="0">
                  <a:solidFill>
                    <a:srgbClr val="000000"/>
                  </a:solidFill>
                  <a:latin typeface="Open Sauce Bold"/>
                </a:rPr>
                <a:t>Construction du rapport d’analyse de l’égalité</a:t>
              </a:r>
              <a:r>
                <a:rPr lang="fr-FR" sz="2700" dirty="0">
                  <a:solidFill>
                    <a:srgbClr val="000000"/>
                  </a:solidFill>
                  <a:latin typeface="Open Sauce Bold"/>
                </a:rPr>
                <a:t> professionnelle</a:t>
              </a:r>
              <a:r>
                <a:rPr lang="fr-FR" sz="2700" noProof="0" dirty="0">
                  <a:solidFill>
                    <a:srgbClr val="000000"/>
                  </a:solidFill>
                  <a:latin typeface="Open Sauce Bold"/>
                </a:rPr>
                <a:t> entre Femme/Homme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B2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7">
            <a:extLst>
              <a:ext uri="{FF2B5EF4-FFF2-40B4-BE49-F238E27FC236}">
                <a16:creationId xmlns:a16="http://schemas.microsoft.com/office/drawing/2014/main" id="{27152C70-508D-76C0-D60B-3E113190349F}"/>
              </a:ext>
            </a:extLst>
          </p:cNvPr>
          <p:cNvGrpSpPr/>
          <p:nvPr/>
        </p:nvGrpSpPr>
        <p:grpSpPr>
          <a:xfrm>
            <a:off x="-4228456" y="-1309124"/>
            <a:ext cx="13372456" cy="13455236"/>
            <a:chOff x="0" y="0"/>
            <a:chExt cx="6350000" cy="6349975"/>
          </a:xfrm>
        </p:grpSpPr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BC70168E-6F9F-100C-78D3-88F3DF016A0A}"/>
                </a:ext>
              </a:extLst>
            </p:cNvPr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25046" r="-25046"/>
              </a:stretch>
            </a:blipFill>
          </p:spPr>
          <p:txBody>
            <a:bodyPr/>
            <a:lstStyle/>
            <a:p>
              <a:endParaRPr lang="fr-FR" noProof="0" dirty="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7554" y="730685"/>
            <a:ext cx="5029894" cy="1769215"/>
            <a:chOff x="0" y="0"/>
            <a:chExt cx="6350000" cy="2233549"/>
          </a:xfrm>
        </p:grpSpPr>
        <p:sp>
          <p:nvSpPr>
            <p:cNvPr id="8" name="Freeform 8"/>
            <p:cNvSpPr/>
            <p:nvPr/>
          </p:nvSpPr>
          <p:spPr>
            <a:xfrm>
              <a:off x="19050" y="19050"/>
              <a:ext cx="6312027" cy="2195449"/>
            </a:xfrm>
            <a:custGeom>
              <a:avLst/>
              <a:gdLst/>
              <a:ahLst/>
              <a:cxnLst/>
              <a:rect l="l" t="t" r="r" b="b"/>
              <a:pathLst>
                <a:path w="6312027" h="2195449">
                  <a:moveTo>
                    <a:pt x="5214112" y="2195449"/>
                  </a:moveTo>
                  <a:lnTo>
                    <a:pt x="1097788" y="2195449"/>
                  </a:lnTo>
                  <a:cubicBezTo>
                    <a:pt x="491490" y="2195449"/>
                    <a:pt x="0" y="1703959"/>
                    <a:pt x="0" y="1097661"/>
                  </a:cubicBezTo>
                  <a:cubicBezTo>
                    <a:pt x="0" y="491490"/>
                    <a:pt x="491490" y="0"/>
                    <a:pt x="1097788" y="0"/>
                  </a:cubicBezTo>
                  <a:lnTo>
                    <a:pt x="5214239" y="0"/>
                  </a:lnTo>
                  <a:cubicBezTo>
                    <a:pt x="5820537" y="0"/>
                    <a:pt x="6312027" y="491490"/>
                    <a:pt x="6312027" y="1097788"/>
                  </a:cubicBezTo>
                  <a:cubicBezTo>
                    <a:pt x="6311900" y="1703959"/>
                    <a:pt x="5820410" y="2195449"/>
                    <a:pt x="5214112" y="2195449"/>
                  </a:cubicBezTo>
                  <a:close/>
                </a:path>
              </a:pathLst>
            </a:custGeom>
            <a:solidFill>
              <a:srgbClr val="68D6A3"/>
            </a:solidFill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6350000" cy="2233549"/>
            </a:xfrm>
            <a:custGeom>
              <a:avLst/>
              <a:gdLst/>
              <a:ahLst/>
              <a:cxnLst/>
              <a:rect l="l" t="t" r="r" b="b"/>
              <a:pathLst>
                <a:path w="6350000" h="2233549">
                  <a:moveTo>
                    <a:pt x="5233162" y="2233549"/>
                  </a:moveTo>
                  <a:lnTo>
                    <a:pt x="1116838" y="2233549"/>
                  </a:lnTo>
                  <a:cubicBezTo>
                    <a:pt x="501015" y="2233549"/>
                    <a:pt x="0" y="1732534"/>
                    <a:pt x="0" y="1116838"/>
                  </a:cubicBezTo>
                  <a:cubicBezTo>
                    <a:pt x="0" y="501015"/>
                    <a:pt x="501015" y="0"/>
                    <a:pt x="1116838" y="0"/>
                  </a:cubicBezTo>
                  <a:lnTo>
                    <a:pt x="5233289" y="0"/>
                  </a:lnTo>
                  <a:cubicBezTo>
                    <a:pt x="5848985" y="0"/>
                    <a:pt x="6350000" y="501015"/>
                    <a:pt x="6350000" y="1116838"/>
                  </a:cubicBezTo>
                  <a:cubicBezTo>
                    <a:pt x="6350000" y="1732534"/>
                    <a:pt x="5848985" y="2233549"/>
                    <a:pt x="5233162" y="2233549"/>
                  </a:cubicBezTo>
                  <a:close/>
                  <a:moveTo>
                    <a:pt x="1116838" y="38100"/>
                  </a:moveTo>
                  <a:cubicBezTo>
                    <a:pt x="521970" y="38100"/>
                    <a:pt x="38100" y="521970"/>
                    <a:pt x="38100" y="1116838"/>
                  </a:cubicBezTo>
                  <a:cubicBezTo>
                    <a:pt x="38100" y="1711579"/>
                    <a:pt x="521970" y="2195576"/>
                    <a:pt x="1116838" y="2195576"/>
                  </a:cubicBezTo>
                  <a:lnTo>
                    <a:pt x="5233289" y="2195576"/>
                  </a:lnTo>
                  <a:cubicBezTo>
                    <a:pt x="5828030" y="2195576"/>
                    <a:pt x="6312027" y="1711706"/>
                    <a:pt x="6312027" y="1116838"/>
                  </a:cubicBezTo>
                  <a:cubicBezTo>
                    <a:pt x="6311900" y="521970"/>
                    <a:pt x="5828030" y="38100"/>
                    <a:pt x="5233162" y="38100"/>
                  </a:cubicBezTo>
                  <a:lnTo>
                    <a:pt x="1116838" y="38100"/>
                  </a:lnTo>
                  <a:close/>
                </a:path>
              </a:pathLst>
            </a:custGeom>
            <a:solidFill>
              <a:srgbClr val="68D6A3"/>
            </a:solidFill>
          </p:spPr>
          <p:txBody>
            <a:bodyPr/>
            <a:lstStyle/>
            <a:p>
              <a:endParaRPr lang="fr-FR" noProof="0" dirty="0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46910" y="1197246"/>
            <a:ext cx="4031182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509"/>
              </a:lnSpc>
            </a:pPr>
            <a:r>
              <a:rPr lang="fr-FR" sz="5424" spc="-108" noProof="0" dirty="0">
                <a:solidFill>
                  <a:srgbClr val="FFFFFF"/>
                </a:solidFill>
                <a:latin typeface="Antonio Bold"/>
              </a:rPr>
              <a:t>Vue d'ensemble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63200" y="2710060"/>
            <a:ext cx="6957904" cy="5909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98196" lvl="1" indent="-571500">
              <a:buFont typeface="Arial" panose="020B0604020202020204" pitchFamily="34" charset="0"/>
              <a:buChar char="•"/>
            </a:pPr>
            <a:r>
              <a:rPr lang="fr-FR" sz="3200" u="sng" dirty="0">
                <a:solidFill>
                  <a:srgbClr val="FFFFFF"/>
                </a:solidFill>
                <a:latin typeface="Open Sauce"/>
                <a:hlinkClick r:id="rId3" action="ppaction://hlinksldjump"/>
              </a:rPr>
              <a:t>I - Présentation des données</a:t>
            </a:r>
            <a:endParaRPr lang="fr-FR" sz="3200" u="sng" dirty="0">
              <a:solidFill>
                <a:srgbClr val="FFFFFF"/>
              </a:solidFill>
              <a:latin typeface="Open Sauce"/>
            </a:endParaRPr>
          </a:p>
          <a:p>
            <a:pPr marL="226696" lvl="1"/>
            <a:endParaRPr lang="fr-FR" sz="3200" u="sng" dirty="0">
              <a:solidFill>
                <a:srgbClr val="FFFFFF"/>
              </a:solidFill>
              <a:latin typeface="Open Sauce"/>
            </a:endParaRPr>
          </a:p>
          <a:p>
            <a:pPr marL="798196" lvl="1" indent="-571500">
              <a:buFont typeface="Arial" panose="020B0604020202020204" pitchFamily="34" charset="0"/>
              <a:buChar char="•"/>
            </a:pPr>
            <a:r>
              <a:rPr lang="fr-FR" sz="3200" u="sng" dirty="0">
                <a:solidFill>
                  <a:srgbClr val="FFFFFF"/>
                </a:solidFill>
                <a:latin typeface="Open Sauce"/>
                <a:hlinkClick r:id="rId4" action="ppaction://hlinksldjump"/>
              </a:rPr>
              <a:t>II - Traitement des données</a:t>
            </a:r>
            <a:endParaRPr lang="fr-FR" sz="3200" u="sng" dirty="0">
              <a:solidFill>
                <a:srgbClr val="FFFFFF"/>
              </a:solidFill>
              <a:latin typeface="Open Sauce"/>
            </a:endParaRPr>
          </a:p>
          <a:p>
            <a:pPr marL="226696" lvl="1"/>
            <a:endParaRPr lang="fr-FR" sz="3200" u="sng" noProof="0" dirty="0">
              <a:solidFill>
                <a:srgbClr val="FFFFFF"/>
              </a:solidFill>
              <a:latin typeface="Open Sauce"/>
            </a:endParaRPr>
          </a:p>
          <a:p>
            <a:pPr marL="798196" lvl="1" indent="-571500">
              <a:buFont typeface="Arial" panose="020B0604020202020204" pitchFamily="34" charset="0"/>
              <a:buChar char="•"/>
            </a:pPr>
            <a:r>
              <a:rPr lang="fr-FR" sz="3200" u="sng" noProof="0" dirty="0">
                <a:solidFill>
                  <a:srgbClr val="FFFFFF"/>
                </a:solidFill>
                <a:latin typeface="Open Sauce"/>
                <a:hlinkClick r:id="rId5" action="ppaction://hlinksldjump"/>
              </a:rPr>
              <a:t>III - Anonymisation des données</a:t>
            </a:r>
            <a:endParaRPr lang="fr-FR" sz="3200" u="sng" noProof="0" dirty="0">
              <a:solidFill>
                <a:srgbClr val="FFFFFF"/>
              </a:solidFill>
              <a:latin typeface="Open Sauce"/>
            </a:endParaRPr>
          </a:p>
          <a:p>
            <a:pPr marL="226696" lvl="1"/>
            <a:endParaRPr lang="fr-FR" sz="3200" u="sng" dirty="0">
              <a:solidFill>
                <a:srgbClr val="FFFFFF"/>
              </a:solidFill>
              <a:latin typeface="Open Sauce"/>
            </a:endParaRPr>
          </a:p>
          <a:p>
            <a:pPr marL="798196" lvl="1" indent="-571500">
              <a:buFont typeface="Arial" panose="020B0604020202020204" pitchFamily="34" charset="0"/>
              <a:buChar char="•"/>
            </a:pPr>
            <a:r>
              <a:rPr lang="fr-FR" sz="3200" u="sng" dirty="0">
                <a:solidFill>
                  <a:srgbClr val="FFFFFF"/>
                </a:solidFill>
                <a:latin typeface="Open Sauce"/>
                <a:hlinkClick r:id="rId6" action="ppaction://hlinksldjump"/>
              </a:rPr>
              <a:t>IV - Diagnostics d’indicateurs clés d’égalité professionnelle</a:t>
            </a:r>
            <a:endParaRPr lang="fr-FR" sz="3200" u="sng" dirty="0">
              <a:solidFill>
                <a:srgbClr val="FFFFFF"/>
              </a:solidFill>
              <a:latin typeface="Open Sauce"/>
            </a:endParaRPr>
          </a:p>
          <a:p>
            <a:pPr marL="226696" lvl="1"/>
            <a:endParaRPr lang="fr-FR" sz="3200" u="sng" noProof="0" dirty="0">
              <a:solidFill>
                <a:srgbClr val="FFFFFF"/>
              </a:solidFill>
              <a:latin typeface="Open Sauce"/>
              <a:hlinkClick r:id="rId7" action="ppaction://hlinksldjump"/>
            </a:endParaRPr>
          </a:p>
          <a:p>
            <a:pPr marL="798196" lvl="1" indent="-571500">
              <a:buFont typeface="Arial" panose="020B0604020202020204" pitchFamily="34" charset="0"/>
              <a:buChar char="•"/>
            </a:pPr>
            <a:r>
              <a:rPr lang="fr-FR" sz="3200" u="sng" noProof="0" dirty="0">
                <a:solidFill>
                  <a:srgbClr val="FFFFFF"/>
                </a:solidFill>
                <a:latin typeface="Open Sauce"/>
                <a:hlinkClick r:id="rId7" action="ppaction://hlinksldjump"/>
              </a:rPr>
              <a:t>Conclusion &amp; recommandations</a:t>
            </a:r>
            <a:endParaRPr lang="fr-FR" sz="3200" u="sng" noProof="0" dirty="0">
              <a:solidFill>
                <a:srgbClr val="FFFFFF"/>
              </a:solidFill>
              <a:latin typeface="Open Sauc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671898" y="6145754"/>
            <a:ext cx="10471590" cy="5235795"/>
          </a:xfrm>
          <a:custGeom>
            <a:avLst/>
            <a:gdLst/>
            <a:ahLst/>
            <a:cxnLst/>
            <a:rect l="l" t="t" r="r" b="b"/>
            <a:pathLst>
              <a:path w="10471590" h="5235795">
                <a:moveTo>
                  <a:pt x="0" y="0"/>
                </a:moveTo>
                <a:lnTo>
                  <a:pt x="10471590" y="0"/>
                </a:lnTo>
                <a:lnTo>
                  <a:pt x="10471590" y="5235795"/>
                </a:lnTo>
                <a:lnTo>
                  <a:pt x="0" y="52357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576910"/>
              </p:ext>
            </p:extLst>
          </p:nvPr>
        </p:nvGraphicFramePr>
        <p:xfrm>
          <a:off x="7707334" y="847725"/>
          <a:ext cx="9542440" cy="8591550"/>
        </p:xfrm>
        <a:graphic>
          <a:graphicData uri="http://schemas.openxmlformats.org/drawingml/2006/table">
            <a:tbl>
              <a:tblPr/>
              <a:tblGrid>
                <a:gridCol w="4771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1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29458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fr-FR" sz="2000" noProof="0" dirty="0">
                          <a:solidFill>
                            <a:srgbClr val="000000"/>
                          </a:solidFill>
                          <a:latin typeface="Open Sauce Bold"/>
                        </a:rPr>
                        <a:t>Info Pro.csv</a:t>
                      </a:r>
                      <a:endParaRPr lang="fr-FR" sz="1100" noProof="0" dirty="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fr-FR" sz="2000" noProof="0" dirty="0">
                          <a:solidFill>
                            <a:srgbClr val="000000"/>
                          </a:solidFill>
                          <a:latin typeface="Open Sauce"/>
                        </a:rPr>
                        <a:t>Informations basiques relatives aux salariés à l’entreprise </a:t>
                      </a:r>
                    </a:p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fr-FR" sz="2000" noProof="0" dirty="0">
                          <a:solidFill>
                            <a:srgbClr val="000000"/>
                          </a:solidFill>
                          <a:latin typeface="Open Sauce"/>
                        </a:rPr>
                        <a:t>256x6 (lignes x colonnes)</a:t>
                      </a:r>
                      <a:endParaRPr lang="fr-FR" sz="1100" noProof="0" dirty="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6670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fr-FR" sz="2000" noProof="0" dirty="0">
                          <a:solidFill>
                            <a:srgbClr val="000000"/>
                          </a:solidFill>
                          <a:latin typeface="Open Sauce Bold"/>
                        </a:rPr>
                        <a:t>Rémunération.csv</a:t>
                      </a:r>
                      <a:endParaRPr lang="fr-FR" sz="1100" noProof="0" dirty="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fr-FR" sz="2000" noProof="0" dirty="0">
                          <a:solidFill>
                            <a:srgbClr val="000000"/>
                          </a:solidFill>
                          <a:latin typeface="Open Sauce"/>
                        </a:rPr>
                        <a:t>Informations de rémunération et d’évolution de carrière </a:t>
                      </a:r>
                    </a:p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fr-FR" sz="2000" noProof="0" dirty="0">
                          <a:solidFill>
                            <a:srgbClr val="000000"/>
                          </a:solidFill>
                          <a:latin typeface="Open Sauce"/>
                        </a:rPr>
                        <a:t>256x7</a:t>
                      </a:r>
                      <a:endParaRPr lang="fr-FR" sz="1100" noProof="0" dirty="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5422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fr-FR" sz="2000" noProof="0" dirty="0">
                          <a:solidFill>
                            <a:srgbClr val="000000"/>
                          </a:solidFill>
                          <a:latin typeface="Open Sauce Bold"/>
                        </a:rPr>
                        <a:t>Salaries.csv</a:t>
                      </a:r>
                      <a:endParaRPr lang="fr-FR" sz="1100" noProof="0" dirty="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fr-FR" sz="2000" noProof="0" dirty="0">
                          <a:solidFill>
                            <a:srgbClr val="000000"/>
                          </a:solidFill>
                          <a:latin typeface="Open Sauce"/>
                        </a:rPr>
                        <a:t>Informations situationnelles complémentaire des salariés </a:t>
                      </a:r>
                    </a:p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fr-FR" sz="2000" noProof="0" dirty="0">
                          <a:solidFill>
                            <a:srgbClr val="000000"/>
                          </a:solidFill>
                          <a:latin typeface="Open Sauce"/>
                        </a:rPr>
                        <a:t>256x8</a:t>
                      </a:r>
                      <a:endParaRPr lang="fr-FR" sz="1100" noProof="0" dirty="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" name="Group 4"/>
          <p:cNvGrpSpPr/>
          <p:nvPr/>
        </p:nvGrpSpPr>
        <p:grpSpPr>
          <a:xfrm>
            <a:off x="1028700" y="8505825"/>
            <a:ext cx="3497550" cy="464806"/>
            <a:chOff x="0" y="0"/>
            <a:chExt cx="4663400" cy="619741"/>
          </a:xfrm>
        </p:grpSpPr>
        <p:sp>
          <p:nvSpPr>
            <p:cNvPr id="5" name="AutoShape 5"/>
            <p:cNvSpPr/>
            <p:nvPr/>
          </p:nvSpPr>
          <p:spPr>
            <a:xfrm>
              <a:off x="0" y="0"/>
              <a:ext cx="4663400" cy="0"/>
            </a:xfrm>
            <a:prstGeom prst="line">
              <a:avLst/>
            </a:prstGeom>
            <a:ln w="1003300" cap="rnd">
              <a:solidFill>
                <a:srgbClr val="68D6A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43768"/>
              <a:ext cx="4663400" cy="27597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592"/>
                </a:lnSpc>
              </a:pPr>
              <a:r>
                <a:rPr lang="fr-FR" noProof="0" dirty="0">
                  <a:solidFill>
                    <a:srgbClr val="FFFFFF"/>
                  </a:solidFill>
                  <a:latin typeface="Open Sauce"/>
                  <a:hlinkClick r:id="rId4" action="ppaction://hlinksldjump"/>
                </a:rPr>
                <a:t>Retourner à la vue d'ensemble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4569342"/>
            <a:ext cx="5103800" cy="2108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399"/>
              </a:lnSpc>
            </a:pPr>
            <a:r>
              <a:rPr lang="fr-FR" sz="6999" u="none" spc="-139" noProof="0" dirty="0">
                <a:solidFill>
                  <a:srgbClr val="000000"/>
                </a:solidFill>
                <a:latin typeface="Antonio Bold"/>
              </a:rPr>
              <a:t>I-Présentation des</a:t>
            </a:r>
            <a:r>
              <a:rPr lang="fr-FR" sz="6999" spc="-139" noProof="0" dirty="0">
                <a:solidFill>
                  <a:srgbClr val="000000"/>
                </a:solidFill>
                <a:latin typeface="Antonio Bold"/>
              </a:rPr>
              <a:t> données</a:t>
            </a:r>
            <a:endParaRPr lang="fr-FR" sz="6999" u="none" spc="-139" noProof="0" dirty="0">
              <a:solidFill>
                <a:srgbClr val="000000"/>
              </a:solidFill>
              <a:latin typeface="Antonio Bold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044173" y="1008740"/>
            <a:ext cx="4145937" cy="717383"/>
            <a:chOff x="0" y="0"/>
            <a:chExt cx="5527915" cy="95651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28685" cy="956511"/>
            </a:xfrm>
            <a:custGeom>
              <a:avLst/>
              <a:gdLst/>
              <a:ahLst/>
              <a:cxnLst/>
              <a:rect l="l" t="t" r="r" b="b"/>
              <a:pathLst>
                <a:path w="928685" h="956511">
                  <a:moveTo>
                    <a:pt x="0" y="0"/>
                  </a:moveTo>
                  <a:lnTo>
                    <a:pt x="928685" y="0"/>
                  </a:lnTo>
                  <a:lnTo>
                    <a:pt x="928685" y="956511"/>
                  </a:lnTo>
                  <a:lnTo>
                    <a:pt x="0" y="956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45662" y="290527"/>
              <a:ext cx="4282253" cy="327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66"/>
                </a:lnSpc>
                <a:spcBef>
                  <a:spcPct val="0"/>
                </a:spcBef>
              </a:pPr>
              <a:r>
                <a:rPr lang="fr-FR" sz="1476" noProof="0" dirty="0">
                  <a:solidFill>
                    <a:srgbClr val="000000"/>
                  </a:solidFill>
                  <a:latin typeface="Open Sauce Bold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95A61-15EC-2961-184F-E80AF9B95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45B0E9A-982F-A9C4-B0EA-1AB01E425C0F}"/>
              </a:ext>
            </a:extLst>
          </p:cNvPr>
          <p:cNvSpPr/>
          <p:nvPr/>
        </p:nvSpPr>
        <p:spPr>
          <a:xfrm rot="10800000">
            <a:off x="10820400" y="-1409699"/>
            <a:ext cx="9136609" cy="4365332"/>
          </a:xfrm>
          <a:custGeom>
            <a:avLst/>
            <a:gdLst/>
            <a:ahLst/>
            <a:cxnLst/>
            <a:rect l="l" t="t" r="r" b="b"/>
            <a:pathLst>
              <a:path w="10471590" h="5235795">
                <a:moveTo>
                  <a:pt x="0" y="0"/>
                </a:moveTo>
                <a:lnTo>
                  <a:pt x="10471590" y="0"/>
                </a:lnTo>
                <a:lnTo>
                  <a:pt x="10471590" y="5235795"/>
                </a:lnTo>
                <a:lnTo>
                  <a:pt x="0" y="52357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3C43B1F-DA55-CB5D-D05D-ECC127AC3F75}"/>
              </a:ext>
            </a:extLst>
          </p:cNvPr>
          <p:cNvGrpSpPr/>
          <p:nvPr/>
        </p:nvGrpSpPr>
        <p:grpSpPr>
          <a:xfrm>
            <a:off x="1028700" y="8505825"/>
            <a:ext cx="3497550" cy="464806"/>
            <a:chOff x="0" y="0"/>
            <a:chExt cx="4663400" cy="619741"/>
          </a:xfrm>
        </p:grpSpPr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60F51F7C-5796-5C12-D05A-F25E267D3A6F}"/>
                </a:ext>
              </a:extLst>
            </p:cNvPr>
            <p:cNvSpPr/>
            <p:nvPr/>
          </p:nvSpPr>
          <p:spPr>
            <a:xfrm>
              <a:off x="0" y="0"/>
              <a:ext cx="4663400" cy="0"/>
            </a:xfrm>
            <a:prstGeom prst="line">
              <a:avLst/>
            </a:prstGeom>
            <a:ln w="1003300" cap="rnd">
              <a:solidFill>
                <a:srgbClr val="68D6A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D9993353-AF8A-673F-16C4-D2017BBD080B}"/>
                </a:ext>
              </a:extLst>
            </p:cNvPr>
            <p:cNvSpPr txBox="1"/>
            <p:nvPr/>
          </p:nvSpPr>
          <p:spPr>
            <a:xfrm>
              <a:off x="0" y="343768"/>
              <a:ext cx="4663400" cy="27597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592"/>
                </a:lnSpc>
              </a:pPr>
              <a:r>
                <a:rPr lang="fr-FR" noProof="0" dirty="0">
                  <a:solidFill>
                    <a:srgbClr val="FFFFFF"/>
                  </a:solidFill>
                  <a:latin typeface="Open Sauce"/>
                  <a:hlinkClick r:id="rId5" action="ppaction://hlinksldjump"/>
                </a:rPr>
                <a:t>Retourner à la vue d'ensemble</a:t>
              </a:r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8D068FE4-E88A-A163-13EB-7140F07F4B3C}"/>
              </a:ext>
            </a:extLst>
          </p:cNvPr>
          <p:cNvSpPr txBox="1"/>
          <p:nvPr/>
        </p:nvSpPr>
        <p:spPr>
          <a:xfrm>
            <a:off x="1028700" y="4569342"/>
            <a:ext cx="5103800" cy="2108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399"/>
              </a:lnSpc>
            </a:pPr>
            <a:r>
              <a:rPr lang="fr-FR" sz="6999" spc="-139" noProof="0" dirty="0">
                <a:solidFill>
                  <a:srgbClr val="000000"/>
                </a:solidFill>
                <a:latin typeface="Antonio Bold"/>
              </a:rPr>
              <a:t>II-Traitement des données</a:t>
            </a: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D79C9E09-7219-62C2-F41B-270D53ABB81D}"/>
              </a:ext>
            </a:extLst>
          </p:cNvPr>
          <p:cNvGrpSpPr/>
          <p:nvPr/>
        </p:nvGrpSpPr>
        <p:grpSpPr>
          <a:xfrm>
            <a:off x="1044173" y="1008740"/>
            <a:ext cx="4145937" cy="717383"/>
            <a:chOff x="0" y="0"/>
            <a:chExt cx="5527914" cy="956511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C17692A-E66B-A610-9B83-4C331D7B67FF}"/>
                </a:ext>
              </a:extLst>
            </p:cNvPr>
            <p:cNvSpPr/>
            <p:nvPr/>
          </p:nvSpPr>
          <p:spPr>
            <a:xfrm>
              <a:off x="0" y="0"/>
              <a:ext cx="928685" cy="956511"/>
            </a:xfrm>
            <a:custGeom>
              <a:avLst/>
              <a:gdLst/>
              <a:ahLst/>
              <a:cxnLst/>
              <a:rect l="l" t="t" r="r" b="b"/>
              <a:pathLst>
                <a:path w="928685" h="956511">
                  <a:moveTo>
                    <a:pt x="0" y="0"/>
                  </a:moveTo>
                  <a:lnTo>
                    <a:pt x="928685" y="0"/>
                  </a:lnTo>
                  <a:lnTo>
                    <a:pt x="928685" y="956511"/>
                  </a:lnTo>
                  <a:lnTo>
                    <a:pt x="0" y="956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AFF02FB-1FE9-BBB5-71C0-9732AD8FAD20}"/>
                </a:ext>
              </a:extLst>
            </p:cNvPr>
            <p:cNvSpPr txBox="1"/>
            <p:nvPr/>
          </p:nvSpPr>
          <p:spPr>
            <a:xfrm>
              <a:off x="1245662" y="290527"/>
              <a:ext cx="4282253" cy="327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66"/>
                </a:lnSpc>
                <a:spcBef>
                  <a:spcPct val="0"/>
                </a:spcBef>
              </a:pPr>
              <a:r>
                <a:rPr lang="fr-FR" sz="1476" noProof="0" dirty="0">
                  <a:solidFill>
                    <a:srgbClr val="000000"/>
                  </a:solidFill>
                  <a:latin typeface="Open Sauce Bold"/>
                </a:rPr>
                <a:t>2</a:t>
              </a:r>
            </a:p>
          </p:txBody>
        </p:sp>
      </p:grp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8423F3C5-43FC-984B-2D18-193836117715}"/>
              </a:ext>
            </a:extLst>
          </p:cNvPr>
          <p:cNvGrpSpPr/>
          <p:nvPr/>
        </p:nvGrpSpPr>
        <p:grpSpPr>
          <a:xfrm>
            <a:off x="9072589" y="1726124"/>
            <a:ext cx="8183849" cy="1873410"/>
            <a:chOff x="9075451" y="1726124"/>
            <a:chExt cx="8183849" cy="1873410"/>
          </a:xfrm>
        </p:grpSpPr>
        <p:sp>
          <p:nvSpPr>
            <p:cNvPr id="13" name="TextBox 10">
              <a:extLst>
                <a:ext uri="{FF2B5EF4-FFF2-40B4-BE49-F238E27FC236}">
                  <a16:creationId xmlns:a16="http://schemas.microsoft.com/office/drawing/2014/main" id="{2D87C175-9026-ADE0-79CA-7209DCEA9B62}"/>
                </a:ext>
              </a:extLst>
            </p:cNvPr>
            <p:cNvSpPr txBox="1"/>
            <p:nvPr/>
          </p:nvSpPr>
          <p:spPr>
            <a:xfrm>
              <a:off x="9075451" y="2858496"/>
              <a:ext cx="8183849" cy="7410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90"/>
                </a:lnSpc>
              </a:pPr>
              <a:r>
                <a:rPr lang="fr-FR" sz="2300" noProof="0" dirty="0">
                  <a:solidFill>
                    <a:srgbClr val="000000"/>
                  </a:solidFill>
                  <a:latin typeface="Open Sauce"/>
                </a:rPr>
                <a:t>Données brutes de SIRH</a:t>
              </a:r>
            </a:p>
            <a:p>
              <a:pPr>
                <a:lnSpc>
                  <a:spcPts val="2990"/>
                </a:lnSpc>
              </a:pPr>
              <a:r>
                <a:rPr lang="fr-FR" sz="2300" noProof="0" dirty="0">
                  <a:solidFill>
                    <a:srgbClr val="000000"/>
                  </a:solidFill>
                  <a:latin typeface="Open Sauce"/>
                </a:rPr>
                <a:t>Fusion des 3 jeux de données via </a:t>
              </a:r>
              <a:r>
                <a:rPr lang="fr-FR" sz="2300" noProof="0" dirty="0" err="1">
                  <a:solidFill>
                    <a:srgbClr val="000000"/>
                  </a:solidFill>
                  <a:latin typeface="Open Sauce"/>
                </a:rPr>
                <a:t>Id_salarié</a:t>
              </a:r>
              <a:endParaRPr lang="fr-FR" sz="2300" noProof="0" dirty="0">
                <a:solidFill>
                  <a:srgbClr val="000000"/>
                </a:solidFill>
                <a:latin typeface="Open Sauce"/>
              </a:endParaRPr>
            </a:p>
          </p:txBody>
        </p:sp>
        <p:sp>
          <p:nvSpPr>
            <p:cNvPr id="14" name="TextBox 11">
              <a:extLst>
                <a:ext uri="{FF2B5EF4-FFF2-40B4-BE49-F238E27FC236}">
                  <a16:creationId xmlns:a16="http://schemas.microsoft.com/office/drawing/2014/main" id="{633FB704-8CA3-83A9-766D-B654DE12C78E}"/>
                </a:ext>
              </a:extLst>
            </p:cNvPr>
            <p:cNvSpPr txBox="1"/>
            <p:nvPr/>
          </p:nvSpPr>
          <p:spPr>
            <a:xfrm>
              <a:off x="9075451" y="1726124"/>
              <a:ext cx="8183849" cy="6571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380"/>
                </a:lnSpc>
              </a:pPr>
              <a:r>
                <a:rPr lang="fr-FR" sz="2600" noProof="0" dirty="0">
                  <a:solidFill>
                    <a:srgbClr val="000000"/>
                  </a:solidFill>
                  <a:latin typeface="Open Sauce Bold"/>
                </a:rPr>
                <a:t>1er ETAPE</a:t>
              </a:r>
            </a:p>
          </p:txBody>
        </p:sp>
      </p:grp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C084E74A-0D3A-032A-39C4-44E88E3202DC}"/>
              </a:ext>
            </a:extLst>
          </p:cNvPr>
          <p:cNvGrpSpPr/>
          <p:nvPr/>
        </p:nvGrpSpPr>
        <p:grpSpPr>
          <a:xfrm>
            <a:off x="9059978" y="1726123"/>
            <a:ext cx="8183849" cy="3027571"/>
            <a:chOff x="9075451" y="4416454"/>
            <a:chExt cx="8183849" cy="3027571"/>
          </a:xfrm>
        </p:grpSpPr>
        <p:sp>
          <p:nvSpPr>
            <p:cNvPr id="15" name="TextBox 12">
              <a:extLst>
                <a:ext uri="{FF2B5EF4-FFF2-40B4-BE49-F238E27FC236}">
                  <a16:creationId xmlns:a16="http://schemas.microsoft.com/office/drawing/2014/main" id="{C234DD01-D344-1FF4-92E5-274EA885BAE6}"/>
                </a:ext>
              </a:extLst>
            </p:cNvPr>
            <p:cNvSpPr txBox="1"/>
            <p:nvPr/>
          </p:nvSpPr>
          <p:spPr>
            <a:xfrm>
              <a:off x="9075451" y="5548826"/>
              <a:ext cx="8183849" cy="18951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90"/>
                </a:lnSpc>
              </a:pPr>
              <a:r>
                <a:rPr lang="fr-FR" sz="2300" noProof="0" dirty="0">
                  <a:solidFill>
                    <a:srgbClr val="000000"/>
                  </a:solidFill>
                  <a:latin typeface="Open Sauce"/>
                </a:rPr>
                <a:t>Calculs de nouvelles colonnes :</a:t>
              </a:r>
            </a:p>
            <a:p>
              <a:pPr marL="342900" indent="-342900">
                <a:lnSpc>
                  <a:spcPts val="2990"/>
                </a:lnSpc>
                <a:buFont typeface="Arial" panose="020B0604020202020204" pitchFamily="34" charset="0"/>
                <a:buChar char="•"/>
              </a:pPr>
              <a:r>
                <a:rPr lang="fr-FR" sz="2300" noProof="0" dirty="0">
                  <a:solidFill>
                    <a:srgbClr val="000000"/>
                  </a:solidFill>
                  <a:latin typeface="Open Sauce"/>
                </a:rPr>
                <a:t>Salaire base équivalent temps plein</a:t>
              </a:r>
            </a:p>
            <a:p>
              <a:pPr marL="342900" indent="-342900">
                <a:lnSpc>
                  <a:spcPts val="2990"/>
                </a:lnSpc>
                <a:buFont typeface="Arial" panose="020B0604020202020204" pitchFamily="34" charset="0"/>
                <a:buChar char="•"/>
              </a:pPr>
              <a:r>
                <a:rPr lang="fr-FR" sz="2300" dirty="0">
                  <a:solidFill>
                    <a:srgbClr val="000000"/>
                  </a:solidFill>
                  <a:latin typeface="Open Sauce"/>
                </a:rPr>
                <a:t>Classer les niveaux de salaires équivalents temps plein</a:t>
              </a:r>
            </a:p>
            <a:p>
              <a:pPr marL="342900" indent="-342900">
                <a:lnSpc>
                  <a:spcPts val="2990"/>
                </a:lnSpc>
                <a:buFont typeface="Arial" panose="020B0604020202020204" pitchFamily="34" charset="0"/>
                <a:buChar char="•"/>
              </a:pPr>
              <a:r>
                <a:rPr lang="fr-FR" sz="2300" noProof="0" dirty="0">
                  <a:solidFill>
                    <a:srgbClr val="000000"/>
                  </a:solidFill>
                  <a:latin typeface="Open Sauce"/>
                </a:rPr>
                <a:t>Age des salariés</a:t>
              </a:r>
            </a:p>
            <a:p>
              <a:pPr marL="342900" indent="-342900">
                <a:lnSpc>
                  <a:spcPts val="2990"/>
                </a:lnSpc>
                <a:buFont typeface="Arial" panose="020B0604020202020204" pitchFamily="34" charset="0"/>
                <a:buChar char="•"/>
              </a:pPr>
              <a:endParaRPr lang="fr-FR" sz="2300" noProof="0" dirty="0">
                <a:solidFill>
                  <a:srgbClr val="000000"/>
                </a:solidFill>
                <a:latin typeface="Open Sauce"/>
              </a:endParaRPr>
            </a:p>
          </p:txBody>
        </p:sp>
        <p:sp>
          <p:nvSpPr>
            <p:cNvPr id="16" name="TextBox 13">
              <a:extLst>
                <a:ext uri="{FF2B5EF4-FFF2-40B4-BE49-F238E27FC236}">
                  <a16:creationId xmlns:a16="http://schemas.microsoft.com/office/drawing/2014/main" id="{ED7FDF08-3844-46C0-0884-DEE35ACD12D4}"/>
                </a:ext>
              </a:extLst>
            </p:cNvPr>
            <p:cNvSpPr txBox="1"/>
            <p:nvPr/>
          </p:nvSpPr>
          <p:spPr>
            <a:xfrm>
              <a:off x="9075451" y="4416454"/>
              <a:ext cx="8183849" cy="655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380"/>
                </a:lnSpc>
              </a:pPr>
              <a:r>
                <a:rPr lang="fr-FR" sz="2600" noProof="0" dirty="0">
                  <a:solidFill>
                    <a:srgbClr val="000000"/>
                  </a:solidFill>
                  <a:latin typeface="Open Sauce Bold"/>
                </a:rPr>
                <a:t>2ème ETAPE</a:t>
              </a:r>
            </a:p>
          </p:txBody>
        </p:sp>
      </p:grp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9877693F-3354-F791-E4EA-CD0725BBD35C}"/>
              </a:ext>
            </a:extLst>
          </p:cNvPr>
          <p:cNvGrpSpPr/>
          <p:nvPr/>
        </p:nvGrpSpPr>
        <p:grpSpPr>
          <a:xfrm>
            <a:off x="9059978" y="1726123"/>
            <a:ext cx="8183849" cy="3027573"/>
            <a:chOff x="9075451" y="7879301"/>
            <a:chExt cx="8183849" cy="3027573"/>
          </a:xfrm>
        </p:grpSpPr>
        <p:sp>
          <p:nvSpPr>
            <p:cNvPr id="17" name="TextBox 14">
              <a:extLst>
                <a:ext uri="{FF2B5EF4-FFF2-40B4-BE49-F238E27FC236}">
                  <a16:creationId xmlns:a16="http://schemas.microsoft.com/office/drawing/2014/main" id="{8AE54C25-A407-7586-4862-81F6FAC5A0D8}"/>
                </a:ext>
              </a:extLst>
            </p:cNvPr>
            <p:cNvSpPr txBox="1"/>
            <p:nvPr/>
          </p:nvSpPr>
          <p:spPr>
            <a:xfrm>
              <a:off x="9075451" y="9011675"/>
              <a:ext cx="8183849" cy="18951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90"/>
                </a:lnSpc>
              </a:pPr>
              <a:r>
                <a:rPr lang="fr-FR" sz="2300" noProof="0" dirty="0">
                  <a:solidFill>
                    <a:srgbClr val="000000"/>
                  </a:solidFill>
                  <a:latin typeface="Open Sauce"/>
                </a:rPr>
                <a:t>Anonymiser les données SIRH : </a:t>
              </a:r>
            </a:p>
            <a:p>
              <a:pPr marL="342900" indent="-342900">
                <a:lnSpc>
                  <a:spcPts val="2990"/>
                </a:lnSpc>
                <a:buFontTx/>
                <a:buChar char="-"/>
              </a:pPr>
              <a:r>
                <a:rPr lang="fr-FR" sz="2300" dirty="0">
                  <a:solidFill>
                    <a:srgbClr val="000000"/>
                  </a:solidFill>
                  <a:latin typeface="Open Sauce"/>
                </a:rPr>
                <a:t>Rendre impossible l’identification directe, indirecte ou par regroupement des données de la personne</a:t>
              </a:r>
            </a:p>
            <a:p>
              <a:pPr marL="342900" indent="-342900">
                <a:lnSpc>
                  <a:spcPts val="2990"/>
                </a:lnSpc>
                <a:buFontTx/>
                <a:buChar char="-"/>
              </a:pPr>
              <a:r>
                <a:rPr lang="fr-FR" sz="2300" dirty="0">
                  <a:solidFill>
                    <a:srgbClr val="000000"/>
                  </a:solidFill>
                  <a:latin typeface="Open Sauce"/>
                </a:rPr>
                <a:t>Exporter les données anonymisées et nécessaire uniquement à l’accomplissement de l’objectif prévu</a:t>
              </a:r>
              <a:endParaRPr lang="fr-FR" sz="2300" noProof="0" dirty="0">
                <a:solidFill>
                  <a:srgbClr val="000000"/>
                </a:solidFill>
                <a:latin typeface="Open Sauce"/>
              </a:endParaRPr>
            </a:p>
          </p:txBody>
        </p:sp>
        <p:sp>
          <p:nvSpPr>
            <p:cNvPr id="18" name="TextBox 15">
              <a:extLst>
                <a:ext uri="{FF2B5EF4-FFF2-40B4-BE49-F238E27FC236}">
                  <a16:creationId xmlns:a16="http://schemas.microsoft.com/office/drawing/2014/main" id="{D8C12474-5E3A-526D-625E-99C66C64CD59}"/>
                </a:ext>
              </a:extLst>
            </p:cNvPr>
            <p:cNvSpPr txBox="1"/>
            <p:nvPr/>
          </p:nvSpPr>
          <p:spPr>
            <a:xfrm>
              <a:off x="9075451" y="7879301"/>
              <a:ext cx="8183849" cy="655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380"/>
                </a:lnSpc>
              </a:pPr>
              <a:r>
                <a:rPr lang="fr-FR" sz="2600" noProof="0" dirty="0">
                  <a:solidFill>
                    <a:srgbClr val="000000"/>
                  </a:solidFill>
                  <a:latin typeface="Open Sauce Bold"/>
                </a:rPr>
                <a:t>3ème ETAPE</a:t>
              </a:r>
            </a:p>
          </p:txBody>
        </p:sp>
      </p:grpSp>
      <p:graphicFrame>
        <p:nvGraphicFramePr>
          <p:cNvPr id="19" name="Table 3">
            <a:extLst>
              <a:ext uri="{FF2B5EF4-FFF2-40B4-BE49-F238E27FC236}">
                <a16:creationId xmlns:a16="http://schemas.microsoft.com/office/drawing/2014/main" id="{AE57AFC0-BD14-EC92-43EA-DA9891C56C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190297"/>
              </p:ext>
            </p:extLst>
          </p:nvPr>
        </p:nvGraphicFramePr>
        <p:xfrm>
          <a:off x="18745200" y="3159782"/>
          <a:ext cx="4771220" cy="5938274"/>
        </p:xfrm>
        <a:graphic>
          <a:graphicData uri="http://schemas.openxmlformats.org/drawingml/2006/table">
            <a:tbl>
              <a:tblPr/>
              <a:tblGrid>
                <a:gridCol w="4771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38274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fr-FR" sz="2000" noProof="0" dirty="0">
                          <a:solidFill>
                            <a:srgbClr val="000000"/>
                          </a:solidFill>
                          <a:latin typeface="Open Sauce Bold"/>
                        </a:rPr>
                        <a:t>Capture d’écran des flux de données </a:t>
                      </a:r>
                      <a:r>
                        <a:rPr lang="fr-FR" sz="2000" noProof="0" dirty="0" err="1">
                          <a:solidFill>
                            <a:srgbClr val="000000"/>
                          </a:solidFill>
                          <a:latin typeface="Open Sauce Bold"/>
                        </a:rPr>
                        <a:t>Knime</a:t>
                      </a:r>
                      <a:endParaRPr lang="fr-FR" sz="1100" noProof="0" dirty="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0" name="Image 19">
            <a:extLst>
              <a:ext uri="{FF2B5EF4-FFF2-40B4-BE49-F238E27FC236}">
                <a16:creationId xmlns:a16="http://schemas.microsoft.com/office/drawing/2014/main" id="{6B98AED6-8413-ABB1-6573-9C799FF069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53639" y="4074762"/>
            <a:ext cx="6621749" cy="5707597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A49FF7CF-9485-B159-7F4D-9F06BE13AC7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764"/>
          <a:stretch/>
        </p:blipFill>
        <p:spPr>
          <a:xfrm>
            <a:off x="10711604" y="5143500"/>
            <a:ext cx="4880597" cy="4867706"/>
          </a:xfrm>
          <a:prstGeom prst="rect">
            <a:avLst/>
          </a:prstGeom>
        </p:spPr>
      </p:pic>
      <p:sp>
        <p:nvSpPr>
          <p:cNvPr id="3" name="TextBox 10">
            <a:extLst>
              <a:ext uri="{FF2B5EF4-FFF2-40B4-BE49-F238E27FC236}">
                <a16:creationId xmlns:a16="http://schemas.microsoft.com/office/drawing/2014/main" id="{7D51491A-46BE-60EC-324F-31FD1A04DBEB}"/>
              </a:ext>
            </a:extLst>
          </p:cNvPr>
          <p:cNvSpPr txBox="1"/>
          <p:nvPr/>
        </p:nvSpPr>
        <p:spPr>
          <a:xfrm>
            <a:off x="-6126717" y="3491347"/>
            <a:ext cx="8183849" cy="1895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0"/>
              </a:lnSpc>
            </a:pPr>
            <a:endParaRPr lang="fr-FR" sz="2300" dirty="0">
              <a:solidFill>
                <a:srgbClr val="000000"/>
              </a:solidFill>
              <a:latin typeface="Open Sauce"/>
            </a:endParaRPr>
          </a:p>
          <a:p>
            <a:pPr>
              <a:lnSpc>
                <a:spcPts val="2990"/>
              </a:lnSpc>
            </a:pPr>
            <a:endParaRPr lang="fr-FR" sz="2300" dirty="0">
              <a:solidFill>
                <a:srgbClr val="000000"/>
              </a:solidFill>
              <a:latin typeface="Open Sauce"/>
            </a:endParaRPr>
          </a:p>
          <a:p>
            <a:pPr marL="342900" indent="-342900">
              <a:lnSpc>
                <a:spcPts val="2990"/>
              </a:lnSpc>
              <a:buFontTx/>
              <a:buChar char="-"/>
            </a:pPr>
            <a:endParaRPr lang="fr-FR" sz="2300" dirty="0">
              <a:solidFill>
                <a:srgbClr val="000000"/>
              </a:solidFill>
              <a:latin typeface="Open Sauce"/>
            </a:endParaRPr>
          </a:p>
          <a:p>
            <a:pPr>
              <a:lnSpc>
                <a:spcPts val="2990"/>
              </a:lnSpc>
            </a:pPr>
            <a:endParaRPr lang="fr-FR" sz="2300" noProof="0" dirty="0">
              <a:solidFill>
                <a:srgbClr val="000000"/>
              </a:solidFill>
              <a:latin typeface="Open Sauce"/>
            </a:endParaRPr>
          </a:p>
          <a:p>
            <a:pPr>
              <a:lnSpc>
                <a:spcPts val="2990"/>
              </a:lnSpc>
            </a:pPr>
            <a:endParaRPr lang="fr-FR" sz="2300" noProof="0" dirty="0">
              <a:solidFill>
                <a:srgbClr val="000000"/>
              </a:solidFill>
              <a:latin typeface="Open Sauce"/>
            </a:endParaRPr>
          </a:p>
        </p:txBody>
      </p:sp>
    </p:spTree>
    <p:extLst>
      <p:ext uri="{BB962C8B-B14F-4D97-AF65-F5344CB8AC3E}">
        <p14:creationId xmlns:p14="http://schemas.microsoft.com/office/powerpoint/2010/main" val="2587739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4E1B5-9B5C-D869-728F-211D2A135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CC9473D-EE01-D2CB-CFFC-262B9812EF0C}"/>
              </a:ext>
            </a:extLst>
          </p:cNvPr>
          <p:cNvSpPr/>
          <p:nvPr/>
        </p:nvSpPr>
        <p:spPr>
          <a:xfrm rot="10800000">
            <a:off x="10820400" y="-1485899"/>
            <a:ext cx="9136609" cy="4365332"/>
          </a:xfrm>
          <a:custGeom>
            <a:avLst/>
            <a:gdLst/>
            <a:ahLst/>
            <a:cxnLst/>
            <a:rect l="l" t="t" r="r" b="b"/>
            <a:pathLst>
              <a:path w="10471590" h="5235795">
                <a:moveTo>
                  <a:pt x="0" y="0"/>
                </a:moveTo>
                <a:lnTo>
                  <a:pt x="10471590" y="0"/>
                </a:lnTo>
                <a:lnTo>
                  <a:pt x="10471590" y="5235795"/>
                </a:lnTo>
                <a:lnTo>
                  <a:pt x="0" y="52357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064EB31-D5A1-6048-59D8-A14D329C232A}"/>
              </a:ext>
            </a:extLst>
          </p:cNvPr>
          <p:cNvGrpSpPr/>
          <p:nvPr/>
        </p:nvGrpSpPr>
        <p:grpSpPr>
          <a:xfrm>
            <a:off x="1028700" y="8505825"/>
            <a:ext cx="3497550" cy="464806"/>
            <a:chOff x="0" y="0"/>
            <a:chExt cx="4663400" cy="619741"/>
          </a:xfrm>
        </p:grpSpPr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C05A5BF4-A134-9133-CCDD-F6CE17C51F57}"/>
                </a:ext>
              </a:extLst>
            </p:cNvPr>
            <p:cNvSpPr/>
            <p:nvPr/>
          </p:nvSpPr>
          <p:spPr>
            <a:xfrm>
              <a:off x="0" y="0"/>
              <a:ext cx="4663400" cy="0"/>
            </a:xfrm>
            <a:prstGeom prst="line">
              <a:avLst/>
            </a:prstGeom>
            <a:ln w="1003300" cap="rnd">
              <a:solidFill>
                <a:srgbClr val="68D6A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DC1C431-5270-4CE3-42C1-97DAB572DDBE}"/>
                </a:ext>
              </a:extLst>
            </p:cNvPr>
            <p:cNvSpPr txBox="1"/>
            <p:nvPr/>
          </p:nvSpPr>
          <p:spPr>
            <a:xfrm>
              <a:off x="0" y="343768"/>
              <a:ext cx="4663400" cy="27597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592"/>
                </a:lnSpc>
              </a:pPr>
              <a:r>
                <a:rPr lang="fr-FR" noProof="0" dirty="0">
                  <a:solidFill>
                    <a:srgbClr val="FFFFFF"/>
                  </a:solidFill>
                  <a:latin typeface="Open Sauce"/>
                  <a:hlinkClick r:id="rId4" action="ppaction://hlinksldjump"/>
                </a:rPr>
                <a:t>Retourner à la vue d'ensemble</a:t>
              </a:r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15F9B581-D605-74C3-0D36-4D0E793F6119}"/>
              </a:ext>
            </a:extLst>
          </p:cNvPr>
          <p:cNvSpPr txBox="1"/>
          <p:nvPr/>
        </p:nvSpPr>
        <p:spPr>
          <a:xfrm>
            <a:off x="1028700" y="4569342"/>
            <a:ext cx="5524500" cy="3185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399"/>
              </a:lnSpc>
            </a:pPr>
            <a:r>
              <a:rPr lang="fr-FR" sz="6999" spc="-139" noProof="0" dirty="0">
                <a:solidFill>
                  <a:srgbClr val="000000"/>
                </a:solidFill>
                <a:latin typeface="Antonio Bold"/>
              </a:rPr>
              <a:t>III-Anonymisation  des données</a:t>
            </a: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53B005B7-DFFA-0C13-05FA-A0C9F8782C6B}"/>
              </a:ext>
            </a:extLst>
          </p:cNvPr>
          <p:cNvGrpSpPr/>
          <p:nvPr/>
        </p:nvGrpSpPr>
        <p:grpSpPr>
          <a:xfrm>
            <a:off x="1044173" y="1008740"/>
            <a:ext cx="4145937" cy="717383"/>
            <a:chOff x="0" y="0"/>
            <a:chExt cx="5527915" cy="956511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14D9679-5B16-96CF-D4FA-52284F4B5581}"/>
                </a:ext>
              </a:extLst>
            </p:cNvPr>
            <p:cNvSpPr/>
            <p:nvPr/>
          </p:nvSpPr>
          <p:spPr>
            <a:xfrm>
              <a:off x="0" y="0"/>
              <a:ext cx="928685" cy="956511"/>
            </a:xfrm>
            <a:custGeom>
              <a:avLst/>
              <a:gdLst/>
              <a:ahLst/>
              <a:cxnLst/>
              <a:rect l="l" t="t" r="r" b="b"/>
              <a:pathLst>
                <a:path w="928685" h="956511">
                  <a:moveTo>
                    <a:pt x="0" y="0"/>
                  </a:moveTo>
                  <a:lnTo>
                    <a:pt x="928685" y="0"/>
                  </a:lnTo>
                  <a:lnTo>
                    <a:pt x="928685" y="956511"/>
                  </a:lnTo>
                  <a:lnTo>
                    <a:pt x="0" y="956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2BC569B1-A68B-DA35-D6C2-58A680DE3C50}"/>
                </a:ext>
              </a:extLst>
            </p:cNvPr>
            <p:cNvSpPr txBox="1"/>
            <p:nvPr/>
          </p:nvSpPr>
          <p:spPr>
            <a:xfrm>
              <a:off x="1245662" y="290527"/>
              <a:ext cx="4282253" cy="327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66"/>
                </a:lnSpc>
                <a:spcBef>
                  <a:spcPct val="0"/>
                </a:spcBef>
              </a:pPr>
              <a:r>
                <a:rPr lang="fr-FR" sz="1476" noProof="0" dirty="0">
                  <a:solidFill>
                    <a:srgbClr val="000000"/>
                  </a:solidFill>
                  <a:latin typeface="Open Sauce Bold"/>
                </a:rPr>
                <a:t>3</a:t>
              </a:r>
            </a:p>
          </p:txBody>
        </p:sp>
      </p:grpSp>
      <p:sp>
        <p:nvSpPr>
          <p:cNvPr id="13" name="TextBox 10">
            <a:extLst>
              <a:ext uri="{FF2B5EF4-FFF2-40B4-BE49-F238E27FC236}">
                <a16:creationId xmlns:a16="http://schemas.microsoft.com/office/drawing/2014/main" id="{957553D8-49EB-2B93-BC40-F2F53CC90947}"/>
              </a:ext>
            </a:extLst>
          </p:cNvPr>
          <p:cNvSpPr txBox="1"/>
          <p:nvPr/>
        </p:nvSpPr>
        <p:spPr>
          <a:xfrm>
            <a:off x="9075451" y="2857500"/>
            <a:ext cx="8183849" cy="3434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0"/>
              </a:lnSpc>
            </a:pPr>
            <a:r>
              <a:rPr lang="fr-FR" sz="2300" noProof="0" dirty="0">
                <a:solidFill>
                  <a:srgbClr val="000000"/>
                </a:solidFill>
                <a:latin typeface="Open Sauce"/>
              </a:rPr>
              <a:t>Règlement général </a:t>
            </a:r>
            <a:r>
              <a:rPr lang="fr-FR" sz="2300" dirty="0">
                <a:solidFill>
                  <a:srgbClr val="000000"/>
                </a:solidFill>
                <a:latin typeface="Open Sauce"/>
              </a:rPr>
              <a:t>sur la</a:t>
            </a:r>
            <a:r>
              <a:rPr lang="fr-FR" sz="2300" noProof="0" dirty="0">
                <a:solidFill>
                  <a:srgbClr val="000000"/>
                </a:solidFill>
                <a:latin typeface="Open Sauce"/>
              </a:rPr>
              <a:t> protection</a:t>
            </a:r>
            <a:r>
              <a:rPr lang="fr-FR" sz="2300" dirty="0">
                <a:solidFill>
                  <a:srgbClr val="000000"/>
                </a:solidFill>
                <a:latin typeface="Open Sauce"/>
              </a:rPr>
              <a:t> des données : </a:t>
            </a:r>
          </a:p>
          <a:p>
            <a:pPr>
              <a:lnSpc>
                <a:spcPts val="2990"/>
              </a:lnSpc>
            </a:pPr>
            <a:r>
              <a:rPr lang="fr-FR" sz="2300" dirty="0">
                <a:solidFill>
                  <a:srgbClr val="000000"/>
                </a:solidFill>
                <a:latin typeface="Open Sauce"/>
              </a:rPr>
              <a:t>« un texte réglementaire européen qui encadre le traitement des données de manière égalitaire sur tout le territoire de l’Union européenne (UE). »</a:t>
            </a:r>
          </a:p>
          <a:p>
            <a:pPr>
              <a:lnSpc>
                <a:spcPts val="2990"/>
              </a:lnSpc>
            </a:pPr>
            <a:endParaRPr lang="fr-FR" sz="2300" dirty="0">
              <a:solidFill>
                <a:srgbClr val="000000"/>
              </a:solidFill>
              <a:latin typeface="Open Sauce"/>
            </a:endParaRPr>
          </a:p>
          <a:p>
            <a:pPr>
              <a:lnSpc>
                <a:spcPts val="2990"/>
              </a:lnSpc>
            </a:pPr>
            <a:r>
              <a:rPr lang="fr-FR" sz="2300" dirty="0">
                <a:solidFill>
                  <a:srgbClr val="000000"/>
                </a:solidFill>
                <a:latin typeface="Open Sauce"/>
              </a:rPr>
              <a:t>Données à caractère personnelles : </a:t>
            </a:r>
          </a:p>
          <a:p>
            <a:pPr>
              <a:lnSpc>
                <a:spcPts val="2990"/>
              </a:lnSpc>
            </a:pPr>
            <a:r>
              <a:rPr lang="fr-FR" sz="2300" dirty="0">
                <a:solidFill>
                  <a:srgbClr val="000000"/>
                </a:solidFill>
                <a:latin typeface="Open Sauce"/>
              </a:rPr>
              <a:t>« </a:t>
            </a:r>
            <a:r>
              <a:rPr lang="fr-FR" sz="2300" b="1" dirty="0">
                <a:solidFill>
                  <a:srgbClr val="000000"/>
                </a:solidFill>
                <a:latin typeface="Open Sauce"/>
              </a:rPr>
              <a:t>Toute information se rapportant à une personne physique identifiée ou identifiable. </a:t>
            </a:r>
            <a:r>
              <a:rPr lang="fr-FR" sz="2300" dirty="0">
                <a:solidFill>
                  <a:srgbClr val="000000"/>
                </a:solidFill>
                <a:latin typeface="Open Sauce"/>
              </a:rPr>
              <a:t>»</a:t>
            </a:r>
          </a:p>
          <a:p>
            <a:pPr>
              <a:lnSpc>
                <a:spcPts val="2990"/>
              </a:lnSpc>
            </a:pPr>
            <a:endParaRPr lang="fr-FR" sz="2300" noProof="0" dirty="0">
              <a:solidFill>
                <a:srgbClr val="000000"/>
              </a:solidFill>
              <a:latin typeface="Open Sauce"/>
            </a:endParaRP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9FE9A6B6-C46E-4D16-ED68-331F7FDF0D3E}"/>
              </a:ext>
            </a:extLst>
          </p:cNvPr>
          <p:cNvSpPr txBox="1"/>
          <p:nvPr/>
        </p:nvSpPr>
        <p:spPr>
          <a:xfrm>
            <a:off x="9075448" y="2136792"/>
            <a:ext cx="8183849" cy="720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80"/>
              </a:lnSpc>
            </a:pPr>
            <a:r>
              <a:rPr lang="fr-FR" sz="2600" noProof="0" dirty="0">
                <a:solidFill>
                  <a:srgbClr val="000000"/>
                </a:solidFill>
                <a:latin typeface="Open Sauce Bold"/>
              </a:rPr>
              <a:t>RGPD</a:t>
            </a:r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39BB7F81-EF32-29CF-B23A-E7DFC4D472DF}"/>
              </a:ext>
            </a:extLst>
          </p:cNvPr>
          <p:cNvGrpSpPr/>
          <p:nvPr/>
        </p:nvGrpSpPr>
        <p:grpSpPr>
          <a:xfrm>
            <a:off x="9075427" y="2139580"/>
            <a:ext cx="8183850" cy="3504293"/>
            <a:chOff x="9143999" y="6567914"/>
            <a:chExt cx="8183850" cy="3504293"/>
          </a:xfrm>
        </p:grpSpPr>
        <p:sp>
          <p:nvSpPr>
            <p:cNvPr id="3" name="TextBox 11">
              <a:extLst>
                <a:ext uri="{FF2B5EF4-FFF2-40B4-BE49-F238E27FC236}">
                  <a16:creationId xmlns:a16="http://schemas.microsoft.com/office/drawing/2014/main" id="{74A42618-B520-5AE4-1546-630BDDA49AC5}"/>
                </a:ext>
              </a:extLst>
            </p:cNvPr>
            <p:cNvSpPr txBox="1"/>
            <p:nvPr/>
          </p:nvSpPr>
          <p:spPr>
            <a:xfrm>
              <a:off x="9144000" y="6567914"/>
              <a:ext cx="8183849" cy="8396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380"/>
                </a:lnSpc>
              </a:pPr>
              <a:r>
                <a:rPr lang="fr-FR" sz="2600" dirty="0">
                  <a:solidFill>
                    <a:srgbClr val="000000"/>
                  </a:solidFill>
                  <a:latin typeface="Open Sauce Bold"/>
                </a:rPr>
                <a:t>Méthodes d’anonymisation</a:t>
              </a:r>
            </a:p>
            <a:p>
              <a:pPr>
                <a:lnSpc>
                  <a:spcPts val="3380"/>
                </a:lnSpc>
              </a:pPr>
              <a:endParaRPr lang="fr-FR" sz="2600" noProof="0" dirty="0">
                <a:solidFill>
                  <a:srgbClr val="000000"/>
                </a:solidFill>
                <a:latin typeface="Open Sauce Bold"/>
              </a:endParaRPr>
            </a:p>
          </p:txBody>
        </p:sp>
        <p:sp>
          <p:nvSpPr>
            <p:cNvPr id="12" name="TextBox 10">
              <a:extLst>
                <a:ext uri="{FF2B5EF4-FFF2-40B4-BE49-F238E27FC236}">
                  <a16:creationId xmlns:a16="http://schemas.microsoft.com/office/drawing/2014/main" id="{02A02DD5-E74C-C93F-8587-C77099F3AE06}"/>
                </a:ext>
              </a:extLst>
            </p:cNvPr>
            <p:cNvSpPr txBox="1"/>
            <p:nvPr/>
          </p:nvSpPr>
          <p:spPr>
            <a:xfrm>
              <a:off x="9143999" y="7407567"/>
              <a:ext cx="8183849" cy="2664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90"/>
                </a:lnSpc>
              </a:pPr>
              <a:r>
                <a:rPr lang="fr-FR" sz="2300" noProof="0" dirty="0">
                  <a:solidFill>
                    <a:srgbClr val="000000"/>
                  </a:solidFill>
                  <a:latin typeface="Open Sauce"/>
                </a:rPr>
                <a:t>Concerne les colonnes :</a:t>
              </a:r>
            </a:p>
            <a:p>
              <a:pPr marL="457200" indent="-457200">
                <a:lnSpc>
                  <a:spcPts val="2990"/>
                </a:lnSpc>
                <a:buFont typeface="+mj-lt"/>
                <a:buAutoNum type="arabicPeriod"/>
              </a:pPr>
              <a:r>
                <a:rPr lang="fr-FR" sz="2300" dirty="0">
                  <a:solidFill>
                    <a:srgbClr val="000000"/>
                  </a:solidFill>
                  <a:latin typeface="Open Sauce"/>
                </a:rPr>
                <a:t>Changer l’ID des salariés </a:t>
              </a:r>
            </a:p>
            <a:p>
              <a:pPr marL="457200" indent="-457200">
                <a:lnSpc>
                  <a:spcPts val="2990"/>
                </a:lnSpc>
                <a:buFont typeface="+mj-lt"/>
                <a:buAutoNum type="arabicPeriod"/>
              </a:pPr>
              <a:r>
                <a:rPr lang="fr-FR" sz="2300" dirty="0">
                  <a:solidFill>
                    <a:srgbClr val="000000"/>
                  </a:solidFill>
                  <a:latin typeface="Open Sauce"/>
                </a:rPr>
                <a:t>Tranche d’âge</a:t>
              </a:r>
            </a:p>
            <a:p>
              <a:pPr marL="457200" indent="-457200">
                <a:lnSpc>
                  <a:spcPts val="2990"/>
                </a:lnSpc>
                <a:buFont typeface="+mj-lt"/>
                <a:buAutoNum type="arabicPeriod"/>
              </a:pPr>
              <a:r>
                <a:rPr lang="fr-FR" sz="2300" noProof="0" dirty="0">
                  <a:solidFill>
                    <a:srgbClr val="000000"/>
                  </a:solidFill>
                  <a:latin typeface="Open Sauce"/>
                </a:rPr>
                <a:t>Tranche d’ancienneté</a:t>
              </a:r>
              <a:endParaRPr lang="fr-FR" sz="2300" dirty="0">
                <a:solidFill>
                  <a:srgbClr val="000000"/>
                </a:solidFill>
                <a:latin typeface="Open Sauce"/>
              </a:endParaRPr>
            </a:p>
            <a:p>
              <a:pPr marL="457200" indent="-457200">
                <a:lnSpc>
                  <a:spcPts val="2990"/>
                </a:lnSpc>
                <a:buFont typeface="+mj-lt"/>
                <a:buAutoNum type="arabicPeriod"/>
              </a:pPr>
              <a:r>
                <a:rPr lang="fr-FR" sz="2300" noProof="0" dirty="0">
                  <a:solidFill>
                    <a:srgbClr val="000000"/>
                  </a:solidFill>
                  <a:latin typeface="Open Sauce"/>
                </a:rPr>
                <a:t>Tranche de </a:t>
              </a:r>
              <a:r>
                <a:rPr lang="fr-FR" sz="2300" dirty="0">
                  <a:solidFill>
                    <a:srgbClr val="000000"/>
                  </a:solidFill>
                  <a:latin typeface="Open Sauce"/>
                </a:rPr>
                <a:t>salaire</a:t>
              </a:r>
            </a:p>
            <a:p>
              <a:pPr marL="457200" indent="-457200">
                <a:lnSpc>
                  <a:spcPts val="2990"/>
                </a:lnSpc>
                <a:buFont typeface="+mj-lt"/>
                <a:buAutoNum type="arabicPeriod"/>
              </a:pPr>
              <a:r>
                <a:rPr lang="fr-FR" sz="2300" dirty="0">
                  <a:solidFill>
                    <a:srgbClr val="000000"/>
                  </a:solidFill>
                  <a:latin typeface="Open Sauce"/>
                </a:rPr>
                <a:t>Tranche de distance D/T</a:t>
              </a:r>
            </a:p>
            <a:p>
              <a:pPr marL="457200" indent="-457200">
                <a:lnSpc>
                  <a:spcPts val="2990"/>
                </a:lnSpc>
                <a:buFont typeface="+mj-lt"/>
                <a:buAutoNum type="arabicPeriod"/>
              </a:pPr>
              <a:r>
                <a:rPr lang="fr-FR" sz="2300" dirty="0">
                  <a:solidFill>
                    <a:srgbClr val="000000"/>
                  </a:solidFill>
                  <a:latin typeface="Open Sauce"/>
                </a:rPr>
                <a:t>Tranche de nombre d’enfants</a:t>
              </a:r>
            </a:p>
          </p:txBody>
        </p:sp>
      </p:grpSp>
      <p:graphicFrame>
        <p:nvGraphicFramePr>
          <p:cNvPr id="16" name="Table 3">
            <a:extLst>
              <a:ext uri="{FF2B5EF4-FFF2-40B4-BE49-F238E27FC236}">
                <a16:creationId xmlns:a16="http://schemas.microsoft.com/office/drawing/2014/main" id="{8EDF5EAC-9CDD-2E62-5317-47D0DCA6A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464658"/>
              </p:ext>
            </p:extLst>
          </p:nvPr>
        </p:nvGraphicFramePr>
        <p:xfrm>
          <a:off x="18745200" y="3159782"/>
          <a:ext cx="4771220" cy="5938274"/>
        </p:xfrm>
        <a:graphic>
          <a:graphicData uri="http://schemas.openxmlformats.org/drawingml/2006/table">
            <a:tbl>
              <a:tblPr/>
              <a:tblGrid>
                <a:gridCol w="4771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38274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fr-FR" sz="2000" noProof="0" dirty="0">
                          <a:solidFill>
                            <a:srgbClr val="000000"/>
                          </a:solidFill>
                          <a:latin typeface="Open Sauce Bold"/>
                        </a:rPr>
                        <a:t>Image d’illustration RGPD (insister)</a:t>
                      </a:r>
                      <a:endParaRPr lang="fr-FR" sz="1100" noProof="0" dirty="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TextBox 10">
            <a:extLst>
              <a:ext uri="{FF2B5EF4-FFF2-40B4-BE49-F238E27FC236}">
                <a16:creationId xmlns:a16="http://schemas.microsoft.com/office/drawing/2014/main" id="{3491F535-49DA-953D-624D-BA33D599A4FD}"/>
              </a:ext>
            </a:extLst>
          </p:cNvPr>
          <p:cNvSpPr txBox="1"/>
          <p:nvPr/>
        </p:nvSpPr>
        <p:spPr>
          <a:xfrm>
            <a:off x="9075439" y="2857500"/>
            <a:ext cx="8183849" cy="3434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0"/>
              </a:lnSpc>
            </a:pPr>
            <a:r>
              <a:rPr lang="fr-FR" sz="2300" b="1" noProof="0" dirty="0">
                <a:solidFill>
                  <a:srgbClr val="000000"/>
                </a:solidFill>
                <a:latin typeface="Open Sauce"/>
              </a:rPr>
              <a:t>5 principes </a:t>
            </a:r>
            <a:r>
              <a:rPr lang="fr-FR" sz="2300" noProof="0" dirty="0">
                <a:solidFill>
                  <a:srgbClr val="000000"/>
                </a:solidFill>
                <a:latin typeface="Open Sauce"/>
              </a:rPr>
              <a:t>de protection des données personnelles d’après CNIL :</a:t>
            </a:r>
          </a:p>
          <a:p>
            <a:pPr marL="457200" indent="-457200">
              <a:lnSpc>
                <a:spcPts val="2990"/>
              </a:lnSpc>
              <a:buFont typeface="+mj-lt"/>
              <a:buAutoNum type="arabicPeriod"/>
            </a:pPr>
            <a:r>
              <a:rPr lang="fr-FR" sz="2300" noProof="0" dirty="0">
                <a:solidFill>
                  <a:srgbClr val="000000"/>
                </a:solidFill>
                <a:latin typeface="Open Sauce"/>
              </a:rPr>
              <a:t>Finalité (but légal, légitime, précis)</a:t>
            </a:r>
          </a:p>
          <a:p>
            <a:pPr marL="457200" indent="-457200">
              <a:lnSpc>
                <a:spcPts val="2990"/>
              </a:lnSpc>
              <a:buFont typeface="+mj-lt"/>
              <a:buAutoNum type="arabicPeriod"/>
            </a:pPr>
            <a:r>
              <a:rPr lang="fr-FR" sz="2300" noProof="0" dirty="0">
                <a:solidFill>
                  <a:srgbClr val="000000"/>
                </a:solidFill>
                <a:latin typeface="Open Sauce"/>
              </a:rPr>
              <a:t>Proportionnalité &amp; pertinence (limiter les infos traitées)</a:t>
            </a:r>
          </a:p>
          <a:p>
            <a:pPr marL="457200" indent="-457200">
              <a:lnSpc>
                <a:spcPts val="2990"/>
              </a:lnSpc>
              <a:buFont typeface="+mj-lt"/>
              <a:buAutoNum type="arabicPeriod"/>
            </a:pPr>
            <a:r>
              <a:rPr lang="fr-FR" sz="2300" noProof="0" dirty="0">
                <a:solidFill>
                  <a:srgbClr val="000000"/>
                </a:solidFill>
                <a:latin typeface="Open Sauce"/>
              </a:rPr>
              <a:t>Durée de conservation limitée (limiter la conservation)</a:t>
            </a:r>
          </a:p>
          <a:p>
            <a:pPr marL="457200" indent="-457200">
              <a:lnSpc>
                <a:spcPts val="2990"/>
              </a:lnSpc>
              <a:buFont typeface="+mj-lt"/>
              <a:buAutoNum type="arabicPeriod"/>
            </a:pPr>
            <a:r>
              <a:rPr lang="fr-FR" sz="2300" noProof="0" dirty="0">
                <a:solidFill>
                  <a:srgbClr val="000000"/>
                </a:solidFill>
                <a:latin typeface="Open Sauce"/>
              </a:rPr>
              <a:t>Sécurité &amp; confidentialité (limiter l’accès)</a:t>
            </a:r>
          </a:p>
          <a:p>
            <a:pPr marL="457200" indent="-457200">
              <a:lnSpc>
                <a:spcPts val="2990"/>
              </a:lnSpc>
              <a:buFont typeface="+mj-lt"/>
              <a:buAutoNum type="arabicPeriod"/>
            </a:pPr>
            <a:r>
              <a:rPr lang="fr-FR" sz="2300" noProof="0" dirty="0">
                <a:solidFill>
                  <a:srgbClr val="000000"/>
                </a:solidFill>
                <a:latin typeface="Open Sauce"/>
              </a:rPr>
              <a:t>Droits des personnes (transparence)</a:t>
            </a:r>
          </a:p>
          <a:p>
            <a:pPr>
              <a:lnSpc>
                <a:spcPts val="2990"/>
              </a:lnSpc>
            </a:pPr>
            <a:endParaRPr lang="fr-FR" sz="2300" noProof="0" dirty="0">
              <a:solidFill>
                <a:srgbClr val="000000"/>
              </a:solidFill>
              <a:latin typeface="Open Sauce"/>
            </a:endParaRP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D98D756B-F635-5001-7EB9-D51F77BDFF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1296" y="6128919"/>
            <a:ext cx="7972137" cy="3952906"/>
          </a:xfrm>
          <a:prstGeom prst="rect">
            <a:avLst/>
          </a:prstGeom>
        </p:spPr>
      </p:pic>
      <p:pic>
        <p:nvPicPr>
          <p:cNvPr id="1026" name="Picture 2" descr="RGPD : de quoi parle-t-on ? | CNIL">
            <a:extLst>
              <a:ext uri="{FF2B5EF4-FFF2-40B4-BE49-F238E27FC236}">
                <a16:creationId xmlns:a16="http://schemas.microsoft.com/office/drawing/2014/main" id="{DCC508FF-07A3-BD85-1B3E-126A42F515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4848" y="6128919"/>
            <a:ext cx="6565005" cy="3366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7408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14" grpId="0"/>
      <p:bldP spid="14" grpId="1"/>
      <p:bldP spid="19" grpId="0"/>
      <p:bldP spid="19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87135" y="-8627429"/>
            <a:ext cx="13313729" cy="13313729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8B281"/>
            </a:solidFill>
          </p:spPr>
          <p:txBody>
            <a:bodyPr/>
            <a:lstStyle/>
            <a:p>
              <a:endParaRPr lang="fr-FR" noProof="0" dirty="0"/>
            </a:p>
          </p:txBody>
        </p:sp>
      </p:grpSp>
      <p:sp>
        <p:nvSpPr>
          <p:cNvPr id="4" name="AutoShape 4"/>
          <p:cNvSpPr/>
          <p:nvPr/>
        </p:nvSpPr>
        <p:spPr>
          <a:xfrm>
            <a:off x="0" y="8882062"/>
            <a:ext cx="18288000" cy="1404938"/>
          </a:xfrm>
          <a:prstGeom prst="rect">
            <a:avLst/>
          </a:prstGeom>
          <a:solidFill>
            <a:srgbClr val="F1EEEE"/>
          </a:solidFill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Box 7"/>
          <p:cNvSpPr txBox="1"/>
          <p:nvPr/>
        </p:nvSpPr>
        <p:spPr>
          <a:xfrm>
            <a:off x="5336480" y="852637"/>
            <a:ext cx="7511429" cy="2108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</a:pPr>
            <a:r>
              <a:rPr lang="fr-FR" sz="6999" spc="-139" noProof="0" dirty="0">
                <a:solidFill>
                  <a:srgbClr val="FFFFFF"/>
                </a:solidFill>
                <a:latin typeface="Antonio Bold"/>
              </a:rPr>
              <a:t>IV-Diagnostics d’Indicateurs clés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317112" y="9208294"/>
            <a:ext cx="3653774" cy="471342"/>
            <a:chOff x="-104151" y="0"/>
            <a:chExt cx="4871699" cy="628455"/>
          </a:xfrm>
        </p:grpSpPr>
        <p:sp>
          <p:nvSpPr>
            <p:cNvPr id="18" name="AutoShape 18"/>
            <p:cNvSpPr/>
            <p:nvPr/>
          </p:nvSpPr>
          <p:spPr>
            <a:xfrm>
              <a:off x="0" y="0"/>
              <a:ext cx="4663400" cy="0"/>
            </a:xfrm>
            <a:prstGeom prst="line">
              <a:avLst/>
            </a:prstGeom>
            <a:ln w="1003300" cap="rnd">
              <a:solidFill>
                <a:srgbClr val="68D6A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-104151" y="352482"/>
              <a:ext cx="4871699" cy="27597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592"/>
                </a:lnSpc>
              </a:pPr>
              <a:r>
                <a:rPr lang="fr-FR" noProof="0" dirty="0">
                  <a:solidFill>
                    <a:srgbClr val="FFFFFF"/>
                  </a:solidFill>
                  <a:latin typeface="Open Sauce"/>
                  <a:hlinkClick r:id="rId3" action="ppaction://hlinksldjump"/>
                </a:rPr>
                <a:t>Retourner à la vue d'ensemble</a:t>
              </a:r>
            </a:p>
          </p:txBody>
        </p:sp>
      </p:grpSp>
      <p:sp>
        <p:nvSpPr>
          <p:cNvPr id="5" name="AutoShape 5"/>
          <p:cNvSpPr/>
          <p:nvPr/>
        </p:nvSpPr>
        <p:spPr>
          <a:xfrm rot="16200000">
            <a:off x="4590402" y="6256399"/>
            <a:ext cx="2673722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AutoShape 6"/>
          <p:cNvSpPr/>
          <p:nvPr/>
        </p:nvSpPr>
        <p:spPr>
          <a:xfrm rot="16200000">
            <a:off x="7593047" y="6261049"/>
            <a:ext cx="2673722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Box 12"/>
          <p:cNvSpPr txBox="1"/>
          <p:nvPr/>
        </p:nvSpPr>
        <p:spPr>
          <a:xfrm>
            <a:off x="6326022" y="6831538"/>
            <a:ext cx="2462163" cy="1510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0"/>
              </a:lnSpc>
            </a:pPr>
            <a:r>
              <a:rPr lang="fr-FR" sz="2300" noProof="0" dirty="0">
                <a:solidFill>
                  <a:srgbClr val="000000"/>
                </a:solidFill>
                <a:latin typeface="Open Sauce"/>
              </a:rPr>
              <a:t>Ecart de répartition des augmentations F/H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27365" y="4940839"/>
            <a:ext cx="2462163" cy="839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0"/>
              </a:lnSpc>
            </a:pPr>
            <a:r>
              <a:rPr lang="fr-FR" sz="2600" noProof="0" dirty="0">
                <a:solidFill>
                  <a:srgbClr val="000000"/>
                </a:solidFill>
                <a:latin typeface="Open Sauce Bold"/>
              </a:rPr>
              <a:t>Répartition des augmentations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258357" y="7216258"/>
            <a:ext cx="2462163" cy="1125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0"/>
              </a:lnSpc>
            </a:pPr>
            <a:r>
              <a:rPr lang="fr-FR" sz="2300" noProof="0" dirty="0">
                <a:solidFill>
                  <a:srgbClr val="000000"/>
                </a:solidFill>
                <a:latin typeface="Open Sauce"/>
              </a:rPr>
              <a:t>Ecart de répartition des  promotions F/H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259251" y="4940838"/>
            <a:ext cx="2462164" cy="1275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0"/>
              </a:lnSpc>
            </a:pPr>
            <a:r>
              <a:rPr lang="fr-FR" sz="2600" noProof="0" dirty="0">
                <a:solidFill>
                  <a:srgbClr val="000000"/>
                </a:solidFill>
                <a:latin typeface="Open Sauce Bold"/>
              </a:rPr>
              <a:t>Répartition des promotions internes*</a:t>
            </a:r>
          </a:p>
        </p:txBody>
      </p:sp>
      <p:sp>
        <p:nvSpPr>
          <p:cNvPr id="22" name="TextBox 15">
            <a:extLst>
              <a:ext uri="{FF2B5EF4-FFF2-40B4-BE49-F238E27FC236}">
                <a16:creationId xmlns:a16="http://schemas.microsoft.com/office/drawing/2014/main" id="{B0D84B62-D4B4-ECD8-83C1-716BF452E611}"/>
              </a:ext>
            </a:extLst>
          </p:cNvPr>
          <p:cNvSpPr txBox="1"/>
          <p:nvPr/>
        </p:nvSpPr>
        <p:spPr>
          <a:xfrm>
            <a:off x="12190692" y="6447702"/>
            <a:ext cx="2462164" cy="1895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0"/>
              </a:lnSpc>
            </a:pPr>
            <a:r>
              <a:rPr lang="fr-FR" sz="2300" noProof="0" dirty="0">
                <a:solidFill>
                  <a:srgbClr val="000000"/>
                </a:solidFill>
                <a:latin typeface="Open Sauce"/>
              </a:rPr>
              <a:t>Vérifier si 100% des salariés </a:t>
            </a:r>
            <a:r>
              <a:rPr lang="fr-FR" sz="2300" dirty="0">
                <a:solidFill>
                  <a:srgbClr val="000000"/>
                </a:solidFill>
                <a:latin typeface="Open Sauce"/>
              </a:rPr>
              <a:t>de retour</a:t>
            </a:r>
            <a:r>
              <a:rPr lang="fr-FR" sz="2300" noProof="0" dirty="0">
                <a:solidFill>
                  <a:srgbClr val="000000"/>
                </a:solidFill>
                <a:latin typeface="Open Sauce"/>
              </a:rPr>
              <a:t> de CM ont bénéficié d’une augmentation</a:t>
            </a:r>
            <a:endParaRPr lang="fr-FR" sz="2400" noProof="0" dirty="0">
              <a:solidFill>
                <a:srgbClr val="000000"/>
              </a:solidFill>
              <a:latin typeface="Open Sauce"/>
            </a:endParaRPr>
          </a:p>
        </p:txBody>
      </p:sp>
      <p:sp>
        <p:nvSpPr>
          <p:cNvPr id="23" name="TextBox 16">
            <a:extLst>
              <a:ext uri="{FF2B5EF4-FFF2-40B4-BE49-F238E27FC236}">
                <a16:creationId xmlns:a16="http://schemas.microsoft.com/office/drawing/2014/main" id="{1742D141-90EE-D838-C0E1-33154C41CE32}"/>
              </a:ext>
            </a:extLst>
          </p:cNvPr>
          <p:cNvSpPr txBox="1"/>
          <p:nvPr/>
        </p:nvSpPr>
        <p:spPr>
          <a:xfrm>
            <a:off x="12191138" y="4940839"/>
            <a:ext cx="2462164" cy="839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0"/>
              </a:lnSpc>
            </a:pPr>
            <a:r>
              <a:rPr lang="fr-FR" sz="2600" dirty="0">
                <a:solidFill>
                  <a:srgbClr val="000000"/>
                </a:solidFill>
                <a:latin typeface="Open Sauce Bold"/>
              </a:rPr>
              <a:t>A</a:t>
            </a:r>
            <a:r>
              <a:rPr lang="fr-FR" sz="2600" noProof="0" dirty="0" err="1">
                <a:solidFill>
                  <a:srgbClr val="000000"/>
                </a:solidFill>
                <a:latin typeface="Open Sauce Bold"/>
              </a:rPr>
              <a:t>ugmentation</a:t>
            </a:r>
            <a:r>
              <a:rPr lang="fr-FR" sz="2600" noProof="0" dirty="0">
                <a:solidFill>
                  <a:srgbClr val="000000"/>
                </a:solidFill>
                <a:latin typeface="Open Sauce Bold"/>
              </a:rPr>
              <a:t> après CM</a:t>
            </a:r>
          </a:p>
        </p:txBody>
      </p:sp>
      <p:sp>
        <p:nvSpPr>
          <p:cNvPr id="25" name="TextBox 15">
            <a:extLst>
              <a:ext uri="{FF2B5EF4-FFF2-40B4-BE49-F238E27FC236}">
                <a16:creationId xmlns:a16="http://schemas.microsoft.com/office/drawing/2014/main" id="{41A3EF30-110D-18E4-91E1-58D552A680B6}"/>
              </a:ext>
            </a:extLst>
          </p:cNvPr>
          <p:cNvSpPr txBox="1"/>
          <p:nvPr/>
        </p:nvSpPr>
        <p:spPr>
          <a:xfrm>
            <a:off x="15123027" y="7168116"/>
            <a:ext cx="2462164" cy="741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0"/>
              </a:lnSpc>
            </a:pPr>
            <a:r>
              <a:rPr lang="fr-FR" sz="2300" noProof="0" dirty="0">
                <a:solidFill>
                  <a:srgbClr val="000000"/>
                </a:solidFill>
                <a:latin typeface="Open Sauce"/>
              </a:rPr>
              <a:t>Parité parmi les plus hauts salaires</a:t>
            </a:r>
          </a:p>
        </p:txBody>
      </p:sp>
      <p:sp>
        <p:nvSpPr>
          <p:cNvPr id="26" name="TextBox 16">
            <a:extLst>
              <a:ext uri="{FF2B5EF4-FFF2-40B4-BE49-F238E27FC236}">
                <a16:creationId xmlns:a16="http://schemas.microsoft.com/office/drawing/2014/main" id="{691A0D23-528C-5345-8572-8695635CE7BF}"/>
              </a:ext>
            </a:extLst>
          </p:cNvPr>
          <p:cNvSpPr txBox="1"/>
          <p:nvPr/>
        </p:nvSpPr>
        <p:spPr>
          <a:xfrm>
            <a:off x="15123027" y="4919536"/>
            <a:ext cx="2462164" cy="1275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0"/>
              </a:lnSpc>
            </a:pPr>
            <a:r>
              <a:rPr lang="fr-FR" sz="2600" dirty="0">
                <a:solidFill>
                  <a:srgbClr val="000000"/>
                </a:solidFill>
                <a:latin typeface="Open Sauce Bold"/>
              </a:rPr>
              <a:t>Répartition dans Top 10 des rémunérations</a:t>
            </a:r>
            <a:endParaRPr lang="fr-FR" sz="2600" noProof="0" dirty="0">
              <a:solidFill>
                <a:srgbClr val="000000"/>
              </a:solidFill>
              <a:latin typeface="Open Sauce Bold"/>
            </a:endParaRPr>
          </a:p>
        </p:txBody>
      </p:sp>
      <p:sp>
        <p:nvSpPr>
          <p:cNvPr id="28" name="AutoShape 6">
            <a:extLst>
              <a:ext uri="{FF2B5EF4-FFF2-40B4-BE49-F238E27FC236}">
                <a16:creationId xmlns:a16="http://schemas.microsoft.com/office/drawing/2014/main" id="{78DB69FC-5179-071E-AC7A-8B3262F7D2F8}"/>
              </a:ext>
            </a:extLst>
          </p:cNvPr>
          <p:cNvSpPr/>
          <p:nvPr/>
        </p:nvSpPr>
        <p:spPr>
          <a:xfrm rot="16200000">
            <a:off x="10595692" y="6257949"/>
            <a:ext cx="2673722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AutoShape 6">
            <a:extLst>
              <a:ext uri="{FF2B5EF4-FFF2-40B4-BE49-F238E27FC236}">
                <a16:creationId xmlns:a16="http://schemas.microsoft.com/office/drawing/2014/main" id="{08117707-83F2-DC8C-4845-79A1487FA876}"/>
              </a:ext>
            </a:extLst>
          </p:cNvPr>
          <p:cNvSpPr/>
          <p:nvPr/>
        </p:nvSpPr>
        <p:spPr>
          <a:xfrm rot="16200000">
            <a:off x="13598339" y="6285834"/>
            <a:ext cx="2673722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Box 9"/>
          <p:cNvSpPr txBox="1"/>
          <p:nvPr/>
        </p:nvSpPr>
        <p:spPr>
          <a:xfrm>
            <a:off x="3395180" y="6408555"/>
            <a:ext cx="2460670" cy="1895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0"/>
              </a:lnSpc>
            </a:pPr>
            <a:r>
              <a:rPr lang="fr-FR" sz="2300" noProof="0" dirty="0">
                <a:solidFill>
                  <a:srgbClr val="000000"/>
                </a:solidFill>
                <a:latin typeface="Open Sauce"/>
              </a:rPr>
              <a:t>Ecart de rémunération F/H </a:t>
            </a:r>
            <a:r>
              <a:rPr lang="fr-FR" sz="2400" dirty="0">
                <a:solidFill>
                  <a:srgbClr val="000000"/>
                </a:solidFill>
                <a:latin typeface="Open Sauce"/>
              </a:rPr>
              <a:t>selon 6 CSP et 4 tranches d’âge</a:t>
            </a:r>
          </a:p>
          <a:p>
            <a:pPr algn="ctr">
              <a:lnSpc>
                <a:spcPts val="2990"/>
              </a:lnSpc>
            </a:pPr>
            <a:endParaRPr lang="fr-FR" sz="2300" noProof="0" dirty="0">
              <a:solidFill>
                <a:srgbClr val="000000"/>
              </a:solidFill>
              <a:latin typeface="Open Sauce"/>
            </a:endParaRPr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93F92A1B-6743-7541-A4F7-59FEDA19330E}"/>
              </a:ext>
            </a:extLst>
          </p:cNvPr>
          <p:cNvSpPr txBox="1"/>
          <p:nvPr/>
        </p:nvSpPr>
        <p:spPr>
          <a:xfrm>
            <a:off x="3395478" y="4919540"/>
            <a:ext cx="2462164" cy="1621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0"/>
              </a:lnSpc>
            </a:pPr>
            <a:r>
              <a:rPr lang="fr-FR" sz="2600" dirty="0">
                <a:solidFill>
                  <a:srgbClr val="000000"/>
                </a:solidFill>
                <a:latin typeface="Open Sauce Bold"/>
              </a:rPr>
              <a:t>Rémunération moyenne mensuelle</a:t>
            </a:r>
            <a:endParaRPr lang="fr-FR" sz="2600" noProof="0" dirty="0">
              <a:solidFill>
                <a:srgbClr val="000000"/>
              </a:solidFill>
              <a:latin typeface="Open Sauce Bold"/>
            </a:endParaRPr>
          </a:p>
        </p:txBody>
      </p:sp>
      <p:sp>
        <p:nvSpPr>
          <p:cNvPr id="8" name="TextBox 16">
            <a:extLst>
              <a:ext uri="{FF2B5EF4-FFF2-40B4-BE49-F238E27FC236}">
                <a16:creationId xmlns:a16="http://schemas.microsoft.com/office/drawing/2014/main" id="{5D8A7FA5-2F88-29F4-07D8-86D132EFCE90}"/>
              </a:ext>
            </a:extLst>
          </p:cNvPr>
          <p:cNvSpPr txBox="1"/>
          <p:nvPr/>
        </p:nvSpPr>
        <p:spPr>
          <a:xfrm>
            <a:off x="6629400" y="2960906"/>
            <a:ext cx="5334000" cy="8396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80"/>
              </a:lnSpc>
            </a:pPr>
            <a:r>
              <a:rPr lang="fr-FR" sz="2600" noProof="0" dirty="0">
                <a:solidFill>
                  <a:schemeClr val="bg1"/>
                </a:solidFill>
                <a:latin typeface="Open Sauce Bold"/>
              </a:rPr>
              <a:t>5 indicateurs à étudier si </a:t>
            </a:r>
          </a:p>
          <a:p>
            <a:pPr algn="ctr">
              <a:lnSpc>
                <a:spcPts val="3380"/>
              </a:lnSpc>
            </a:pPr>
            <a:r>
              <a:rPr lang="fr-FR" sz="2600" dirty="0">
                <a:solidFill>
                  <a:schemeClr val="bg1"/>
                </a:solidFill>
                <a:latin typeface="Open Sauce Bold"/>
              </a:rPr>
              <a:t>l’entreprise &gt; </a:t>
            </a:r>
            <a:r>
              <a:rPr lang="fr-FR" sz="2600" noProof="0" dirty="0">
                <a:solidFill>
                  <a:schemeClr val="bg1"/>
                </a:solidFill>
                <a:latin typeface="Open Sauce Bold"/>
              </a:rPr>
              <a:t>250 salariés</a:t>
            </a:r>
          </a:p>
        </p:txBody>
      </p:sp>
      <p:sp>
        <p:nvSpPr>
          <p:cNvPr id="10" name="TextBox 16">
            <a:extLst>
              <a:ext uri="{FF2B5EF4-FFF2-40B4-BE49-F238E27FC236}">
                <a16:creationId xmlns:a16="http://schemas.microsoft.com/office/drawing/2014/main" id="{9C79DD84-B4B1-BFFD-343F-08F577000A83}"/>
              </a:ext>
            </a:extLst>
          </p:cNvPr>
          <p:cNvSpPr txBox="1"/>
          <p:nvPr/>
        </p:nvSpPr>
        <p:spPr>
          <a:xfrm>
            <a:off x="925087" y="9115298"/>
            <a:ext cx="5533419" cy="8396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80"/>
              </a:lnSpc>
            </a:pPr>
            <a:r>
              <a:rPr lang="fr-FR" sz="2000" noProof="0" dirty="0">
                <a:solidFill>
                  <a:srgbClr val="000000"/>
                </a:solidFill>
                <a:latin typeface="Open Sauce" panose="020B0604020202020204" charset="0"/>
              </a:rPr>
              <a:t>* : optionnel si ≤250 salariés</a:t>
            </a:r>
          </a:p>
          <a:p>
            <a:pPr>
              <a:lnSpc>
                <a:spcPts val="3380"/>
              </a:lnSpc>
            </a:pPr>
            <a:r>
              <a:rPr lang="fr-FR" sz="2000" noProof="0" dirty="0">
                <a:solidFill>
                  <a:srgbClr val="000000"/>
                </a:solidFill>
                <a:latin typeface="Open Sauce" panose="020B0604020202020204" charset="0"/>
              </a:rPr>
              <a:t>CM : Congé maternité</a:t>
            </a:r>
          </a:p>
        </p:txBody>
      </p:sp>
      <p:grpSp>
        <p:nvGrpSpPr>
          <p:cNvPr id="11" name="Group 8">
            <a:extLst>
              <a:ext uri="{FF2B5EF4-FFF2-40B4-BE49-F238E27FC236}">
                <a16:creationId xmlns:a16="http://schemas.microsoft.com/office/drawing/2014/main" id="{CFB6C2FE-151C-0747-9629-808106805994}"/>
              </a:ext>
            </a:extLst>
          </p:cNvPr>
          <p:cNvGrpSpPr/>
          <p:nvPr/>
        </p:nvGrpSpPr>
        <p:grpSpPr>
          <a:xfrm>
            <a:off x="1044173" y="1008740"/>
            <a:ext cx="4145937" cy="717383"/>
            <a:chOff x="0" y="0"/>
            <a:chExt cx="5527915" cy="956511"/>
          </a:xfrm>
        </p:grpSpPr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482EECB2-D3FA-8CC0-82E1-090B926C5052}"/>
                </a:ext>
              </a:extLst>
            </p:cNvPr>
            <p:cNvSpPr/>
            <p:nvPr/>
          </p:nvSpPr>
          <p:spPr>
            <a:xfrm>
              <a:off x="0" y="0"/>
              <a:ext cx="928685" cy="956511"/>
            </a:xfrm>
            <a:custGeom>
              <a:avLst/>
              <a:gdLst/>
              <a:ahLst/>
              <a:cxnLst/>
              <a:rect l="l" t="t" r="r" b="b"/>
              <a:pathLst>
                <a:path w="928685" h="956511">
                  <a:moveTo>
                    <a:pt x="0" y="0"/>
                  </a:moveTo>
                  <a:lnTo>
                    <a:pt x="928685" y="0"/>
                  </a:lnTo>
                  <a:lnTo>
                    <a:pt x="928685" y="956511"/>
                  </a:lnTo>
                  <a:lnTo>
                    <a:pt x="0" y="956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0" name="TextBox 10">
              <a:extLst>
                <a:ext uri="{FF2B5EF4-FFF2-40B4-BE49-F238E27FC236}">
                  <a16:creationId xmlns:a16="http://schemas.microsoft.com/office/drawing/2014/main" id="{B37679C7-FE32-19C8-78A2-6DA9935BC224}"/>
                </a:ext>
              </a:extLst>
            </p:cNvPr>
            <p:cNvSpPr txBox="1"/>
            <p:nvPr/>
          </p:nvSpPr>
          <p:spPr>
            <a:xfrm>
              <a:off x="1245662" y="290527"/>
              <a:ext cx="4282253" cy="327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66"/>
                </a:lnSpc>
                <a:spcBef>
                  <a:spcPct val="0"/>
                </a:spcBef>
              </a:pPr>
              <a:r>
                <a:rPr lang="fr-FR" sz="1476" noProof="0" dirty="0">
                  <a:solidFill>
                    <a:srgbClr val="000000"/>
                  </a:solidFill>
                  <a:latin typeface="Open Sauce Bold"/>
                </a:rPr>
                <a:t>4</a:t>
              </a:r>
            </a:p>
          </p:txBody>
        </p:sp>
      </p:grpSp>
      <p:graphicFrame>
        <p:nvGraphicFramePr>
          <p:cNvPr id="21" name="Table 3">
            <a:extLst>
              <a:ext uri="{FF2B5EF4-FFF2-40B4-BE49-F238E27FC236}">
                <a16:creationId xmlns:a16="http://schemas.microsoft.com/office/drawing/2014/main" id="{309E46FF-A2A8-C85D-B2CA-3580E586A6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2572737"/>
              </p:ext>
            </p:extLst>
          </p:nvPr>
        </p:nvGraphicFramePr>
        <p:xfrm>
          <a:off x="20486607" y="280119"/>
          <a:ext cx="4771220" cy="5938274"/>
        </p:xfrm>
        <a:graphic>
          <a:graphicData uri="http://schemas.openxmlformats.org/drawingml/2006/table">
            <a:tbl>
              <a:tblPr/>
              <a:tblGrid>
                <a:gridCol w="4771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38274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fr-FR" sz="2000" noProof="0" dirty="0">
                          <a:solidFill>
                            <a:srgbClr val="000000"/>
                          </a:solidFill>
                          <a:latin typeface="Open Sauce Bold"/>
                        </a:rPr>
                        <a:t>Retrouver les noms dans la liste</a:t>
                      </a:r>
                      <a:endParaRPr lang="fr-FR" sz="1100" noProof="0" dirty="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" name="TextBox 9">
            <a:extLst>
              <a:ext uri="{FF2B5EF4-FFF2-40B4-BE49-F238E27FC236}">
                <a16:creationId xmlns:a16="http://schemas.microsoft.com/office/drawing/2014/main" id="{30261966-0D08-34D4-EE25-EAAAEDE895F9}"/>
              </a:ext>
            </a:extLst>
          </p:cNvPr>
          <p:cNvSpPr txBox="1"/>
          <p:nvPr/>
        </p:nvSpPr>
        <p:spPr>
          <a:xfrm>
            <a:off x="464338" y="7177997"/>
            <a:ext cx="2460670" cy="1125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0"/>
              </a:lnSpc>
            </a:pPr>
            <a:r>
              <a:rPr lang="fr-FR" sz="2300" dirty="0">
                <a:solidFill>
                  <a:srgbClr val="000000"/>
                </a:solidFill>
                <a:latin typeface="Open Sauce"/>
              </a:rPr>
              <a:t>Nombre de salariés par service</a:t>
            </a:r>
            <a:endParaRPr lang="fr-FR" sz="2400" dirty="0">
              <a:solidFill>
                <a:srgbClr val="000000"/>
              </a:solidFill>
              <a:latin typeface="Open Sauce"/>
            </a:endParaRPr>
          </a:p>
        </p:txBody>
      </p:sp>
      <p:sp>
        <p:nvSpPr>
          <p:cNvPr id="30" name="TextBox 13">
            <a:extLst>
              <a:ext uri="{FF2B5EF4-FFF2-40B4-BE49-F238E27FC236}">
                <a16:creationId xmlns:a16="http://schemas.microsoft.com/office/drawing/2014/main" id="{C3C4BBC8-6C7B-3690-CA4A-0CBD559785EA}"/>
              </a:ext>
            </a:extLst>
          </p:cNvPr>
          <p:cNvSpPr txBox="1"/>
          <p:nvPr/>
        </p:nvSpPr>
        <p:spPr>
          <a:xfrm>
            <a:off x="463591" y="4919536"/>
            <a:ext cx="2462164" cy="1275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0"/>
              </a:lnSpc>
            </a:pPr>
            <a:r>
              <a:rPr lang="fr-FR" sz="2600" dirty="0">
                <a:solidFill>
                  <a:srgbClr val="000000"/>
                </a:solidFill>
                <a:latin typeface="Open Sauce Bold"/>
              </a:rPr>
              <a:t>Répartition des effectifs par service</a:t>
            </a:r>
            <a:endParaRPr lang="fr-FR" sz="2600" noProof="0" dirty="0">
              <a:solidFill>
                <a:srgbClr val="000000"/>
              </a:solidFill>
              <a:latin typeface="Open Sauce Bold"/>
            </a:endParaRPr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D24DD1F5-F8DE-0BAB-1C65-4EA7D665F692}"/>
              </a:ext>
            </a:extLst>
          </p:cNvPr>
          <p:cNvSpPr/>
          <p:nvPr/>
        </p:nvSpPr>
        <p:spPr>
          <a:xfrm rot="16200000">
            <a:off x="1587757" y="6293374"/>
            <a:ext cx="2673722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F785D-8256-A575-06C4-F5EE2BA61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1031F46-8F61-7F91-3FDC-BC8073839F6D}"/>
              </a:ext>
            </a:extLst>
          </p:cNvPr>
          <p:cNvGrpSpPr/>
          <p:nvPr/>
        </p:nvGrpSpPr>
        <p:grpSpPr>
          <a:xfrm>
            <a:off x="-4926485" y="-1513365"/>
            <a:ext cx="13313729" cy="13313729"/>
            <a:chOff x="0" y="0"/>
            <a:chExt cx="6350000" cy="6350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12E88DC-9D7B-A00F-0393-FCFFB1E7DD3B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1EEEE"/>
            </a:solidFill>
          </p:spPr>
          <p:txBody>
            <a:bodyPr/>
            <a:lstStyle/>
            <a:p>
              <a:endParaRPr lang="fr-F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81B1E874-0A85-E510-451A-D848521A08D3}"/>
              </a:ext>
            </a:extLst>
          </p:cNvPr>
          <p:cNvGrpSpPr/>
          <p:nvPr/>
        </p:nvGrpSpPr>
        <p:grpSpPr>
          <a:xfrm>
            <a:off x="1028700" y="1816120"/>
            <a:ext cx="5835618" cy="4555174"/>
            <a:chOff x="0" y="9525"/>
            <a:chExt cx="7780825" cy="6073567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4E1B330-FC51-B399-47E6-C90B066D2A25}"/>
                </a:ext>
              </a:extLst>
            </p:cNvPr>
            <p:cNvSpPr txBox="1"/>
            <p:nvPr/>
          </p:nvSpPr>
          <p:spPr>
            <a:xfrm>
              <a:off x="0" y="9525"/>
              <a:ext cx="7760194" cy="27260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8399"/>
                </a:lnSpc>
              </a:pPr>
              <a:r>
                <a:rPr lang="fr-FR" sz="5000" u="none" spc="-139" noProof="0" dirty="0">
                  <a:solidFill>
                    <a:srgbClr val="000000"/>
                  </a:solidFill>
                  <a:latin typeface="Antonio Bold"/>
                </a:rPr>
                <a:t>IV-Répartition des effectifs par  service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5C3CF56-497A-5AE7-36CB-91A85EC0FE07}"/>
                </a:ext>
              </a:extLst>
            </p:cNvPr>
            <p:cNvSpPr txBox="1"/>
            <p:nvPr/>
          </p:nvSpPr>
          <p:spPr>
            <a:xfrm>
              <a:off x="20631" y="3149382"/>
              <a:ext cx="7760194" cy="2933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3390" lvl="1" indent="-226695">
                <a:lnSpc>
                  <a:spcPts val="2940"/>
                </a:lnSpc>
                <a:buFont typeface="Arial"/>
                <a:buChar char="•"/>
              </a:pPr>
              <a:r>
                <a:rPr lang="fr-FR" sz="2100" dirty="0">
                  <a:solidFill>
                    <a:srgbClr val="000000"/>
                  </a:solidFill>
                  <a:latin typeface="Open Sauce"/>
                </a:rPr>
                <a:t>Calculs des indicateurs clés sont pondérés par le nombre de salariés </a:t>
              </a:r>
            </a:p>
            <a:p>
              <a:pPr marL="226695" lvl="1">
                <a:lnSpc>
                  <a:spcPts val="2940"/>
                </a:lnSpc>
              </a:pPr>
              <a:endParaRPr lang="fr-FR" sz="2100" dirty="0">
                <a:solidFill>
                  <a:srgbClr val="000000"/>
                </a:solidFill>
                <a:latin typeface="Open Sauce"/>
              </a:endParaRPr>
            </a:p>
            <a:p>
              <a:pPr marL="453390" lvl="1" indent="-226695">
                <a:lnSpc>
                  <a:spcPts val="2940"/>
                </a:lnSpc>
                <a:buFont typeface="Arial"/>
                <a:buChar char="•"/>
              </a:pPr>
              <a:r>
                <a:rPr lang="fr-FR" sz="2100" dirty="0">
                  <a:solidFill>
                    <a:srgbClr val="000000"/>
                  </a:solidFill>
                  <a:latin typeface="Open Sauce"/>
                </a:rPr>
                <a:t>Si le nombre de salariés dans un groupe (F/H) est inférieur à 10, ce groupe n'est pas pris en compte dans l'analyse.</a:t>
              </a:r>
              <a:endParaRPr lang="fr-FR" sz="2100" noProof="0" dirty="0">
                <a:solidFill>
                  <a:srgbClr val="000000"/>
                </a:solidFill>
                <a:latin typeface="Open Sauce"/>
              </a:endParaRP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DD90B6F6-0FC7-4995-0719-CE632BEEE522}"/>
              </a:ext>
            </a:extLst>
          </p:cNvPr>
          <p:cNvGrpSpPr/>
          <p:nvPr/>
        </p:nvGrpSpPr>
        <p:grpSpPr>
          <a:xfrm>
            <a:off x="1028700" y="8505825"/>
            <a:ext cx="3497550" cy="483841"/>
            <a:chOff x="0" y="0"/>
            <a:chExt cx="4663400" cy="645123"/>
          </a:xfrm>
        </p:grpSpPr>
        <p:sp>
          <p:nvSpPr>
            <p:cNvPr id="9" name="AutoShape 9">
              <a:extLst>
                <a:ext uri="{FF2B5EF4-FFF2-40B4-BE49-F238E27FC236}">
                  <a16:creationId xmlns:a16="http://schemas.microsoft.com/office/drawing/2014/main" id="{D43D6074-0174-0EEB-3617-31B514AB95EA}"/>
                </a:ext>
              </a:extLst>
            </p:cNvPr>
            <p:cNvSpPr/>
            <p:nvPr/>
          </p:nvSpPr>
          <p:spPr>
            <a:xfrm>
              <a:off x="0" y="0"/>
              <a:ext cx="4663400" cy="0"/>
            </a:xfrm>
            <a:prstGeom prst="line">
              <a:avLst/>
            </a:prstGeom>
            <a:ln w="1003300" cap="rnd">
              <a:solidFill>
                <a:srgbClr val="68D6A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FB9F976-B240-670C-C76C-EAF287B294AC}"/>
                </a:ext>
              </a:extLst>
            </p:cNvPr>
            <p:cNvSpPr txBox="1"/>
            <p:nvPr/>
          </p:nvSpPr>
          <p:spPr>
            <a:xfrm>
              <a:off x="0" y="369149"/>
              <a:ext cx="4663399" cy="2759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592"/>
                </a:lnSpc>
              </a:pPr>
              <a:r>
                <a:rPr lang="fr-FR" u="none" noProof="0" dirty="0">
                  <a:solidFill>
                    <a:srgbClr val="FFFFFF"/>
                  </a:solidFill>
                  <a:latin typeface="Open Sauce"/>
                  <a:hlinkClick r:id="rId3" action="ppaction://hlinksldjump"/>
                </a:rPr>
                <a:t>Retourner à la vue d'ensemble</a:t>
              </a:r>
              <a:endParaRPr lang="fr-FR" u="none" noProof="0" dirty="0">
                <a:solidFill>
                  <a:srgbClr val="FFFFFF"/>
                </a:solidFill>
                <a:latin typeface="Open Sauce"/>
              </a:endParaRPr>
            </a:p>
          </p:txBody>
        </p:sp>
      </p:grpSp>
      <p:sp>
        <p:nvSpPr>
          <p:cNvPr id="15" name="ZoneTexte 14">
            <a:extLst>
              <a:ext uri="{FF2B5EF4-FFF2-40B4-BE49-F238E27FC236}">
                <a16:creationId xmlns:a16="http://schemas.microsoft.com/office/drawing/2014/main" id="{1CAD428C-5536-A333-136A-F2FA057D11C6}"/>
              </a:ext>
            </a:extLst>
          </p:cNvPr>
          <p:cNvSpPr txBox="1"/>
          <p:nvPr/>
        </p:nvSpPr>
        <p:spPr>
          <a:xfrm>
            <a:off x="9612453" y="1369844"/>
            <a:ext cx="791955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600" dirty="0">
                <a:latin typeface="Open Sauce Bold" panose="020B0604020202020204" charset="0"/>
              </a:rPr>
              <a:t>Nombre de salariés par genre et par service</a:t>
            </a:r>
          </a:p>
        </p:txBody>
      </p:sp>
      <p:grpSp>
        <p:nvGrpSpPr>
          <p:cNvPr id="18" name="Group 8">
            <a:extLst>
              <a:ext uri="{FF2B5EF4-FFF2-40B4-BE49-F238E27FC236}">
                <a16:creationId xmlns:a16="http://schemas.microsoft.com/office/drawing/2014/main" id="{51D09FB5-ABCB-4835-2EF6-088A5703166E}"/>
              </a:ext>
            </a:extLst>
          </p:cNvPr>
          <p:cNvGrpSpPr/>
          <p:nvPr/>
        </p:nvGrpSpPr>
        <p:grpSpPr>
          <a:xfrm>
            <a:off x="1044173" y="1008740"/>
            <a:ext cx="4145937" cy="717383"/>
            <a:chOff x="0" y="0"/>
            <a:chExt cx="5527915" cy="956511"/>
          </a:xfrm>
        </p:grpSpPr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0724F741-B289-E463-2632-B130F9B6C4B2}"/>
                </a:ext>
              </a:extLst>
            </p:cNvPr>
            <p:cNvSpPr/>
            <p:nvPr/>
          </p:nvSpPr>
          <p:spPr>
            <a:xfrm>
              <a:off x="0" y="0"/>
              <a:ext cx="928685" cy="956511"/>
            </a:xfrm>
            <a:custGeom>
              <a:avLst/>
              <a:gdLst/>
              <a:ahLst/>
              <a:cxnLst/>
              <a:rect l="l" t="t" r="r" b="b"/>
              <a:pathLst>
                <a:path w="928685" h="956511">
                  <a:moveTo>
                    <a:pt x="0" y="0"/>
                  </a:moveTo>
                  <a:lnTo>
                    <a:pt x="928685" y="0"/>
                  </a:lnTo>
                  <a:lnTo>
                    <a:pt x="928685" y="956511"/>
                  </a:lnTo>
                  <a:lnTo>
                    <a:pt x="0" y="956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0" name="TextBox 10">
              <a:extLst>
                <a:ext uri="{FF2B5EF4-FFF2-40B4-BE49-F238E27FC236}">
                  <a16:creationId xmlns:a16="http://schemas.microsoft.com/office/drawing/2014/main" id="{516D3EB4-27DC-DCCC-3849-F762E878EB06}"/>
                </a:ext>
              </a:extLst>
            </p:cNvPr>
            <p:cNvSpPr txBox="1"/>
            <p:nvPr/>
          </p:nvSpPr>
          <p:spPr>
            <a:xfrm>
              <a:off x="1245662" y="290527"/>
              <a:ext cx="4282253" cy="327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66"/>
                </a:lnSpc>
                <a:spcBef>
                  <a:spcPct val="0"/>
                </a:spcBef>
              </a:pPr>
              <a:r>
                <a:rPr lang="fr-FR" sz="1476" noProof="0" dirty="0">
                  <a:solidFill>
                    <a:srgbClr val="000000"/>
                  </a:solidFill>
                  <a:latin typeface="Open Sauce Bold"/>
                </a:rPr>
                <a:t>5</a:t>
              </a:r>
            </a:p>
          </p:txBody>
        </p:sp>
      </p:grpSp>
      <p:graphicFrame>
        <p:nvGraphicFramePr>
          <p:cNvPr id="21" name="Table 3">
            <a:extLst>
              <a:ext uri="{FF2B5EF4-FFF2-40B4-BE49-F238E27FC236}">
                <a16:creationId xmlns:a16="http://schemas.microsoft.com/office/drawing/2014/main" id="{3033255B-C7BE-FCED-529C-2214E6F2D8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071559"/>
              </p:ext>
            </p:extLst>
          </p:nvPr>
        </p:nvGraphicFramePr>
        <p:xfrm>
          <a:off x="18897600" y="3159782"/>
          <a:ext cx="4618820" cy="5938274"/>
        </p:xfrm>
        <a:graphic>
          <a:graphicData uri="http://schemas.openxmlformats.org/drawingml/2006/table">
            <a:tbl>
              <a:tblPr/>
              <a:tblGrid>
                <a:gridCol w="4618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38274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fr-FR" sz="2000" noProof="0" dirty="0">
                          <a:solidFill>
                            <a:srgbClr val="000000"/>
                          </a:solidFill>
                          <a:latin typeface="Open Sauce Bold"/>
                        </a:rPr>
                        <a:t>Empilé par service (couleur contrasté) + graphique en fonction de tranche d’âge</a:t>
                      </a:r>
                      <a:endParaRPr lang="fr-FR" sz="1100" noProof="0" dirty="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" name="Image 12" descr="Une image contenant capture d’écran, texte, Caractère coloré, Rectangle&#10;&#10;Le contenu généré par l’IA peut être incorrect.">
            <a:extLst>
              <a:ext uri="{FF2B5EF4-FFF2-40B4-BE49-F238E27FC236}">
                <a16:creationId xmlns:a16="http://schemas.microsoft.com/office/drawing/2014/main" id="{FEF86C3B-AA6B-623B-0E73-4549005BFA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16" r="7000"/>
          <a:stretch>
            <a:fillRect/>
          </a:stretch>
        </p:blipFill>
        <p:spPr>
          <a:xfrm>
            <a:off x="9127785" y="2846476"/>
            <a:ext cx="8888892" cy="655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137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E7B3A-3AB6-F5AF-16AA-1C70C9E08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B2CE989-BEC3-270E-C156-B02E7A9230A1}"/>
              </a:ext>
            </a:extLst>
          </p:cNvPr>
          <p:cNvGrpSpPr/>
          <p:nvPr/>
        </p:nvGrpSpPr>
        <p:grpSpPr>
          <a:xfrm>
            <a:off x="-4926485" y="-1513365"/>
            <a:ext cx="13313729" cy="13313729"/>
            <a:chOff x="0" y="0"/>
            <a:chExt cx="6350000" cy="6350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FCF15C9-B4E4-A5CE-9873-BF3470F32763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1EEEE"/>
            </a:solidFill>
          </p:spPr>
          <p:txBody>
            <a:bodyPr/>
            <a:lstStyle/>
            <a:p>
              <a:endParaRPr lang="fr-F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B1257D7C-2783-4FA7-F1E1-7BE6CEC08176}"/>
              </a:ext>
            </a:extLst>
          </p:cNvPr>
          <p:cNvGrpSpPr/>
          <p:nvPr/>
        </p:nvGrpSpPr>
        <p:grpSpPr>
          <a:xfrm>
            <a:off x="1010979" y="1816120"/>
            <a:ext cx="5837866" cy="5595449"/>
            <a:chOff x="-23628" y="9525"/>
            <a:chExt cx="7783822" cy="746060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0B01D30-6292-4DBC-1246-BB86D66C6AA5}"/>
                </a:ext>
              </a:extLst>
            </p:cNvPr>
            <p:cNvSpPr txBox="1"/>
            <p:nvPr/>
          </p:nvSpPr>
          <p:spPr>
            <a:xfrm>
              <a:off x="0" y="9525"/>
              <a:ext cx="7760194" cy="41623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8399"/>
                </a:lnSpc>
              </a:pPr>
              <a:r>
                <a:rPr lang="fr-FR" sz="5000" u="none" spc="-139" noProof="0" dirty="0">
                  <a:solidFill>
                    <a:srgbClr val="000000"/>
                  </a:solidFill>
                  <a:latin typeface="Antonio Bold"/>
                </a:rPr>
                <a:t>IV-Faible écart de </a:t>
              </a:r>
            </a:p>
            <a:p>
              <a:pPr marL="0" lvl="0" indent="0">
                <a:lnSpc>
                  <a:spcPts val="8399"/>
                </a:lnSpc>
              </a:pPr>
              <a:r>
                <a:rPr lang="fr-FR" sz="5000" spc="-139" dirty="0">
                  <a:solidFill>
                    <a:srgbClr val="000000"/>
                  </a:solidFill>
                  <a:latin typeface="Antonio Bold"/>
                </a:rPr>
                <a:t>rémunération moyenne entre Femme/Homme</a:t>
              </a:r>
              <a:endParaRPr lang="fr-FR" sz="5000" u="none" spc="-139" noProof="0" dirty="0">
                <a:solidFill>
                  <a:srgbClr val="000000"/>
                </a:solidFill>
                <a:latin typeface="Antonio Bold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204BFE0-4828-5D8D-0B33-FE8AA5CF68B8}"/>
                </a:ext>
              </a:extLst>
            </p:cNvPr>
            <p:cNvSpPr txBox="1"/>
            <p:nvPr/>
          </p:nvSpPr>
          <p:spPr>
            <a:xfrm>
              <a:off x="-23628" y="4536415"/>
              <a:ext cx="7760194" cy="2933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3390" lvl="1" indent="-226695">
                <a:lnSpc>
                  <a:spcPts val="2940"/>
                </a:lnSpc>
                <a:buFont typeface="Arial"/>
                <a:buChar char="•"/>
              </a:pPr>
              <a:r>
                <a:rPr lang="fr-FR" sz="2100" noProof="0" dirty="0">
                  <a:solidFill>
                    <a:srgbClr val="000000"/>
                  </a:solidFill>
                  <a:latin typeface="Open Sauce"/>
                </a:rPr>
                <a:t>Objectif : Egalité parfaite des salaires moyens équivalents temps plein</a:t>
              </a:r>
            </a:p>
            <a:p>
              <a:pPr marL="226695" lvl="1">
                <a:lnSpc>
                  <a:spcPts val="2940"/>
                </a:lnSpc>
              </a:pPr>
              <a:endParaRPr lang="fr-FR" sz="2100" dirty="0">
                <a:solidFill>
                  <a:srgbClr val="000000"/>
                </a:solidFill>
                <a:latin typeface="Open Sauce"/>
              </a:endParaRPr>
            </a:p>
            <a:p>
              <a:pPr marL="453390" lvl="1" indent="-226695">
                <a:lnSpc>
                  <a:spcPts val="2940"/>
                </a:lnSpc>
                <a:buFont typeface="Arial"/>
                <a:buChar char="•"/>
              </a:pPr>
              <a:r>
                <a:rPr lang="fr-FR" sz="2100" noProof="0" dirty="0">
                  <a:solidFill>
                    <a:srgbClr val="000000"/>
                  </a:solidFill>
                  <a:latin typeface="Open Sauce"/>
                </a:rPr>
                <a:t>Faibles écarts dans la majorité des services :</a:t>
              </a:r>
            </a:p>
            <a:p>
              <a:pPr marL="910590" lvl="2" indent="-226695">
                <a:lnSpc>
                  <a:spcPts val="2940"/>
                </a:lnSpc>
                <a:buFont typeface="Arial"/>
                <a:buChar char="•"/>
              </a:pPr>
              <a:r>
                <a:rPr lang="fr-FR" sz="2100" dirty="0">
                  <a:solidFill>
                    <a:srgbClr val="000000"/>
                  </a:solidFill>
                  <a:latin typeface="Open Sauce"/>
                </a:rPr>
                <a:t>&lt;500 en général</a:t>
              </a:r>
              <a:endParaRPr lang="fr-FR" sz="2100" noProof="0" dirty="0">
                <a:solidFill>
                  <a:srgbClr val="000000"/>
                </a:solidFill>
                <a:latin typeface="Open Sauce"/>
              </a:endParaRP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F01FFC2E-5242-62A0-D9F3-55787E902DC3}"/>
              </a:ext>
            </a:extLst>
          </p:cNvPr>
          <p:cNvGrpSpPr/>
          <p:nvPr/>
        </p:nvGrpSpPr>
        <p:grpSpPr>
          <a:xfrm>
            <a:off x="1028700" y="8505825"/>
            <a:ext cx="3497550" cy="483841"/>
            <a:chOff x="0" y="0"/>
            <a:chExt cx="4663400" cy="645123"/>
          </a:xfrm>
        </p:grpSpPr>
        <p:sp>
          <p:nvSpPr>
            <p:cNvPr id="9" name="AutoShape 9">
              <a:extLst>
                <a:ext uri="{FF2B5EF4-FFF2-40B4-BE49-F238E27FC236}">
                  <a16:creationId xmlns:a16="http://schemas.microsoft.com/office/drawing/2014/main" id="{B8CD83BF-22C0-8C47-7239-8FF170D211C6}"/>
                </a:ext>
              </a:extLst>
            </p:cNvPr>
            <p:cNvSpPr/>
            <p:nvPr/>
          </p:nvSpPr>
          <p:spPr>
            <a:xfrm>
              <a:off x="0" y="0"/>
              <a:ext cx="4663400" cy="0"/>
            </a:xfrm>
            <a:prstGeom prst="line">
              <a:avLst/>
            </a:prstGeom>
            <a:ln w="1003300" cap="rnd">
              <a:solidFill>
                <a:srgbClr val="68D6A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0" name="TextBox 10">
              <a:hlinkClick r:id="rId3" action="ppaction://hlinksldjump"/>
              <a:extLst>
                <a:ext uri="{FF2B5EF4-FFF2-40B4-BE49-F238E27FC236}">
                  <a16:creationId xmlns:a16="http://schemas.microsoft.com/office/drawing/2014/main" id="{80172717-E2EF-4F07-73EF-8AA8F12EDC54}"/>
                </a:ext>
              </a:extLst>
            </p:cNvPr>
            <p:cNvSpPr txBox="1"/>
            <p:nvPr/>
          </p:nvSpPr>
          <p:spPr>
            <a:xfrm>
              <a:off x="0" y="369149"/>
              <a:ext cx="4663399" cy="2759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592"/>
                </a:lnSpc>
              </a:pPr>
              <a:r>
                <a:rPr lang="fr-FR" u="none" noProof="0" dirty="0">
                  <a:solidFill>
                    <a:srgbClr val="FFFFFF"/>
                  </a:solidFill>
                  <a:latin typeface="Open Sauce"/>
                  <a:hlinkClick r:id="rId3" action="ppaction://hlinksldjump"/>
                </a:rPr>
                <a:t>Retourner à la vue d'ensemble</a:t>
              </a:r>
              <a:endParaRPr lang="fr-FR" u="none" noProof="0" dirty="0">
                <a:solidFill>
                  <a:srgbClr val="FFFFFF"/>
                </a:solidFill>
                <a:latin typeface="Open Sauce"/>
              </a:endParaRPr>
            </a:p>
          </p:txBody>
        </p:sp>
      </p:grpSp>
      <p:pic>
        <p:nvPicPr>
          <p:cNvPr id="14" name="Image 13">
            <a:extLst>
              <a:ext uri="{FF2B5EF4-FFF2-40B4-BE49-F238E27FC236}">
                <a16:creationId xmlns:a16="http://schemas.microsoft.com/office/drawing/2014/main" id="{C057F2F2-55D6-9ADB-2E2C-47A9158425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01" t="8433" r="5308"/>
          <a:stretch/>
        </p:blipFill>
        <p:spPr>
          <a:xfrm>
            <a:off x="9144000" y="2983833"/>
            <a:ext cx="8856462" cy="6743700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D6A9179D-7D51-BF26-0252-D875529F2868}"/>
              </a:ext>
            </a:extLst>
          </p:cNvPr>
          <p:cNvSpPr txBox="1"/>
          <p:nvPr/>
        </p:nvSpPr>
        <p:spPr>
          <a:xfrm>
            <a:off x="9612453" y="1369844"/>
            <a:ext cx="791955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600" dirty="0">
                <a:latin typeface="Open Sauce Bold" panose="020B0604020202020204" charset="0"/>
              </a:rPr>
              <a:t>Salaire moyen équivalent temps plein par genre et par service</a:t>
            </a:r>
          </a:p>
        </p:txBody>
      </p:sp>
      <p:grpSp>
        <p:nvGrpSpPr>
          <p:cNvPr id="18" name="Group 8">
            <a:extLst>
              <a:ext uri="{FF2B5EF4-FFF2-40B4-BE49-F238E27FC236}">
                <a16:creationId xmlns:a16="http://schemas.microsoft.com/office/drawing/2014/main" id="{C0E7B7EB-CD09-F2D9-161A-EEF9D02E09DB}"/>
              </a:ext>
            </a:extLst>
          </p:cNvPr>
          <p:cNvGrpSpPr/>
          <p:nvPr/>
        </p:nvGrpSpPr>
        <p:grpSpPr>
          <a:xfrm>
            <a:off x="1044173" y="1008740"/>
            <a:ext cx="4145937" cy="717383"/>
            <a:chOff x="0" y="0"/>
            <a:chExt cx="5527915" cy="956511"/>
          </a:xfrm>
        </p:grpSpPr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B06FE09D-5B8B-04C9-10D0-DF037F162B55}"/>
                </a:ext>
              </a:extLst>
            </p:cNvPr>
            <p:cNvSpPr/>
            <p:nvPr/>
          </p:nvSpPr>
          <p:spPr>
            <a:xfrm>
              <a:off x="0" y="0"/>
              <a:ext cx="928685" cy="956511"/>
            </a:xfrm>
            <a:custGeom>
              <a:avLst/>
              <a:gdLst/>
              <a:ahLst/>
              <a:cxnLst/>
              <a:rect l="l" t="t" r="r" b="b"/>
              <a:pathLst>
                <a:path w="928685" h="956511">
                  <a:moveTo>
                    <a:pt x="0" y="0"/>
                  </a:moveTo>
                  <a:lnTo>
                    <a:pt x="928685" y="0"/>
                  </a:lnTo>
                  <a:lnTo>
                    <a:pt x="928685" y="956511"/>
                  </a:lnTo>
                  <a:lnTo>
                    <a:pt x="0" y="956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0" name="TextBox 10">
              <a:extLst>
                <a:ext uri="{FF2B5EF4-FFF2-40B4-BE49-F238E27FC236}">
                  <a16:creationId xmlns:a16="http://schemas.microsoft.com/office/drawing/2014/main" id="{7F606FCB-EF92-6E92-F13D-7785AB4B7320}"/>
                </a:ext>
              </a:extLst>
            </p:cNvPr>
            <p:cNvSpPr txBox="1"/>
            <p:nvPr/>
          </p:nvSpPr>
          <p:spPr>
            <a:xfrm>
              <a:off x="1245662" y="290527"/>
              <a:ext cx="4282253" cy="327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66"/>
                </a:lnSpc>
                <a:spcBef>
                  <a:spcPct val="0"/>
                </a:spcBef>
              </a:pPr>
              <a:r>
                <a:rPr lang="fr-FR" sz="1476" noProof="0" dirty="0">
                  <a:solidFill>
                    <a:srgbClr val="000000"/>
                  </a:solidFill>
                  <a:latin typeface="Open Sauce Bold"/>
                </a:rPr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18734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914A-C902-1093-FA85-03BF641BA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E2F157B-30B6-CF8E-8660-8A7B7A3C97F6}"/>
              </a:ext>
            </a:extLst>
          </p:cNvPr>
          <p:cNvGrpSpPr/>
          <p:nvPr/>
        </p:nvGrpSpPr>
        <p:grpSpPr>
          <a:xfrm>
            <a:off x="-4926485" y="-1513365"/>
            <a:ext cx="13313729" cy="13313729"/>
            <a:chOff x="0" y="0"/>
            <a:chExt cx="6350000" cy="6350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E632D1D-00C5-EEBB-4F8D-3102ED0D84E1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1EEEE"/>
            </a:solidFill>
          </p:spPr>
          <p:txBody>
            <a:bodyPr/>
            <a:lstStyle/>
            <a:p>
              <a:endParaRPr lang="fr-F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04EB4B66-3D4A-FF2D-2205-140E5BF28B5E}"/>
              </a:ext>
            </a:extLst>
          </p:cNvPr>
          <p:cNvGrpSpPr/>
          <p:nvPr/>
        </p:nvGrpSpPr>
        <p:grpSpPr>
          <a:xfrm>
            <a:off x="1028700" y="1816120"/>
            <a:ext cx="5820145" cy="5996052"/>
            <a:chOff x="0" y="9525"/>
            <a:chExt cx="7760194" cy="7994738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FB56A4B-3AA8-BF80-C019-F231929901F7}"/>
                </a:ext>
              </a:extLst>
            </p:cNvPr>
            <p:cNvSpPr txBox="1"/>
            <p:nvPr/>
          </p:nvSpPr>
          <p:spPr>
            <a:xfrm>
              <a:off x="0" y="9525"/>
              <a:ext cx="7760194" cy="55986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8399"/>
                </a:lnSpc>
              </a:pPr>
              <a:r>
                <a:rPr lang="fr-FR" sz="5000" u="none" spc="-139" noProof="0" dirty="0">
                  <a:solidFill>
                    <a:srgbClr val="000000"/>
                  </a:solidFill>
                  <a:latin typeface="Antonio Bold"/>
                </a:rPr>
                <a:t>IV-Grande disparité de répartition d’ augmentations dans certains services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0F9CEF5-A348-DBDC-7930-509EE1673972}"/>
                </a:ext>
              </a:extLst>
            </p:cNvPr>
            <p:cNvSpPr txBox="1"/>
            <p:nvPr/>
          </p:nvSpPr>
          <p:spPr>
            <a:xfrm>
              <a:off x="0" y="6062277"/>
              <a:ext cx="7760194" cy="19419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3390" lvl="1" indent="-226695">
                <a:lnSpc>
                  <a:spcPts val="2940"/>
                </a:lnSpc>
                <a:buFont typeface="Arial"/>
                <a:buChar char="•"/>
              </a:pPr>
              <a:r>
                <a:rPr lang="fr-FR" sz="2100" dirty="0">
                  <a:solidFill>
                    <a:srgbClr val="000000"/>
                  </a:solidFill>
                  <a:latin typeface="Open Sauce"/>
                </a:rPr>
                <a:t>Objectif : Limiter à </a:t>
              </a:r>
              <a:r>
                <a:rPr lang="fr-FR" sz="2100" dirty="0">
                  <a:solidFill>
                    <a:srgbClr val="000000"/>
                  </a:solidFill>
                  <a:latin typeface="Open Sauce Bold" panose="020B0604020202020204" charset="0"/>
                </a:rPr>
                <a:t>2% / 2 personnes </a:t>
              </a:r>
              <a:r>
                <a:rPr lang="fr-FR" sz="2100" dirty="0">
                  <a:solidFill>
                    <a:srgbClr val="000000"/>
                  </a:solidFill>
                  <a:latin typeface="Open Sauce"/>
                </a:rPr>
                <a:t>d’écart d’augmentation entre F/H</a:t>
              </a:r>
            </a:p>
            <a:p>
              <a:pPr marL="453390" lvl="1" indent="-226695">
                <a:lnSpc>
                  <a:spcPts val="2940"/>
                </a:lnSpc>
                <a:buFont typeface="Arial"/>
                <a:buChar char="•"/>
              </a:pPr>
              <a:r>
                <a:rPr lang="fr-FR" sz="2100" noProof="0" dirty="0">
                  <a:solidFill>
                    <a:srgbClr val="000000"/>
                  </a:solidFill>
                  <a:latin typeface="Open Sauce"/>
                </a:rPr>
                <a:t>Forte différence dans </a:t>
              </a:r>
              <a:r>
                <a:rPr lang="fr-FR" sz="2100" dirty="0">
                  <a:solidFill>
                    <a:srgbClr val="000000"/>
                  </a:solidFill>
                  <a:latin typeface="Open Sauce"/>
                </a:rPr>
                <a:t>certains services :</a:t>
              </a:r>
            </a:p>
            <a:p>
              <a:pPr marL="226695" lvl="1">
                <a:lnSpc>
                  <a:spcPts val="2940"/>
                </a:lnSpc>
              </a:pPr>
              <a:r>
                <a:rPr lang="fr-FR" sz="2100" dirty="0">
                  <a:solidFill>
                    <a:srgbClr val="000000"/>
                  </a:solidFill>
                  <a:latin typeface="Open Sauce"/>
                </a:rPr>
                <a:t>   Commercial, informatique, RH, Marketing</a:t>
              </a:r>
            </a:p>
          </p:txBody>
        </p:sp>
      </p:grpSp>
      <p:pic>
        <p:nvPicPr>
          <p:cNvPr id="14" name="Image 13">
            <a:extLst>
              <a:ext uri="{FF2B5EF4-FFF2-40B4-BE49-F238E27FC236}">
                <a16:creationId xmlns:a16="http://schemas.microsoft.com/office/drawing/2014/main" id="{25FC5B96-C475-BFFF-270B-1852F540CA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1" t="6623" r="6331" b="1021"/>
          <a:stretch/>
        </p:blipFill>
        <p:spPr>
          <a:xfrm>
            <a:off x="9545361" y="3215176"/>
            <a:ext cx="8265078" cy="6281014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50C44BD1-3B9A-5669-1C75-41D0ABBA62B6}"/>
              </a:ext>
            </a:extLst>
          </p:cNvPr>
          <p:cNvSpPr txBox="1"/>
          <p:nvPr/>
        </p:nvSpPr>
        <p:spPr>
          <a:xfrm>
            <a:off x="9718122" y="1369844"/>
            <a:ext cx="791955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600" dirty="0">
                <a:latin typeface="Open Sauce Bold" panose="020B0604020202020204" charset="0"/>
              </a:rPr>
              <a:t>Nombre d’augmentations par genre et par service</a:t>
            </a:r>
          </a:p>
        </p:txBody>
      </p:sp>
      <p:grpSp>
        <p:nvGrpSpPr>
          <p:cNvPr id="7" name="Group 8">
            <a:extLst>
              <a:ext uri="{FF2B5EF4-FFF2-40B4-BE49-F238E27FC236}">
                <a16:creationId xmlns:a16="http://schemas.microsoft.com/office/drawing/2014/main" id="{A5832C3F-781F-77FA-FCE7-D94123A21943}"/>
              </a:ext>
            </a:extLst>
          </p:cNvPr>
          <p:cNvGrpSpPr/>
          <p:nvPr/>
        </p:nvGrpSpPr>
        <p:grpSpPr>
          <a:xfrm>
            <a:off x="1044173" y="1008740"/>
            <a:ext cx="4145937" cy="717383"/>
            <a:chOff x="0" y="0"/>
            <a:chExt cx="5527915" cy="956511"/>
          </a:xfrm>
        </p:grpSpPr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D3E1439C-926B-26C0-3C33-7158E9358442}"/>
                </a:ext>
              </a:extLst>
            </p:cNvPr>
            <p:cNvSpPr/>
            <p:nvPr/>
          </p:nvSpPr>
          <p:spPr>
            <a:xfrm>
              <a:off x="0" y="0"/>
              <a:ext cx="928685" cy="956511"/>
            </a:xfrm>
            <a:custGeom>
              <a:avLst/>
              <a:gdLst/>
              <a:ahLst/>
              <a:cxnLst/>
              <a:rect l="l" t="t" r="r" b="b"/>
              <a:pathLst>
                <a:path w="928685" h="956511">
                  <a:moveTo>
                    <a:pt x="0" y="0"/>
                  </a:moveTo>
                  <a:lnTo>
                    <a:pt x="928685" y="0"/>
                  </a:lnTo>
                  <a:lnTo>
                    <a:pt x="928685" y="956511"/>
                  </a:lnTo>
                  <a:lnTo>
                    <a:pt x="0" y="956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2" name="TextBox 10">
              <a:extLst>
                <a:ext uri="{FF2B5EF4-FFF2-40B4-BE49-F238E27FC236}">
                  <a16:creationId xmlns:a16="http://schemas.microsoft.com/office/drawing/2014/main" id="{7AA237F8-9456-08BB-A58E-7A490EF72CAA}"/>
                </a:ext>
              </a:extLst>
            </p:cNvPr>
            <p:cNvSpPr txBox="1"/>
            <p:nvPr/>
          </p:nvSpPr>
          <p:spPr>
            <a:xfrm>
              <a:off x="1245662" y="290527"/>
              <a:ext cx="4282253" cy="327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66"/>
                </a:lnSpc>
                <a:spcBef>
                  <a:spcPct val="0"/>
                </a:spcBef>
              </a:pPr>
              <a:r>
                <a:rPr lang="fr-FR" sz="1476" noProof="0" dirty="0">
                  <a:solidFill>
                    <a:srgbClr val="000000"/>
                  </a:solidFill>
                  <a:latin typeface="Open Sauce Bold"/>
                </a:rPr>
                <a:t>7</a:t>
              </a:r>
            </a:p>
          </p:txBody>
        </p:sp>
      </p:grpSp>
      <p:grpSp>
        <p:nvGrpSpPr>
          <p:cNvPr id="13" name="Group 8">
            <a:extLst>
              <a:ext uri="{FF2B5EF4-FFF2-40B4-BE49-F238E27FC236}">
                <a16:creationId xmlns:a16="http://schemas.microsoft.com/office/drawing/2014/main" id="{A257468E-96FD-2088-1D6C-B007108DFCDD}"/>
              </a:ext>
            </a:extLst>
          </p:cNvPr>
          <p:cNvGrpSpPr/>
          <p:nvPr/>
        </p:nvGrpSpPr>
        <p:grpSpPr>
          <a:xfrm>
            <a:off x="1028700" y="8505825"/>
            <a:ext cx="3497550" cy="483841"/>
            <a:chOff x="0" y="0"/>
            <a:chExt cx="4663400" cy="645123"/>
          </a:xfrm>
        </p:grpSpPr>
        <p:sp>
          <p:nvSpPr>
            <p:cNvPr id="16" name="AutoShape 9">
              <a:extLst>
                <a:ext uri="{FF2B5EF4-FFF2-40B4-BE49-F238E27FC236}">
                  <a16:creationId xmlns:a16="http://schemas.microsoft.com/office/drawing/2014/main" id="{343FCA43-8FEB-AF73-81A8-74EBD58617D7}"/>
                </a:ext>
              </a:extLst>
            </p:cNvPr>
            <p:cNvSpPr/>
            <p:nvPr/>
          </p:nvSpPr>
          <p:spPr>
            <a:xfrm>
              <a:off x="0" y="0"/>
              <a:ext cx="4663400" cy="0"/>
            </a:xfrm>
            <a:prstGeom prst="line">
              <a:avLst/>
            </a:prstGeom>
            <a:ln w="1003300" cap="rnd">
              <a:solidFill>
                <a:srgbClr val="68D6A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7" name="TextBox 10">
              <a:hlinkClick r:id="rId6" action="ppaction://hlinksldjump"/>
              <a:extLst>
                <a:ext uri="{FF2B5EF4-FFF2-40B4-BE49-F238E27FC236}">
                  <a16:creationId xmlns:a16="http://schemas.microsoft.com/office/drawing/2014/main" id="{CCE7AF87-11D9-B9F7-3440-D2C59841CE95}"/>
                </a:ext>
              </a:extLst>
            </p:cNvPr>
            <p:cNvSpPr txBox="1"/>
            <p:nvPr/>
          </p:nvSpPr>
          <p:spPr>
            <a:xfrm>
              <a:off x="0" y="369149"/>
              <a:ext cx="4663399" cy="2759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592"/>
                </a:lnSpc>
              </a:pPr>
              <a:r>
                <a:rPr lang="fr-FR" u="none" noProof="0" dirty="0">
                  <a:solidFill>
                    <a:srgbClr val="FFFFFF"/>
                  </a:solidFill>
                  <a:latin typeface="Open Sauce"/>
                  <a:hlinkClick r:id="rId6" action="ppaction://hlinksldjump"/>
                </a:rPr>
                <a:t>Retourner à la vue d'ensemble</a:t>
              </a:r>
              <a:endParaRPr lang="fr-FR" u="none" noProof="0" dirty="0">
                <a:solidFill>
                  <a:srgbClr val="FFFFFF"/>
                </a:solidFill>
                <a:latin typeface="Open Sauce"/>
              </a:endParaRPr>
            </a:p>
          </p:txBody>
        </p:sp>
      </p:grpSp>
      <p:graphicFrame>
        <p:nvGraphicFramePr>
          <p:cNvPr id="10" name="Table 3">
            <a:extLst>
              <a:ext uri="{FF2B5EF4-FFF2-40B4-BE49-F238E27FC236}">
                <a16:creationId xmlns:a16="http://schemas.microsoft.com/office/drawing/2014/main" id="{A0D60FF3-D05D-2485-8E98-F604F62DD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235337"/>
              </p:ext>
            </p:extLst>
          </p:nvPr>
        </p:nvGraphicFramePr>
        <p:xfrm>
          <a:off x="18897600" y="3159782"/>
          <a:ext cx="4618820" cy="5938274"/>
        </p:xfrm>
        <a:graphic>
          <a:graphicData uri="http://schemas.openxmlformats.org/drawingml/2006/table">
            <a:tbl>
              <a:tblPr/>
              <a:tblGrid>
                <a:gridCol w="4618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38274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fr-FR" sz="2000" noProof="0" dirty="0">
                          <a:solidFill>
                            <a:srgbClr val="000000"/>
                          </a:solidFill>
                          <a:latin typeface="Open Sauce Bold"/>
                        </a:rPr>
                        <a:t>65% femmes augmenté dans le service (sur base par service) veut dire </a:t>
                      </a:r>
                      <a:endParaRPr lang="fr-FR" sz="1100" noProof="0" dirty="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473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A269D-1ED9-0DE1-A367-36E996525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A3EF5EA-995C-2757-A663-1718EF6F1601}"/>
              </a:ext>
            </a:extLst>
          </p:cNvPr>
          <p:cNvGrpSpPr/>
          <p:nvPr/>
        </p:nvGrpSpPr>
        <p:grpSpPr>
          <a:xfrm>
            <a:off x="-4926485" y="-1513365"/>
            <a:ext cx="13313729" cy="13313729"/>
            <a:chOff x="0" y="0"/>
            <a:chExt cx="6350000" cy="6350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4628D40-0BBA-E3C7-EC18-6B0FA2BE5AA0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1EEEE"/>
            </a:solidFill>
          </p:spPr>
          <p:txBody>
            <a:bodyPr/>
            <a:lstStyle/>
            <a:p>
              <a:endParaRPr lang="fr-F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D719869D-A364-C752-AD65-D94AC4651E24}"/>
              </a:ext>
            </a:extLst>
          </p:cNvPr>
          <p:cNvGrpSpPr/>
          <p:nvPr/>
        </p:nvGrpSpPr>
        <p:grpSpPr>
          <a:xfrm>
            <a:off x="1028699" y="1816120"/>
            <a:ext cx="5820146" cy="5967347"/>
            <a:chOff x="-1" y="9525"/>
            <a:chExt cx="7760195" cy="7956465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FD32096-7CC4-D2FF-F2BC-25799CA84E12}"/>
                </a:ext>
              </a:extLst>
            </p:cNvPr>
            <p:cNvSpPr txBox="1"/>
            <p:nvPr/>
          </p:nvSpPr>
          <p:spPr>
            <a:xfrm>
              <a:off x="0" y="9525"/>
              <a:ext cx="7760194" cy="41623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8399"/>
                </a:lnSpc>
              </a:pPr>
              <a:r>
                <a:rPr lang="fr-FR" sz="5000" u="none" spc="-139" noProof="0" dirty="0">
                  <a:solidFill>
                    <a:srgbClr val="000000"/>
                  </a:solidFill>
                  <a:latin typeface="Antonio Bold"/>
                </a:rPr>
                <a:t>IV-Faible différence de promotions dans l’ensemble des services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D2CC9600-A01B-1882-7E72-1E57675583E3}"/>
                </a:ext>
              </a:extLst>
            </p:cNvPr>
            <p:cNvSpPr txBox="1"/>
            <p:nvPr/>
          </p:nvSpPr>
          <p:spPr>
            <a:xfrm>
              <a:off x="-1" y="4536417"/>
              <a:ext cx="7760194" cy="34295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3390" lvl="1" indent="-226695">
                <a:lnSpc>
                  <a:spcPts val="2940"/>
                </a:lnSpc>
                <a:buFont typeface="Arial"/>
                <a:buChar char="•"/>
              </a:pPr>
              <a:r>
                <a:rPr lang="fr-FR" sz="2100" dirty="0">
                  <a:solidFill>
                    <a:srgbClr val="000000"/>
                  </a:solidFill>
                  <a:latin typeface="Open Sauce"/>
                </a:rPr>
                <a:t>Objectif : Limiter </a:t>
              </a:r>
              <a:r>
                <a:rPr lang="fr-FR" sz="2100" b="1" dirty="0">
                  <a:solidFill>
                    <a:srgbClr val="000000"/>
                  </a:solidFill>
                  <a:latin typeface="Open Sauce Bold" panose="020B0604020202020204" charset="0"/>
                </a:rPr>
                <a:t>2% / 2 personnes</a:t>
              </a:r>
              <a:r>
                <a:rPr lang="fr-FR" sz="2100" dirty="0">
                  <a:solidFill>
                    <a:srgbClr val="000000"/>
                  </a:solidFill>
                  <a:latin typeface="Open Sauce"/>
                </a:rPr>
                <a:t> d’écart d’augmentation entre F/H</a:t>
              </a:r>
            </a:p>
            <a:p>
              <a:pPr marL="226695" lvl="1">
                <a:lnSpc>
                  <a:spcPts val="2940"/>
                </a:lnSpc>
              </a:pPr>
              <a:endParaRPr lang="fr-FR" sz="2100" dirty="0">
                <a:solidFill>
                  <a:srgbClr val="000000"/>
                </a:solidFill>
                <a:latin typeface="Open Sauce"/>
              </a:endParaRPr>
            </a:p>
            <a:p>
              <a:pPr marL="453390" lvl="1" indent="-226695">
                <a:lnSpc>
                  <a:spcPts val="2940"/>
                </a:lnSpc>
                <a:buFont typeface="Arial"/>
                <a:buChar char="•"/>
              </a:pPr>
              <a:r>
                <a:rPr lang="fr-FR" sz="2100" noProof="0" dirty="0">
                  <a:solidFill>
                    <a:srgbClr val="000000"/>
                  </a:solidFill>
                  <a:latin typeface="Open Sauce"/>
                </a:rPr>
                <a:t>Forte différence dans les service</a:t>
              </a:r>
              <a:r>
                <a:rPr lang="fr-FR" sz="2100" dirty="0">
                  <a:solidFill>
                    <a:srgbClr val="000000"/>
                  </a:solidFill>
                  <a:latin typeface="Open Sauce"/>
                </a:rPr>
                <a:t>s </a:t>
              </a:r>
              <a:r>
                <a:rPr lang="fr-FR" sz="2100" noProof="0" dirty="0">
                  <a:solidFill>
                    <a:srgbClr val="000000"/>
                  </a:solidFill>
                  <a:latin typeface="Open Sauce"/>
                </a:rPr>
                <a:t>:</a:t>
              </a:r>
            </a:p>
            <a:p>
              <a:pPr marL="910590" lvl="2" indent="-226695">
                <a:lnSpc>
                  <a:spcPts val="2940"/>
                </a:lnSpc>
                <a:buFont typeface="Arial"/>
                <a:buChar char="•"/>
              </a:pPr>
              <a:r>
                <a:rPr lang="fr-FR" sz="2100" dirty="0">
                  <a:solidFill>
                    <a:srgbClr val="000000"/>
                  </a:solidFill>
                  <a:latin typeface="Open Sauce"/>
                </a:rPr>
                <a:t>RH, Compta finances, marketing</a:t>
              </a:r>
            </a:p>
            <a:p>
              <a:pPr marL="453390" lvl="1" indent="-226695">
                <a:lnSpc>
                  <a:spcPts val="2940"/>
                </a:lnSpc>
                <a:buFont typeface="Arial"/>
                <a:buChar char="•"/>
              </a:pPr>
              <a:r>
                <a:rPr lang="fr-FR" sz="2100" dirty="0">
                  <a:solidFill>
                    <a:srgbClr val="000000"/>
                  </a:solidFill>
                  <a:latin typeface="Open Sauce"/>
                </a:rPr>
                <a:t>Parfait équilibre dans les services :</a:t>
              </a:r>
            </a:p>
            <a:p>
              <a:pPr marL="910590" lvl="2" indent="-226695">
                <a:lnSpc>
                  <a:spcPts val="2940"/>
                </a:lnSpc>
                <a:buFont typeface="Arial"/>
                <a:buChar char="•"/>
              </a:pPr>
              <a:r>
                <a:rPr lang="fr-FR" sz="2100" dirty="0">
                  <a:solidFill>
                    <a:srgbClr val="000000"/>
                  </a:solidFill>
                  <a:latin typeface="Open Sauce"/>
                </a:rPr>
                <a:t>Commercial, consultant</a:t>
              </a:r>
              <a:endParaRPr lang="fr-FR" sz="2100" noProof="0" dirty="0">
                <a:solidFill>
                  <a:srgbClr val="000000"/>
                </a:solidFill>
                <a:latin typeface="Open Sauce"/>
              </a:endParaRPr>
            </a:p>
          </p:txBody>
        </p:sp>
      </p:grpSp>
      <p:pic>
        <p:nvPicPr>
          <p:cNvPr id="14" name="Image 13">
            <a:extLst>
              <a:ext uri="{FF2B5EF4-FFF2-40B4-BE49-F238E27FC236}">
                <a16:creationId xmlns:a16="http://schemas.microsoft.com/office/drawing/2014/main" id="{CE6B1A76-6A5F-F8E6-53F6-1263C4CEE1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01" t="6128" r="5308"/>
          <a:stretch/>
        </p:blipFill>
        <p:spPr>
          <a:xfrm>
            <a:off x="9410700" y="3166370"/>
            <a:ext cx="8534400" cy="6662014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8E08B8E9-6089-46B5-C95A-8703ED1AFD23}"/>
              </a:ext>
            </a:extLst>
          </p:cNvPr>
          <p:cNvSpPr txBox="1"/>
          <p:nvPr/>
        </p:nvSpPr>
        <p:spPr>
          <a:xfrm>
            <a:off x="9718122" y="1369844"/>
            <a:ext cx="791955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600" dirty="0">
                <a:latin typeface="Open Sauce Bold" panose="020B0604020202020204" charset="0"/>
              </a:rPr>
              <a:t>Nombre de promotions par genre et par service</a:t>
            </a:r>
          </a:p>
        </p:txBody>
      </p:sp>
      <p:grpSp>
        <p:nvGrpSpPr>
          <p:cNvPr id="7" name="Group 8">
            <a:extLst>
              <a:ext uri="{FF2B5EF4-FFF2-40B4-BE49-F238E27FC236}">
                <a16:creationId xmlns:a16="http://schemas.microsoft.com/office/drawing/2014/main" id="{8A970B51-4E43-151D-556D-67028405BDF7}"/>
              </a:ext>
            </a:extLst>
          </p:cNvPr>
          <p:cNvGrpSpPr/>
          <p:nvPr/>
        </p:nvGrpSpPr>
        <p:grpSpPr>
          <a:xfrm>
            <a:off x="1044173" y="1008740"/>
            <a:ext cx="4145937" cy="717383"/>
            <a:chOff x="0" y="0"/>
            <a:chExt cx="5527915" cy="956511"/>
          </a:xfrm>
        </p:grpSpPr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4D086788-B753-A92D-6D62-7ED5FE7E221E}"/>
                </a:ext>
              </a:extLst>
            </p:cNvPr>
            <p:cNvSpPr/>
            <p:nvPr/>
          </p:nvSpPr>
          <p:spPr>
            <a:xfrm>
              <a:off x="0" y="0"/>
              <a:ext cx="928685" cy="956511"/>
            </a:xfrm>
            <a:custGeom>
              <a:avLst/>
              <a:gdLst/>
              <a:ahLst/>
              <a:cxnLst/>
              <a:rect l="l" t="t" r="r" b="b"/>
              <a:pathLst>
                <a:path w="928685" h="956511">
                  <a:moveTo>
                    <a:pt x="0" y="0"/>
                  </a:moveTo>
                  <a:lnTo>
                    <a:pt x="928685" y="0"/>
                  </a:lnTo>
                  <a:lnTo>
                    <a:pt x="928685" y="956511"/>
                  </a:lnTo>
                  <a:lnTo>
                    <a:pt x="0" y="956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2" name="TextBox 10">
              <a:extLst>
                <a:ext uri="{FF2B5EF4-FFF2-40B4-BE49-F238E27FC236}">
                  <a16:creationId xmlns:a16="http://schemas.microsoft.com/office/drawing/2014/main" id="{7B070016-0E01-7A1C-F495-652A81BF89BC}"/>
                </a:ext>
              </a:extLst>
            </p:cNvPr>
            <p:cNvSpPr txBox="1"/>
            <p:nvPr/>
          </p:nvSpPr>
          <p:spPr>
            <a:xfrm>
              <a:off x="1245662" y="290527"/>
              <a:ext cx="4282253" cy="327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66"/>
                </a:lnSpc>
                <a:spcBef>
                  <a:spcPct val="0"/>
                </a:spcBef>
              </a:pPr>
              <a:r>
                <a:rPr lang="fr-FR" sz="1476" dirty="0">
                  <a:solidFill>
                    <a:srgbClr val="000000"/>
                  </a:solidFill>
                  <a:latin typeface="Open Sauce Bold"/>
                </a:rPr>
                <a:t>8</a:t>
              </a:r>
              <a:endParaRPr lang="fr-FR" sz="1476" noProof="0" dirty="0">
                <a:solidFill>
                  <a:srgbClr val="000000"/>
                </a:solidFill>
                <a:latin typeface="Open Sauce Bold"/>
              </a:endParaRPr>
            </a:p>
          </p:txBody>
        </p:sp>
      </p:grpSp>
      <p:grpSp>
        <p:nvGrpSpPr>
          <p:cNvPr id="13" name="Group 8">
            <a:extLst>
              <a:ext uri="{FF2B5EF4-FFF2-40B4-BE49-F238E27FC236}">
                <a16:creationId xmlns:a16="http://schemas.microsoft.com/office/drawing/2014/main" id="{ED13CF0A-8D65-7EDE-09CF-A4D71E1935AF}"/>
              </a:ext>
            </a:extLst>
          </p:cNvPr>
          <p:cNvGrpSpPr/>
          <p:nvPr/>
        </p:nvGrpSpPr>
        <p:grpSpPr>
          <a:xfrm>
            <a:off x="1028700" y="8505825"/>
            <a:ext cx="3497550" cy="483841"/>
            <a:chOff x="0" y="0"/>
            <a:chExt cx="4663400" cy="645123"/>
          </a:xfrm>
        </p:grpSpPr>
        <p:sp>
          <p:nvSpPr>
            <p:cNvPr id="16" name="AutoShape 9">
              <a:extLst>
                <a:ext uri="{FF2B5EF4-FFF2-40B4-BE49-F238E27FC236}">
                  <a16:creationId xmlns:a16="http://schemas.microsoft.com/office/drawing/2014/main" id="{D1B51DC3-0011-5FAB-09C2-9A61C52DBB8F}"/>
                </a:ext>
              </a:extLst>
            </p:cNvPr>
            <p:cNvSpPr/>
            <p:nvPr/>
          </p:nvSpPr>
          <p:spPr>
            <a:xfrm>
              <a:off x="0" y="0"/>
              <a:ext cx="4663400" cy="0"/>
            </a:xfrm>
            <a:prstGeom prst="line">
              <a:avLst/>
            </a:prstGeom>
            <a:ln w="1003300" cap="rnd">
              <a:solidFill>
                <a:srgbClr val="68D6A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7" name="TextBox 10">
              <a:extLst>
                <a:ext uri="{FF2B5EF4-FFF2-40B4-BE49-F238E27FC236}">
                  <a16:creationId xmlns:a16="http://schemas.microsoft.com/office/drawing/2014/main" id="{5581B714-04F6-5A0B-6820-FE1C5BF99152}"/>
                </a:ext>
              </a:extLst>
            </p:cNvPr>
            <p:cNvSpPr txBox="1"/>
            <p:nvPr/>
          </p:nvSpPr>
          <p:spPr>
            <a:xfrm>
              <a:off x="0" y="369149"/>
              <a:ext cx="4663399" cy="2759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592"/>
                </a:lnSpc>
              </a:pPr>
              <a:r>
                <a:rPr lang="fr-FR" u="none" noProof="0" dirty="0">
                  <a:solidFill>
                    <a:srgbClr val="FFFFFF"/>
                  </a:solidFill>
                  <a:latin typeface="Open Sauce"/>
                  <a:hlinkClick r:id="rId5" action="ppaction://hlinksldjump"/>
                </a:rPr>
                <a:t>Retourner à la vue d'ensemble</a:t>
              </a:r>
              <a:endParaRPr lang="fr-FR" u="none" noProof="0" dirty="0">
                <a:solidFill>
                  <a:srgbClr val="FFFFFF"/>
                </a:solidFill>
                <a:latin typeface="Open Sauce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0877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926485" y="-1513365"/>
            <a:ext cx="13313729" cy="13313729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1EEEE"/>
            </a:solidFill>
          </p:spPr>
          <p:txBody>
            <a:bodyPr/>
            <a:lstStyle/>
            <a:p>
              <a:endParaRPr lang="fr-FR" noProof="0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28699" y="1816120"/>
            <a:ext cx="5820146" cy="5223553"/>
            <a:chOff x="-1" y="9525"/>
            <a:chExt cx="7760195" cy="6964737"/>
          </a:xfrm>
        </p:grpSpPr>
        <p:sp>
          <p:nvSpPr>
            <p:cNvPr id="5" name="TextBox 5"/>
            <p:cNvSpPr txBox="1"/>
            <p:nvPr/>
          </p:nvSpPr>
          <p:spPr>
            <a:xfrm>
              <a:off x="0" y="9525"/>
              <a:ext cx="7760194" cy="41623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8399"/>
                </a:lnSpc>
              </a:pPr>
              <a:r>
                <a:rPr lang="fr-FR" sz="5000" u="none" spc="-139" noProof="0" dirty="0">
                  <a:solidFill>
                    <a:srgbClr val="000000"/>
                  </a:solidFill>
                  <a:latin typeface="Antonio Bold"/>
                </a:rPr>
                <a:t>IV – Toutes les femmes ont augmenté en retour du congé maternité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-1" y="4536414"/>
              <a:ext cx="7760194" cy="24378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3390" lvl="1" indent="-226695">
                <a:lnSpc>
                  <a:spcPts val="2940"/>
                </a:lnSpc>
                <a:buFont typeface="Arial"/>
                <a:buChar char="•"/>
              </a:pPr>
              <a:r>
                <a:rPr lang="fr-FR" sz="2100" dirty="0">
                  <a:solidFill>
                    <a:srgbClr val="000000"/>
                  </a:solidFill>
                  <a:latin typeface="Open Sauce"/>
                </a:rPr>
                <a:t>Objectif : </a:t>
              </a:r>
              <a:r>
                <a:rPr lang="fr-FR" sz="2100" b="1" dirty="0">
                  <a:solidFill>
                    <a:srgbClr val="000000"/>
                  </a:solidFill>
                  <a:latin typeface="Open Sauce Bold" panose="020B0604020202020204" charset="0"/>
                </a:rPr>
                <a:t>TOUTES</a:t>
              </a:r>
              <a:r>
                <a:rPr lang="fr-FR" sz="2100" dirty="0">
                  <a:solidFill>
                    <a:srgbClr val="000000"/>
                  </a:solidFill>
                  <a:latin typeface="Open Sauce"/>
                </a:rPr>
                <a:t> les personnes en retour de congé maternité doivent bénéficier d'une augmentation</a:t>
              </a:r>
            </a:p>
            <a:p>
              <a:pPr marL="226695" lvl="1">
                <a:lnSpc>
                  <a:spcPts val="2940"/>
                </a:lnSpc>
              </a:pPr>
              <a:endParaRPr lang="fr-FR" sz="2100" dirty="0">
                <a:solidFill>
                  <a:srgbClr val="000000"/>
                </a:solidFill>
                <a:latin typeface="Open Sauce"/>
              </a:endParaRPr>
            </a:p>
            <a:p>
              <a:pPr marL="453390" lvl="1" indent="-226695">
                <a:lnSpc>
                  <a:spcPts val="2940"/>
                </a:lnSpc>
                <a:buFont typeface="Arial"/>
                <a:buChar char="•"/>
              </a:pPr>
              <a:r>
                <a:rPr lang="fr-FR" sz="2100" dirty="0">
                  <a:solidFill>
                    <a:srgbClr val="000000"/>
                  </a:solidFill>
                  <a:latin typeface="Open Sauce"/>
                </a:rPr>
                <a:t>(8/8) </a:t>
              </a:r>
              <a:r>
                <a:rPr lang="fr-FR" sz="2100" dirty="0">
                  <a:solidFill>
                    <a:srgbClr val="000000"/>
                  </a:solidFill>
                  <a:latin typeface="Open Sauce Bold" panose="020B0604020202020204" charset="0"/>
                </a:rPr>
                <a:t>100% =&gt; Objectif réalisé</a:t>
              </a:r>
              <a:endParaRPr lang="fr-FR" sz="2100" noProof="0" dirty="0">
                <a:solidFill>
                  <a:srgbClr val="000000"/>
                </a:solidFill>
                <a:latin typeface="Open Sauce Bold" panose="020B0604020202020204" charset="0"/>
              </a:endParaRPr>
            </a:p>
          </p:txBody>
        </p:sp>
      </p:grpSp>
      <p:sp>
        <p:nvSpPr>
          <p:cNvPr id="11" name="ZoneTexte 10">
            <a:extLst>
              <a:ext uri="{FF2B5EF4-FFF2-40B4-BE49-F238E27FC236}">
                <a16:creationId xmlns:a16="http://schemas.microsoft.com/office/drawing/2014/main" id="{1263650B-F801-1BCF-8930-CEF563FE2375}"/>
              </a:ext>
            </a:extLst>
          </p:cNvPr>
          <p:cNvSpPr txBox="1"/>
          <p:nvPr/>
        </p:nvSpPr>
        <p:spPr>
          <a:xfrm>
            <a:off x="9485099" y="1369844"/>
            <a:ext cx="791955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600" dirty="0">
                <a:latin typeface="Open Sauce Bold" panose="020B0604020202020204" charset="0"/>
              </a:rPr>
              <a:t>Nombre de salariées ayant bénéficié d'une augmentation à leur retour de CM</a:t>
            </a:r>
          </a:p>
        </p:txBody>
      </p:sp>
      <p:pic>
        <p:nvPicPr>
          <p:cNvPr id="13" name="Image 12" descr="Une image contenant texte, capture d’écran, Rectangle, diagramme&#10;&#10;Le contenu généré par l’IA peut être incorrect.">
            <a:extLst>
              <a:ext uri="{FF2B5EF4-FFF2-40B4-BE49-F238E27FC236}">
                <a16:creationId xmlns:a16="http://schemas.microsoft.com/office/drawing/2014/main" id="{50D01826-2F67-7DEA-3F7F-A99E3E8E70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98"/>
          <a:stretch/>
        </p:blipFill>
        <p:spPr>
          <a:xfrm>
            <a:off x="18920637" y="-647700"/>
            <a:ext cx="9211355" cy="6452727"/>
          </a:xfrm>
          <a:prstGeom prst="rect">
            <a:avLst/>
          </a:prstGeom>
        </p:spPr>
      </p:pic>
      <p:grpSp>
        <p:nvGrpSpPr>
          <p:cNvPr id="14" name="Group 8">
            <a:extLst>
              <a:ext uri="{FF2B5EF4-FFF2-40B4-BE49-F238E27FC236}">
                <a16:creationId xmlns:a16="http://schemas.microsoft.com/office/drawing/2014/main" id="{8B50C022-BB9A-F014-153F-C60D01AE8E7D}"/>
              </a:ext>
            </a:extLst>
          </p:cNvPr>
          <p:cNvGrpSpPr/>
          <p:nvPr/>
        </p:nvGrpSpPr>
        <p:grpSpPr>
          <a:xfrm>
            <a:off x="1044173" y="1008740"/>
            <a:ext cx="4145937" cy="717383"/>
            <a:chOff x="0" y="0"/>
            <a:chExt cx="5527915" cy="956511"/>
          </a:xfrm>
        </p:grpSpPr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6B24FABC-B0F8-F6E7-3AA3-65A46AC44A2A}"/>
                </a:ext>
              </a:extLst>
            </p:cNvPr>
            <p:cNvSpPr/>
            <p:nvPr/>
          </p:nvSpPr>
          <p:spPr>
            <a:xfrm>
              <a:off x="0" y="0"/>
              <a:ext cx="928685" cy="956511"/>
            </a:xfrm>
            <a:custGeom>
              <a:avLst/>
              <a:gdLst/>
              <a:ahLst/>
              <a:cxnLst/>
              <a:rect l="l" t="t" r="r" b="b"/>
              <a:pathLst>
                <a:path w="928685" h="956511">
                  <a:moveTo>
                    <a:pt x="0" y="0"/>
                  </a:moveTo>
                  <a:lnTo>
                    <a:pt x="928685" y="0"/>
                  </a:lnTo>
                  <a:lnTo>
                    <a:pt x="928685" y="956511"/>
                  </a:lnTo>
                  <a:lnTo>
                    <a:pt x="0" y="956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6" name="TextBox 10">
              <a:extLst>
                <a:ext uri="{FF2B5EF4-FFF2-40B4-BE49-F238E27FC236}">
                  <a16:creationId xmlns:a16="http://schemas.microsoft.com/office/drawing/2014/main" id="{21E133B2-3C08-0AF6-8683-0EE65807C9AD}"/>
                </a:ext>
              </a:extLst>
            </p:cNvPr>
            <p:cNvSpPr txBox="1"/>
            <p:nvPr/>
          </p:nvSpPr>
          <p:spPr>
            <a:xfrm>
              <a:off x="1245662" y="290527"/>
              <a:ext cx="4282253" cy="327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66"/>
                </a:lnSpc>
                <a:spcBef>
                  <a:spcPct val="0"/>
                </a:spcBef>
              </a:pPr>
              <a:r>
                <a:rPr lang="fr-FR" sz="1476" dirty="0">
                  <a:solidFill>
                    <a:srgbClr val="000000"/>
                  </a:solidFill>
                  <a:latin typeface="Open Sauce Bold"/>
                </a:rPr>
                <a:t>9</a:t>
              </a:r>
              <a:endParaRPr lang="fr-FR" sz="1476" noProof="0" dirty="0">
                <a:solidFill>
                  <a:srgbClr val="000000"/>
                </a:solidFill>
                <a:latin typeface="Open Sauce Bold"/>
              </a:endParaRPr>
            </a:p>
          </p:txBody>
        </p:sp>
      </p:grpSp>
      <p:grpSp>
        <p:nvGrpSpPr>
          <p:cNvPr id="17" name="Group 8">
            <a:extLst>
              <a:ext uri="{FF2B5EF4-FFF2-40B4-BE49-F238E27FC236}">
                <a16:creationId xmlns:a16="http://schemas.microsoft.com/office/drawing/2014/main" id="{03EC84F5-3F3B-CE91-6EE5-212F60525D0D}"/>
              </a:ext>
            </a:extLst>
          </p:cNvPr>
          <p:cNvGrpSpPr/>
          <p:nvPr/>
        </p:nvGrpSpPr>
        <p:grpSpPr>
          <a:xfrm>
            <a:off x="1028700" y="8505825"/>
            <a:ext cx="3497550" cy="483841"/>
            <a:chOff x="0" y="0"/>
            <a:chExt cx="4663400" cy="645123"/>
          </a:xfrm>
        </p:grpSpPr>
        <p:sp>
          <p:nvSpPr>
            <p:cNvPr id="18" name="AutoShape 9">
              <a:extLst>
                <a:ext uri="{FF2B5EF4-FFF2-40B4-BE49-F238E27FC236}">
                  <a16:creationId xmlns:a16="http://schemas.microsoft.com/office/drawing/2014/main" id="{B00EE747-508A-7D0D-CC00-49B22F6B434B}"/>
                </a:ext>
              </a:extLst>
            </p:cNvPr>
            <p:cNvSpPr/>
            <p:nvPr/>
          </p:nvSpPr>
          <p:spPr>
            <a:xfrm>
              <a:off x="0" y="0"/>
              <a:ext cx="4663400" cy="0"/>
            </a:xfrm>
            <a:prstGeom prst="line">
              <a:avLst/>
            </a:prstGeom>
            <a:ln w="1003300" cap="rnd">
              <a:solidFill>
                <a:srgbClr val="68D6A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9" name="TextBox 10">
              <a:extLst>
                <a:ext uri="{FF2B5EF4-FFF2-40B4-BE49-F238E27FC236}">
                  <a16:creationId xmlns:a16="http://schemas.microsoft.com/office/drawing/2014/main" id="{EE226DB3-EA54-EAE1-F78C-C313DB1040A8}"/>
                </a:ext>
              </a:extLst>
            </p:cNvPr>
            <p:cNvSpPr txBox="1"/>
            <p:nvPr/>
          </p:nvSpPr>
          <p:spPr>
            <a:xfrm>
              <a:off x="0" y="369149"/>
              <a:ext cx="4663399" cy="2759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592"/>
                </a:lnSpc>
              </a:pPr>
              <a:r>
                <a:rPr lang="fr-FR" u="none" noProof="0" dirty="0">
                  <a:solidFill>
                    <a:srgbClr val="FFFFFF"/>
                  </a:solidFill>
                  <a:latin typeface="Open Sauce"/>
                  <a:hlinkClick r:id="rId5" action="ppaction://hlinksldjump"/>
                </a:rPr>
                <a:t>Retourner à la vue d'ensemble</a:t>
              </a:r>
              <a:endParaRPr lang="fr-FR" u="none" noProof="0" dirty="0">
                <a:solidFill>
                  <a:srgbClr val="FFFFFF"/>
                </a:solidFill>
                <a:latin typeface="Open Sauce"/>
              </a:endParaRPr>
            </a:p>
          </p:txBody>
        </p:sp>
      </p:grpSp>
      <p:graphicFrame>
        <p:nvGraphicFramePr>
          <p:cNvPr id="7" name="Table 3">
            <a:extLst>
              <a:ext uri="{FF2B5EF4-FFF2-40B4-BE49-F238E27FC236}">
                <a16:creationId xmlns:a16="http://schemas.microsoft.com/office/drawing/2014/main" id="{20F2861F-3E87-3D18-D9FC-13CE95E86D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729492"/>
              </p:ext>
            </p:extLst>
          </p:nvPr>
        </p:nvGraphicFramePr>
        <p:xfrm>
          <a:off x="18897600" y="3159782"/>
          <a:ext cx="4618820" cy="5938274"/>
        </p:xfrm>
        <a:graphic>
          <a:graphicData uri="http://schemas.openxmlformats.org/drawingml/2006/table">
            <a:tbl>
              <a:tblPr/>
              <a:tblGrid>
                <a:gridCol w="4618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38274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fr-FR" sz="2000" noProof="0" dirty="0">
                          <a:solidFill>
                            <a:srgbClr val="000000"/>
                          </a:solidFill>
                          <a:latin typeface="Open Sauce Bold"/>
                        </a:rPr>
                        <a:t>Modifier le graphique</a:t>
                      </a:r>
                      <a:endParaRPr lang="fr-FR" sz="1100" noProof="0" dirty="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2" name="Image 11" descr="Une image contenant texte, capture d’écran, diagramme, Tracé&#10;&#10;Le contenu généré par l’IA peut être incorrect.">
            <a:extLst>
              <a:ext uri="{FF2B5EF4-FFF2-40B4-BE49-F238E27FC236}">
                <a16:creationId xmlns:a16="http://schemas.microsoft.com/office/drawing/2014/main" id="{5E554B43-0E68-148F-9360-480F91A989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62" r="8012"/>
          <a:stretch>
            <a:fillRect/>
          </a:stretch>
        </p:blipFill>
        <p:spPr>
          <a:xfrm>
            <a:off x="8910977" y="2960740"/>
            <a:ext cx="9067800" cy="682671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59E2F-2823-0E37-85E1-7543BD8D4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39E5148-AE9D-A581-0247-C36A5011134C}"/>
              </a:ext>
            </a:extLst>
          </p:cNvPr>
          <p:cNvGrpSpPr/>
          <p:nvPr/>
        </p:nvGrpSpPr>
        <p:grpSpPr>
          <a:xfrm>
            <a:off x="-4926485" y="-1513365"/>
            <a:ext cx="13313729" cy="13313729"/>
            <a:chOff x="0" y="0"/>
            <a:chExt cx="6350000" cy="6350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A2842AD-0E2D-7548-2E01-DCE816D6FBD4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1EEEE"/>
            </a:solidFill>
          </p:spPr>
          <p:txBody>
            <a:bodyPr/>
            <a:lstStyle/>
            <a:p>
              <a:endParaRPr lang="fr-F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D979E68A-1843-8F06-1845-A4E6DDC691B1}"/>
              </a:ext>
            </a:extLst>
          </p:cNvPr>
          <p:cNvGrpSpPr/>
          <p:nvPr/>
        </p:nvGrpSpPr>
        <p:grpSpPr>
          <a:xfrm>
            <a:off x="1028699" y="1816120"/>
            <a:ext cx="5820146" cy="5220895"/>
            <a:chOff x="-1" y="9525"/>
            <a:chExt cx="7760195" cy="696119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67ED83E-1413-E05C-9A7B-59011C6F464C}"/>
                </a:ext>
              </a:extLst>
            </p:cNvPr>
            <p:cNvSpPr txBox="1"/>
            <p:nvPr/>
          </p:nvSpPr>
          <p:spPr>
            <a:xfrm>
              <a:off x="0" y="9525"/>
              <a:ext cx="7760194" cy="4162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8399"/>
                </a:lnSpc>
              </a:pPr>
              <a:r>
                <a:rPr lang="fr-FR" sz="5000" u="none" spc="-139" noProof="0" dirty="0">
                  <a:solidFill>
                    <a:srgbClr val="000000"/>
                  </a:solidFill>
                  <a:latin typeface="Antonio Bold"/>
                </a:rPr>
                <a:t>IV - 30% des femmes parmi les 10 plus rémunérés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E398E53-845C-09CA-7836-AD1F3C0F9FD0}"/>
                </a:ext>
              </a:extLst>
            </p:cNvPr>
            <p:cNvSpPr txBox="1"/>
            <p:nvPr/>
          </p:nvSpPr>
          <p:spPr>
            <a:xfrm>
              <a:off x="-1" y="4532870"/>
              <a:ext cx="7760194" cy="24378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9595" lvl="1" indent="-342900">
                <a:lnSpc>
                  <a:spcPts val="2940"/>
                </a:lnSpc>
                <a:buFont typeface="Arial" panose="020B0604020202020204" pitchFamily="34" charset="0"/>
                <a:buChar char="•"/>
              </a:pPr>
              <a:r>
                <a:rPr lang="fr-FR" sz="2100" noProof="0" dirty="0">
                  <a:solidFill>
                    <a:srgbClr val="000000"/>
                  </a:solidFill>
                  <a:latin typeface="Open Sauce"/>
                </a:rPr>
                <a:t>Objectif : Atteindre un seuil de </a:t>
              </a:r>
              <a:r>
                <a:rPr lang="fr-FR" sz="2100" noProof="0" dirty="0">
                  <a:solidFill>
                    <a:srgbClr val="000000"/>
                  </a:solidFill>
                  <a:latin typeface="Open Sauce Bold" panose="020B0604020202020204" charset="0"/>
                </a:rPr>
                <a:t>4 femmes parmi les 10 </a:t>
              </a:r>
              <a:r>
                <a:rPr lang="fr-FR" sz="2100" noProof="0" dirty="0">
                  <a:solidFill>
                    <a:srgbClr val="000000"/>
                  </a:solidFill>
                  <a:latin typeface="Open Sauce"/>
                </a:rPr>
                <a:t>salariés les mieux rémunérés</a:t>
              </a:r>
            </a:p>
            <a:p>
              <a:pPr marL="226695" lvl="1">
                <a:lnSpc>
                  <a:spcPts val="2940"/>
                </a:lnSpc>
              </a:pPr>
              <a:endParaRPr lang="fr-FR" sz="2100" noProof="0" dirty="0">
                <a:solidFill>
                  <a:srgbClr val="000000"/>
                </a:solidFill>
                <a:latin typeface="Open Sauce"/>
              </a:endParaRPr>
            </a:p>
            <a:p>
              <a:pPr marL="569595" lvl="1" indent="-342900">
                <a:lnSpc>
                  <a:spcPts val="2940"/>
                </a:lnSpc>
                <a:buFont typeface="Arial" panose="020B0604020202020204" pitchFamily="34" charset="0"/>
                <a:buChar char="•"/>
              </a:pPr>
              <a:r>
                <a:rPr lang="fr-FR" sz="2100" dirty="0">
                  <a:solidFill>
                    <a:srgbClr val="000000"/>
                  </a:solidFill>
                  <a:latin typeface="Open Sauce"/>
                </a:rPr>
                <a:t>Nombre de femmes est insuffisant</a:t>
              </a:r>
              <a:endParaRPr lang="fr-FR" sz="2100" noProof="0" dirty="0">
                <a:solidFill>
                  <a:srgbClr val="000000"/>
                </a:solidFill>
                <a:latin typeface="Open Sauce"/>
              </a:endParaRPr>
            </a:p>
          </p:txBody>
        </p:sp>
      </p:grpSp>
      <p:pic>
        <p:nvPicPr>
          <p:cNvPr id="14" name="Image 13" descr="Une image contenant capture d’écran, cercle, texte, diagramme&#10;&#10;Le contenu généré par l’IA peut être incorrect.">
            <a:extLst>
              <a:ext uri="{FF2B5EF4-FFF2-40B4-BE49-F238E27FC236}">
                <a16:creationId xmlns:a16="http://schemas.microsoft.com/office/drawing/2014/main" id="{801EB7A8-E32F-4931-689C-611DD205D8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11" t="10826" r="12218"/>
          <a:stretch/>
        </p:blipFill>
        <p:spPr>
          <a:xfrm>
            <a:off x="9216612" y="2199351"/>
            <a:ext cx="8529156" cy="7508505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3B462173-A45D-F10F-C667-217045838BFA}"/>
              </a:ext>
            </a:extLst>
          </p:cNvPr>
          <p:cNvSpPr txBox="1"/>
          <p:nvPr/>
        </p:nvSpPr>
        <p:spPr>
          <a:xfrm>
            <a:off x="9216612" y="923568"/>
            <a:ext cx="852915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600" b="1" dirty="0">
                <a:latin typeface="Open Sauce Bold" panose="020B0604020202020204" charset="0"/>
              </a:rPr>
              <a:t>Répartition par genre des salariés parmi les 10 plus rémunérés de l’entreprise</a:t>
            </a:r>
          </a:p>
        </p:txBody>
      </p:sp>
      <p:grpSp>
        <p:nvGrpSpPr>
          <p:cNvPr id="17" name="Group 8">
            <a:extLst>
              <a:ext uri="{FF2B5EF4-FFF2-40B4-BE49-F238E27FC236}">
                <a16:creationId xmlns:a16="http://schemas.microsoft.com/office/drawing/2014/main" id="{1A3A02D2-BC6D-D26C-90B2-AE7AC1C25B6E}"/>
              </a:ext>
            </a:extLst>
          </p:cNvPr>
          <p:cNvGrpSpPr/>
          <p:nvPr/>
        </p:nvGrpSpPr>
        <p:grpSpPr>
          <a:xfrm>
            <a:off x="1044173" y="1008740"/>
            <a:ext cx="4145937" cy="717383"/>
            <a:chOff x="0" y="0"/>
            <a:chExt cx="5527915" cy="956511"/>
          </a:xfrm>
        </p:grpSpPr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A7224765-8267-168B-F452-884D8DE2C09A}"/>
                </a:ext>
              </a:extLst>
            </p:cNvPr>
            <p:cNvSpPr/>
            <p:nvPr/>
          </p:nvSpPr>
          <p:spPr>
            <a:xfrm>
              <a:off x="0" y="0"/>
              <a:ext cx="928685" cy="956511"/>
            </a:xfrm>
            <a:custGeom>
              <a:avLst/>
              <a:gdLst/>
              <a:ahLst/>
              <a:cxnLst/>
              <a:rect l="l" t="t" r="r" b="b"/>
              <a:pathLst>
                <a:path w="928685" h="956511">
                  <a:moveTo>
                    <a:pt x="0" y="0"/>
                  </a:moveTo>
                  <a:lnTo>
                    <a:pt x="928685" y="0"/>
                  </a:lnTo>
                  <a:lnTo>
                    <a:pt x="928685" y="956511"/>
                  </a:lnTo>
                  <a:lnTo>
                    <a:pt x="0" y="956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9" name="TextBox 10">
              <a:extLst>
                <a:ext uri="{FF2B5EF4-FFF2-40B4-BE49-F238E27FC236}">
                  <a16:creationId xmlns:a16="http://schemas.microsoft.com/office/drawing/2014/main" id="{1567456F-652A-088A-E3F3-003EC2787EA3}"/>
                </a:ext>
              </a:extLst>
            </p:cNvPr>
            <p:cNvSpPr txBox="1"/>
            <p:nvPr/>
          </p:nvSpPr>
          <p:spPr>
            <a:xfrm>
              <a:off x="1245662" y="290527"/>
              <a:ext cx="4282253" cy="327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66"/>
                </a:lnSpc>
                <a:spcBef>
                  <a:spcPct val="0"/>
                </a:spcBef>
              </a:pPr>
              <a:r>
                <a:rPr lang="fr-FR" sz="1476" noProof="0" dirty="0">
                  <a:solidFill>
                    <a:srgbClr val="000000"/>
                  </a:solidFill>
                  <a:latin typeface="Open Sauce Bold"/>
                </a:rPr>
                <a:t>10</a:t>
              </a:r>
            </a:p>
          </p:txBody>
        </p:sp>
      </p:grpSp>
      <p:grpSp>
        <p:nvGrpSpPr>
          <p:cNvPr id="20" name="Group 8">
            <a:extLst>
              <a:ext uri="{FF2B5EF4-FFF2-40B4-BE49-F238E27FC236}">
                <a16:creationId xmlns:a16="http://schemas.microsoft.com/office/drawing/2014/main" id="{5AF6BF4F-DF1A-D19B-C6E6-0B2F1978D840}"/>
              </a:ext>
            </a:extLst>
          </p:cNvPr>
          <p:cNvGrpSpPr/>
          <p:nvPr/>
        </p:nvGrpSpPr>
        <p:grpSpPr>
          <a:xfrm>
            <a:off x="1028700" y="8505825"/>
            <a:ext cx="3497550" cy="483841"/>
            <a:chOff x="0" y="0"/>
            <a:chExt cx="4663400" cy="645123"/>
          </a:xfrm>
        </p:grpSpPr>
        <p:sp>
          <p:nvSpPr>
            <p:cNvPr id="21" name="AutoShape 9">
              <a:extLst>
                <a:ext uri="{FF2B5EF4-FFF2-40B4-BE49-F238E27FC236}">
                  <a16:creationId xmlns:a16="http://schemas.microsoft.com/office/drawing/2014/main" id="{B574822E-951A-3D0B-0FD7-0D9D18D22236}"/>
                </a:ext>
              </a:extLst>
            </p:cNvPr>
            <p:cNvSpPr/>
            <p:nvPr/>
          </p:nvSpPr>
          <p:spPr>
            <a:xfrm>
              <a:off x="0" y="0"/>
              <a:ext cx="4663400" cy="0"/>
            </a:xfrm>
            <a:prstGeom prst="line">
              <a:avLst/>
            </a:prstGeom>
            <a:ln w="1003300" cap="rnd">
              <a:solidFill>
                <a:srgbClr val="68D6A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2" name="TextBox 10">
              <a:extLst>
                <a:ext uri="{FF2B5EF4-FFF2-40B4-BE49-F238E27FC236}">
                  <a16:creationId xmlns:a16="http://schemas.microsoft.com/office/drawing/2014/main" id="{610E4704-5EA3-5FE7-4568-5A4AA32AF8CD}"/>
                </a:ext>
              </a:extLst>
            </p:cNvPr>
            <p:cNvSpPr txBox="1"/>
            <p:nvPr/>
          </p:nvSpPr>
          <p:spPr>
            <a:xfrm>
              <a:off x="0" y="369149"/>
              <a:ext cx="4663399" cy="2759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592"/>
                </a:lnSpc>
              </a:pPr>
              <a:r>
                <a:rPr lang="fr-FR" u="none" noProof="0" dirty="0">
                  <a:solidFill>
                    <a:srgbClr val="FFFFFF"/>
                  </a:solidFill>
                  <a:latin typeface="Open Sauce"/>
                  <a:hlinkClick r:id="rId5" action="ppaction://hlinksldjump"/>
                </a:rPr>
                <a:t>Retourner à la vue d'ensemble</a:t>
              </a:r>
              <a:endParaRPr lang="fr-FR" u="none" noProof="0" dirty="0">
                <a:solidFill>
                  <a:srgbClr val="FFFFFF"/>
                </a:solidFill>
                <a:latin typeface="Open Sauce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77439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867400" y="6014516"/>
            <a:ext cx="10471590" cy="5235795"/>
          </a:xfrm>
          <a:custGeom>
            <a:avLst/>
            <a:gdLst/>
            <a:ahLst/>
            <a:cxnLst/>
            <a:rect l="l" t="t" r="r" b="b"/>
            <a:pathLst>
              <a:path w="10471590" h="5235795">
                <a:moveTo>
                  <a:pt x="0" y="0"/>
                </a:moveTo>
                <a:lnTo>
                  <a:pt x="10471589" y="0"/>
                </a:lnTo>
                <a:lnTo>
                  <a:pt x="10471589" y="5235795"/>
                </a:lnTo>
                <a:lnTo>
                  <a:pt x="0" y="52357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11032485" y="-7872960"/>
            <a:ext cx="10170480" cy="10170480"/>
            <a:chOff x="0" y="0"/>
            <a:chExt cx="6350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8D6A3"/>
            </a:solidFill>
          </p:spPr>
          <p:txBody>
            <a:bodyPr/>
            <a:lstStyle/>
            <a:p>
              <a:endParaRPr lang="fr-FR" noProof="0" dirty="0"/>
            </a:p>
          </p:txBody>
        </p:sp>
      </p:grp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7561809"/>
              </p:ext>
            </p:extLst>
          </p:nvPr>
        </p:nvGraphicFramePr>
        <p:xfrm>
          <a:off x="1017351" y="3942147"/>
          <a:ext cx="16508649" cy="4734827"/>
        </p:xfrm>
        <a:graphic>
          <a:graphicData uri="http://schemas.openxmlformats.org/drawingml/2006/table">
            <a:tbl>
              <a:tblPr/>
              <a:tblGrid>
                <a:gridCol w="33032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10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5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5512">
                  <a:extLst>
                    <a:ext uri="{9D8B030D-6E8A-4147-A177-3AD203B41FA5}">
                      <a16:colId xmlns:a16="http://schemas.microsoft.com/office/drawing/2014/main" val="3175829530"/>
                    </a:ext>
                  </a:extLst>
                </a:gridCol>
                <a:gridCol w="33032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86441">
                <a:tc>
                  <a:txBody>
                    <a:bodyPr/>
                    <a:lstStyle/>
                    <a:p>
                      <a:pPr algn="ctr">
                        <a:lnSpc>
                          <a:spcPts val="8400"/>
                        </a:lnSpc>
                        <a:defRPr/>
                      </a:pPr>
                      <a:r>
                        <a:rPr lang="fr-FR" sz="4800" noProof="0" dirty="0">
                          <a:solidFill>
                            <a:srgbClr val="FFFFFF"/>
                          </a:solidFill>
                          <a:latin typeface="Open Sauce Bold"/>
                        </a:rPr>
                        <a:t>37/40</a:t>
                      </a:r>
                      <a:endParaRPr lang="fr-FR" sz="1000" noProof="0" dirty="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fr-FR" sz="3200" noProof="0" dirty="0">
                          <a:solidFill>
                            <a:srgbClr val="FFFFFF"/>
                          </a:solidFill>
                          <a:latin typeface="Open Sauce Bold"/>
                        </a:rPr>
                        <a:t>Ecart de rémunération</a:t>
                      </a:r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B2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400"/>
                        </a:lnSpc>
                        <a:defRPr/>
                      </a:pPr>
                      <a:r>
                        <a:rPr lang="fr-FR" sz="4800" noProof="0" dirty="0">
                          <a:solidFill>
                            <a:srgbClr val="FFFFFF"/>
                          </a:solidFill>
                          <a:latin typeface="Open Sauce Bold"/>
                        </a:rPr>
                        <a:t>10/20</a:t>
                      </a:r>
                      <a:endParaRPr lang="fr-FR" sz="1000" noProof="0" dirty="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fr-FR" sz="3200" noProof="0" dirty="0">
                          <a:solidFill>
                            <a:srgbClr val="FFFFFF"/>
                          </a:solidFill>
                          <a:latin typeface="Open Sauce Bold"/>
                        </a:rPr>
                        <a:t>Ecart d’ augmentation</a:t>
                      </a:r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B2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400"/>
                        </a:lnSpc>
                        <a:defRPr/>
                      </a:pPr>
                      <a:r>
                        <a:rPr lang="fr-FR" sz="4800" noProof="0" dirty="0">
                          <a:solidFill>
                            <a:srgbClr val="FFFFFF"/>
                          </a:solidFill>
                          <a:latin typeface="Open Sauce Bold"/>
                        </a:rPr>
                        <a:t>15/15 </a:t>
                      </a:r>
                      <a:endParaRPr lang="fr-FR" sz="1000" noProof="0" dirty="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fr-FR" sz="3200" noProof="0" dirty="0">
                          <a:solidFill>
                            <a:srgbClr val="FFFFFF"/>
                          </a:solidFill>
                          <a:latin typeface="Open Sauce Bold"/>
                        </a:rPr>
                        <a:t>Ecart de 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fr-FR" sz="3200" noProof="0" dirty="0">
                          <a:solidFill>
                            <a:srgbClr val="FFFFFF"/>
                          </a:solidFill>
                          <a:latin typeface="Open Sauce Bold"/>
                        </a:rPr>
                        <a:t>promotions</a:t>
                      </a:r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B2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400"/>
                        </a:lnSpc>
                        <a:defRPr/>
                      </a:pPr>
                      <a:r>
                        <a:rPr lang="fr-FR" sz="4800" noProof="0" dirty="0">
                          <a:solidFill>
                            <a:srgbClr val="FFFFFF"/>
                          </a:solidFill>
                          <a:latin typeface="Open Sauce Bold"/>
                        </a:rPr>
                        <a:t>15/15 </a:t>
                      </a:r>
                      <a:endParaRPr lang="fr-FR" sz="1000" noProof="0" dirty="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fr-FR" sz="3200" noProof="0" dirty="0">
                          <a:solidFill>
                            <a:srgbClr val="FFFFFF"/>
                          </a:solidFill>
                          <a:latin typeface="Open Sauce Bold"/>
                        </a:rPr>
                        <a:t>Augmentation au retour de CM</a:t>
                      </a:r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B2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400"/>
                        </a:lnSpc>
                        <a:defRPr/>
                      </a:pPr>
                      <a:r>
                        <a:rPr lang="fr-FR" sz="4800" noProof="0" dirty="0">
                          <a:solidFill>
                            <a:srgbClr val="FFFFFF"/>
                          </a:solidFill>
                          <a:latin typeface="Open Sauce Bold"/>
                        </a:rPr>
                        <a:t>5/10</a:t>
                      </a:r>
                      <a:endParaRPr lang="fr-FR" sz="1000" noProof="0" dirty="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fr-FR" sz="3200" noProof="0" dirty="0">
                          <a:solidFill>
                            <a:srgbClr val="FFFFFF"/>
                          </a:solidFill>
                          <a:latin typeface="Open Sauce Bold"/>
                        </a:rPr>
                        <a:t>Parité parmi les salaires les plus hauts</a:t>
                      </a:r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B2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3987">
                <a:tc>
                  <a:txBody>
                    <a:bodyPr/>
                    <a:lstStyle/>
                    <a:p>
                      <a:pPr marL="431801" lvl="1" indent="-215900" algn="l">
                        <a:lnSpc>
                          <a:spcPts val="2800"/>
                        </a:lnSpc>
                        <a:buFont typeface="Arial"/>
                        <a:buChar char="•"/>
                        <a:defRPr/>
                      </a:pPr>
                      <a:r>
                        <a:rPr lang="fr-FR" sz="2000" noProof="0" dirty="0">
                          <a:solidFill>
                            <a:srgbClr val="000000"/>
                          </a:solidFill>
                          <a:latin typeface="Open Sauce"/>
                        </a:rPr>
                        <a:t>Egalité quasi parfaite F/H</a:t>
                      </a:r>
                      <a:endParaRPr lang="fr-FR" sz="1100" noProof="0" dirty="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/>
                    <a:lstStyle/>
                    <a:p>
                      <a:pPr marL="431801" lvl="1" indent="-215900" algn="l">
                        <a:lnSpc>
                          <a:spcPts val="2800"/>
                        </a:lnSpc>
                        <a:buFont typeface="Arial"/>
                        <a:buChar char="•"/>
                        <a:defRPr/>
                      </a:pPr>
                      <a:r>
                        <a:rPr lang="fr-FR" sz="2000" noProof="0" dirty="0">
                          <a:solidFill>
                            <a:srgbClr val="000000"/>
                          </a:solidFill>
                          <a:latin typeface="Open Sauce"/>
                        </a:rPr>
                        <a:t>Pas de respect parfait des augmentations</a:t>
                      </a:r>
                      <a:endParaRPr lang="fr-FR" sz="1100" noProof="0" dirty="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/>
                    <a:lstStyle/>
                    <a:p>
                      <a:pPr marL="431801" lvl="1" indent="-215900" algn="l">
                        <a:lnSpc>
                          <a:spcPts val="2800"/>
                        </a:lnSpc>
                        <a:buFont typeface="Arial"/>
                        <a:buChar char="•"/>
                        <a:defRPr/>
                      </a:pPr>
                      <a:r>
                        <a:rPr lang="fr-FR" sz="2000" noProof="0" dirty="0">
                          <a:solidFill>
                            <a:srgbClr val="000000"/>
                          </a:solidFill>
                          <a:latin typeface="Open Sauce"/>
                        </a:rPr>
                        <a:t>Différence F/H très faible dans l’ensemble des services</a:t>
                      </a:r>
                      <a:endParaRPr lang="fr-FR" sz="1100" noProof="0" dirty="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/>
                    <a:lstStyle/>
                    <a:p>
                      <a:pPr marL="558801" marR="0" lvl="1" indent="-342900" algn="l" defTabSz="914400" rtl="0" eaLnBrk="1" fontAlgn="auto" latinLnBrk="0" hangingPunct="1">
                        <a:lnSpc>
                          <a:spcPts val="2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2000" noProof="0" dirty="0">
                          <a:solidFill>
                            <a:srgbClr val="000000"/>
                          </a:solidFill>
                          <a:latin typeface="Open Sauce" panose="020B0604020202020204" charset="0"/>
                        </a:rPr>
                        <a:t>100% d’ augmentations au retour de CM</a:t>
                      </a:r>
                      <a:endParaRPr lang="fr-FR" sz="2000" noProof="0" dirty="0">
                        <a:latin typeface="Open Sauce" panose="020B0604020202020204" charset="0"/>
                      </a:endParaRPr>
                    </a:p>
                    <a:p>
                      <a:pPr marL="215901" lvl="1" indent="0" algn="l">
                        <a:lnSpc>
                          <a:spcPts val="2800"/>
                        </a:lnSpc>
                        <a:buFont typeface="Arial"/>
                        <a:buNone/>
                        <a:defRPr/>
                      </a:pPr>
                      <a:endParaRPr lang="fr-FR" sz="1100" noProof="0" dirty="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/>
                    <a:lstStyle/>
                    <a:p>
                      <a:pPr marL="431801" lvl="1" indent="-215900">
                        <a:lnSpc>
                          <a:spcPts val="2800"/>
                        </a:lnSpc>
                        <a:buFont typeface="Arial"/>
                        <a:buChar char="•"/>
                      </a:pPr>
                      <a:r>
                        <a:rPr lang="fr-FR" sz="2000" noProof="0" dirty="0">
                          <a:solidFill>
                            <a:srgbClr val="000000"/>
                          </a:solidFill>
                          <a:latin typeface="Open Sauce"/>
                        </a:rPr>
                        <a:t>30% de femmes parmi les plus hauts revenus</a:t>
                      </a:r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6" name="Group 6"/>
          <p:cNvGrpSpPr/>
          <p:nvPr/>
        </p:nvGrpSpPr>
        <p:grpSpPr>
          <a:xfrm>
            <a:off x="13721826" y="9612660"/>
            <a:ext cx="3508899" cy="483840"/>
            <a:chOff x="0" y="0"/>
            <a:chExt cx="4678532" cy="645119"/>
          </a:xfrm>
        </p:grpSpPr>
        <p:sp>
          <p:nvSpPr>
            <p:cNvPr id="7" name="AutoShape 7"/>
            <p:cNvSpPr/>
            <p:nvPr/>
          </p:nvSpPr>
          <p:spPr>
            <a:xfrm>
              <a:off x="0" y="0"/>
              <a:ext cx="4663400" cy="0"/>
            </a:xfrm>
            <a:prstGeom prst="line">
              <a:avLst/>
            </a:prstGeom>
            <a:ln w="1003300" cap="rnd">
              <a:solidFill>
                <a:srgbClr val="68D6A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132" y="369146"/>
              <a:ext cx="4663400" cy="27597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592"/>
                </a:lnSpc>
              </a:pPr>
              <a:r>
                <a:rPr lang="fr-FR" noProof="0" dirty="0">
                  <a:solidFill>
                    <a:srgbClr val="FFFFFF"/>
                  </a:solidFill>
                  <a:latin typeface="Open Sauce"/>
                  <a:hlinkClick r:id="rId4" action="ppaction://hlinksldjump"/>
                </a:rPr>
                <a:t>Retourner à la vue d'ensemble</a:t>
              </a:r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1964EED9-132C-955D-F584-72846E1556AC}"/>
              </a:ext>
            </a:extLst>
          </p:cNvPr>
          <p:cNvSpPr txBox="1"/>
          <p:nvPr/>
        </p:nvSpPr>
        <p:spPr>
          <a:xfrm>
            <a:off x="1042987" y="1121014"/>
            <a:ext cx="8183849" cy="1031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399"/>
              </a:lnSpc>
            </a:pPr>
            <a:r>
              <a:rPr lang="fr-FR" sz="6999" spc="-139" noProof="0" dirty="0">
                <a:solidFill>
                  <a:srgbClr val="000000"/>
                </a:solidFill>
                <a:latin typeface="Antonio Bold"/>
              </a:rPr>
              <a:t>Conclusion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F7B3C86-5483-C776-6759-9801A1FD0967}"/>
              </a:ext>
            </a:extLst>
          </p:cNvPr>
          <p:cNvSpPr txBox="1"/>
          <p:nvPr/>
        </p:nvSpPr>
        <p:spPr>
          <a:xfrm>
            <a:off x="2170275" y="2178973"/>
            <a:ext cx="1522037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b="1" dirty="0">
                <a:solidFill>
                  <a:srgbClr val="48B281"/>
                </a:solidFill>
                <a:latin typeface="Open Sauce" panose="020B0604020202020204" charset="0"/>
              </a:rPr>
              <a:t>82/100 </a:t>
            </a:r>
            <a:r>
              <a:rPr lang="fr-FR" sz="1950" b="1" dirty="0">
                <a:solidFill>
                  <a:srgbClr val="EE0000"/>
                </a:solidFill>
                <a:latin typeface="Open Sauce" panose="020B0604020202020204" charset="0"/>
              </a:rPr>
              <a:t>&lt; 85/100  </a:t>
            </a:r>
            <a:r>
              <a:rPr lang="fr-FR" sz="1950" dirty="0">
                <a:latin typeface="Open Sauce" panose="020B0604020202020204" charset="0"/>
              </a:rPr>
              <a:t>L’index d’égalité Femme/Homme est insuffisant au regard de la loi depuis 2022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1924623" y="1038225"/>
            <a:ext cx="14438754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</a:pPr>
            <a:r>
              <a:rPr lang="fr-FR" sz="6999" spc="-139" noProof="0" dirty="0">
                <a:solidFill>
                  <a:srgbClr val="000000"/>
                </a:solidFill>
                <a:latin typeface="Antonio Bold"/>
              </a:rPr>
              <a:t>Recommandations</a:t>
            </a:r>
          </a:p>
        </p:txBody>
      </p: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0CFE2C3A-EAB9-9577-8958-C51E0F1C640A}"/>
              </a:ext>
            </a:extLst>
          </p:cNvPr>
          <p:cNvGrpSpPr/>
          <p:nvPr/>
        </p:nvGrpSpPr>
        <p:grpSpPr>
          <a:xfrm>
            <a:off x="604928" y="4000500"/>
            <a:ext cx="5483532" cy="8693184"/>
            <a:chOff x="604928" y="2723819"/>
            <a:chExt cx="5483532" cy="9969865"/>
          </a:xfrm>
        </p:grpSpPr>
        <p:grpSp>
          <p:nvGrpSpPr>
            <p:cNvPr id="2" name="Group 2"/>
            <p:cNvGrpSpPr/>
            <p:nvPr/>
          </p:nvGrpSpPr>
          <p:grpSpPr>
            <a:xfrm rot="5400000">
              <a:off x="-1638239" y="4966986"/>
              <a:ext cx="9969865" cy="5483532"/>
              <a:chOff x="0" y="0"/>
              <a:chExt cx="4060919" cy="2233549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19050" y="19050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fr-FR" noProof="0" dirty="0"/>
              </a:p>
            </p:txBody>
          </p:sp>
          <p:sp>
            <p:nvSpPr>
              <p:cNvPr id="4" name="Freeform 4"/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fr-FR" noProof="0" dirty="0"/>
              </a:p>
            </p:txBody>
          </p:sp>
        </p:grpSp>
        <p:sp>
          <p:nvSpPr>
            <p:cNvPr id="5" name="Freeform 5"/>
            <p:cNvSpPr/>
            <p:nvPr/>
          </p:nvSpPr>
          <p:spPr>
            <a:xfrm>
              <a:off x="2821031" y="3533983"/>
              <a:ext cx="1051326" cy="854441"/>
            </a:xfrm>
            <a:custGeom>
              <a:avLst/>
              <a:gdLst/>
              <a:ahLst/>
              <a:cxnLst/>
              <a:rect l="l" t="t" r="r" b="b"/>
              <a:pathLst>
                <a:path w="1051326" h="854441">
                  <a:moveTo>
                    <a:pt x="0" y="0"/>
                  </a:moveTo>
                  <a:lnTo>
                    <a:pt x="1051325" y="0"/>
                  </a:lnTo>
                  <a:lnTo>
                    <a:pt x="1051325" y="854441"/>
                  </a:lnTo>
                  <a:lnTo>
                    <a:pt x="0" y="854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 noProof="0" dirty="0"/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1470651" y="5162669"/>
              <a:ext cx="3752084" cy="3413670"/>
              <a:chOff x="-1" y="-47625"/>
              <a:chExt cx="5002778" cy="4551560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-1" y="2430592"/>
                <a:ext cx="5002777" cy="2073343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30"/>
                  </a:lnSpc>
                </a:pPr>
                <a:r>
                  <a:rPr lang="fr-FR" sz="1950" noProof="0" dirty="0">
                    <a:solidFill>
                      <a:srgbClr val="000000"/>
                    </a:solidFill>
                    <a:latin typeface="Open Sauce"/>
                  </a:rPr>
                  <a:t>Equilibrer les salaires équivalents temps plein dans le service </a:t>
                </a:r>
                <a:r>
                  <a:rPr lang="fr-FR" sz="1950" dirty="0">
                    <a:solidFill>
                      <a:srgbClr val="000000"/>
                    </a:solidFill>
                    <a:latin typeface="Open Sauce"/>
                  </a:rPr>
                  <a:t>m</a:t>
                </a:r>
                <a:r>
                  <a:rPr lang="fr-FR" sz="1950" noProof="0" dirty="0" err="1">
                    <a:solidFill>
                      <a:srgbClr val="000000"/>
                    </a:solidFill>
                    <a:latin typeface="Open Sauce"/>
                  </a:rPr>
                  <a:t>arketing</a:t>
                </a:r>
                <a:r>
                  <a:rPr lang="fr-FR" sz="1950" noProof="0" dirty="0">
                    <a:solidFill>
                      <a:srgbClr val="000000"/>
                    </a:solidFill>
                    <a:latin typeface="Open Sauce"/>
                  </a:rPr>
                  <a:t> et comptabilité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5002777" cy="2259052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/>
                <a:r>
                  <a:rPr lang="fr-FR" sz="3200" dirty="0">
                    <a:solidFill>
                      <a:srgbClr val="000000"/>
                    </a:solidFill>
                    <a:latin typeface="Open Sauce Bold"/>
                  </a:rPr>
                  <a:t>Equilibrer les écarts de salaires mensuels</a:t>
                </a:r>
                <a:endParaRPr lang="fr-FR" sz="3200" noProof="0" dirty="0">
                  <a:solidFill>
                    <a:srgbClr val="000000"/>
                  </a:solidFill>
                  <a:latin typeface="Open Sauce Bold"/>
                </a:endParaRPr>
              </a:p>
            </p:txBody>
          </p:sp>
        </p:grpSp>
      </p:grp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94628FBF-D215-B0E0-841C-C8685E165EB3}"/>
              </a:ext>
            </a:extLst>
          </p:cNvPr>
          <p:cNvGrpSpPr/>
          <p:nvPr/>
        </p:nvGrpSpPr>
        <p:grpSpPr>
          <a:xfrm>
            <a:off x="12199541" y="4000500"/>
            <a:ext cx="5483532" cy="8693184"/>
            <a:chOff x="12199541" y="2723819"/>
            <a:chExt cx="5483532" cy="9969865"/>
          </a:xfrm>
        </p:grpSpPr>
        <p:grpSp>
          <p:nvGrpSpPr>
            <p:cNvPr id="6" name="Group 6"/>
            <p:cNvGrpSpPr/>
            <p:nvPr/>
          </p:nvGrpSpPr>
          <p:grpSpPr>
            <a:xfrm rot="5400000">
              <a:off x="9956374" y="4966986"/>
              <a:ext cx="9969865" cy="5483532"/>
              <a:chOff x="0" y="0"/>
              <a:chExt cx="4060919" cy="223354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9050" y="19050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fr-FR" noProof="0" dirty="0"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fr-FR" noProof="0" dirty="0"/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14399898" y="3533983"/>
              <a:ext cx="1082817" cy="854441"/>
            </a:xfrm>
            <a:custGeom>
              <a:avLst/>
              <a:gdLst/>
              <a:ahLst/>
              <a:cxnLst/>
              <a:rect l="l" t="t" r="r" b="b"/>
              <a:pathLst>
                <a:path w="1082817" h="854441">
                  <a:moveTo>
                    <a:pt x="0" y="0"/>
                  </a:moveTo>
                  <a:lnTo>
                    <a:pt x="1082817" y="0"/>
                  </a:lnTo>
                  <a:lnTo>
                    <a:pt x="1082817" y="854441"/>
                  </a:lnTo>
                  <a:lnTo>
                    <a:pt x="0" y="854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 noProof="0" dirty="0"/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13065265" y="5162669"/>
              <a:ext cx="3752083" cy="3300024"/>
              <a:chOff x="0" y="-47625"/>
              <a:chExt cx="5002777" cy="4400033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0" y="3337991"/>
                <a:ext cx="5002777" cy="1014417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30"/>
                  </a:lnSpc>
                </a:pPr>
                <a:r>
                  <a:rPr lang="fr-FR" sz="1950" noProof="0" dirty="0">
                    <a:solidFill>
                      <a:srgbClr val="000000"/>
                    </a:solidFill>
                    <a:latin typeface="Open Sauce"/>
                  </a:rPr>
                  <a:t>Augmenter la présence des femmes parmi les Top 10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5002777" cy="3012069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/>
                <a:r>
                  <a:rPr lang="fr-FR" sz="3200" noProof="0" dirty="0">
                    <a:solidFill>
                      <a:srgbClr val="000000"/>
                    </a:solidFill>
                    <a:latin typeface="Open Sauce Bold"/>
                  </a:rPr>
                  <a:t>Augmenter la part des femmes parmi les plus rémunérés</a:t>
                </a:r>
              </a:p>
            </p:txBody>
          </p:sp>
        </p:grpSp>
      </p:grp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3EA636BE-4787-0C4C-0B36-4BEE69D004E4}"/>
              </a:ext>
            </a:extLst>
          </p:cNvPr>
          <p:cNvGrpSpPr/>
          <p:nvPr/>
        </p:nvGrpSpPr>
        <p:grpSpPr>
          <a:xfrm>
            <a:off x="6402235" y="4000500"/>
            <a:ext cx="5483532" cy="8693184"/>
            <a:chOff x="6402235" y="2723819"/>
            <a:chExt cx="5483532" cy="9969865"/>
          </a:xfrm>
        </p:grpSpPr>
        <p:grpSp>
          <p:nvGrpSpPr>
            <p:cNvPr id="10" name="Group 10"/>
            <p:cNvGrpSpPr/>
            <p:nvPr/>
          </p:nvGrpSpPr>
          <p:grpSpPr>
            <a:xfrm rot="5400000">
              <a:off x="4159068" y="4966986"/>
              <a:ext cx="9969865" cy="5483532"/>
              <a:chOff x="0" y="0"/>
              <a:chExt cx="4060919" cy="2233549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9050" y="19050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fr-FR" noProof="0" dirty="0"/>
              </a:p>
            </p:txBody>
          </p:sp>
          <p:sp>
            <p:nvSpPr>
              <p:cNvPr id="12" name="Freeform 12"/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fr-FR" noProof="0" dirty="0"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7262384" y="5162669"/>
              <a:ext cx="3752083" cy="2863593"/>
              <a:chOff x="0" y="-47625"/>
              <a:chExt cx="5002777" cy="3818123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0" y="1697152"/>
                <a:ext cx="5002777" cy="2073346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30"/>
                  </a:lnSpc>
                </a:pPr>
                <a:r>
                  <a:rPr lang="fr-FR" sz="1950" dirty="0">
                    <a:solidFill>
                      <a:srgbClr val="000000"/>
                    </a:solidFill>
                    <a:latin typeface="Open Sauce"/>
                  </a:rPr>
                  <a:t>Augmenter les salaires des hommes </a:t>
                </a:r>
                <a:r>
                  <a:rPr lang="fr-FR" sz="1950" noProof="0" dirty="0">
                    <a:solidFill>
                      <a:srgbClr val="000000"/>
                    </a:solidFill>
                    <a:latin typeface="Open Sauce"/>
                  </a:rPr>
                  <a:t>dans services commercial et RH et ceux des femmes </a:t>
                </a:r>
                <a:r>
                  <a:rPr lang="fr-FR" sz="1950" dirty="0">
                    <a:solidFill>
                      <a:srgbClr val="000000"/>
                    </a:solidFill>
                    <a:latin typeface="Open Sauce"/>
                  </a:rPr>
                  <a:t>dans le</a:t>
                </a:r>
                <a:r>
                  <a:rPr lang="fr-FR" sz="1950" noProof="0" dirty="0">
                    <a:solidFill>
                      <a:srgbClr val="000000"/>
                    </a:solidFill>
                    <a:latin typeface="Open Sauce"/>
                  </a:rPr>
                  <a:t> </a:t>
                </a:r>
                <a:r>
                  <a:rPr lang="fr-FR" sz="1950" dirty="0">
                    <a:solidFill>
                      <a:srgbClr val="000000"/>
                    </a:solidFill>
                    <a:latin typeface="Open Sauce"/>
                  </a:rPr>
                  <a:t>m</a:t>
                </a:r>
                <a:r>
                  <a:rPr lang="fr-FR" sz="1950" noProof="0" dirty="0" err="1">
                    <a:solidFill>
                      <a:srgbClr val="000000"/>
                    </a:solidFill>
                    <a:latin typeface="Open Sauce"/>
                  </a:rPr>
                  <a:t>arketing</a:t>
                </a:r>
                <a:endParaRPr lang="fr-FR" sz="1950" noProof="0" dirty="0">
                  <a:solidFill>
                    <a:srgbClr val="000000"/>
                  </a:solidFill>
                  <a:latin typeface="Open Sauce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5002777" cy="150603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/>
                <a:r>
                  <a:rPr lang="fr-FR" sz="3200" noProof="0" dirty="0">
                    <a:solidFill>
                      <a:srgbClr val="000000"/>
                    </a:solidFill>
                    <a:latin typeface="Open Sauce Bold"/>
                  </a:rPr>
                  <a:t>Réduire les écarts </a:t>
                </a:r>
                <a:r>
                  <a:rPr lang="fr-FR" sz="3200" dirty="0">
                    <a:solidFill>
                      <a:srgbClr val="000000"/>
                    </a:solidFill>
                    <a:latin typeface="Open Sauce Bold"/>
                  </a:rPr>
                  <a:t>d’augmentation</a:t>
                </a:r>
                <a:endParaRPr lang="fr-FR" sz="3200" noProof="0" dirty="0">
                  <a:solidFill>
                    <a:srgbClr val="000000"/>
                  </a:solidFill>
                  <a:latin typeface="Open Sauce Bold"/>
                </a:endParaRPr>
              </a:p>
            </p:txBody>
          </p:sp>
        </p:grpSp>
      </p:grpSp>
      <p:sp>
        <p:nvSpPr>
          <p:cNvPr id="24" name="AutoShape 24"/>
          <p:cNvSpPr/>
          <p:nvPr/>
        </p:nvSpPr>
        <p:spPr>
          <a:xfrm>
            <a:off x="0" y="9248775"/>
            <a:ext cx="18288000" cy="1038225"/>
          </a:xfrm>
          <a:prstGeom prst="rect">
            <a:avLst/>
          </a:prstGeom>
          <a:solidFill>
            <a:srgbClr val="48B281"/>
          </a:solidFill>
        </p:spPr>
        <p:txBody>
          <a:bodyPr/>
          <a:lstStyle/>
          <a:p>
            <a:endParaRPr lang="fr-FR" noProof="0" dirty="0"/>
          </a:p>
        </p:txBody>
      </p:sp>
      <p:grpSp>
        <p:nvGrpSpPr>
          <p:cNvPr id="25" name="Group 25"/>
          <p:cNvGrpSpPr/>
          <p:nvPr/>
        </p:nvGrpSpPr>
        <p:grpSpPr>
          <a:xfrm>
            <a:off x="7395225" y="9404903"/>
            <a:ext cx="3497550" cy="462997"/>
            <a:chOff x="0" y="0"/>
            <a:chExt cx="4663400" cy="617329"/>
          </a:xfrm>
        </p:grpSpPr>
        <p:sp>
          <p:nvSpPr>
            <p:cNvPr id="26" name="AutoShape 26"/>
            <p:cNvSpPr/>
            <p:nvPr/>
          </p:nvSpPr>
          <p:spPr>
            <a:xfrm>
              <a:off x="0" y="0"/>
              <a:ext cx="4663400" cy="0"/>
            </a:xfrm>
            <a:prstGeom prst="line">
              <a:avLst/>
            </a:prstGeom>
            <a:ln w="1003300" cap="rnd">
              <a:solidFill>
                <a:srgbClr val="68D6A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341356"/>
              <a:ext cx="4663399" cy="27597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592"/>
                </a:lnSpc>
              </a:pPr>
              <a:r>
                <a:rPr lang="fr-FR" noProof="0" dirty="0">
                  <a:solidFill>
                    <a:srgbClr val="FFFFFF"/>
                  </a:solidFill>
                  <a:latin typeface="Open Sauce"/>
                  <a:hlinkClick r:id="rId6" action="ppaction://hlinksldjump"/>
                </a:rPr>
                <a:t>Retourner à la vue d'ensemble</a:t>
              </a:r>
            </a:p>
          </p:txBody>
        </p:sp>
      </p:grpSp>
      <p:sp>
        <p:nvSpPr>
          <p:cNvPr id="31" name="ZoneTexte 30">
            <a:extLst>
              <a:ext uri="{FF2B5EF4-FFF2-40B4-BE49-F238E27FC236}">
                <a16:creationId xmlns:a16="http://schemas.microsoft.com/office/drawing/2014/main" id="{CFDC00EB-678C-C5DC-59AD-712533467E51}"/>
              </a:ext>
            </a:extLst>
          </p:cNvPr>
          <p:cNvSpPr txBox="1"/>
          <p:nvPr/>
        </p:nvSpPr>
        <p:spPr>
          <a:xfrm>
            <a:off x="2170275" y="2178973"/>
            <a:ext cx="15220377" cy="1408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b="1" dirty="0">
                <a:solidFill>
                  <a:srgbClr val="48B281"/>
                </a:solidFill>
                <a:latin typeface="Open Sauce" panose="020B0604020202020204" charset="0"/>
              </a:rPr>
              <a:t>82/100 </a:t>
            </a:r>
            <a:r>
              <a:rPr lang="fr-FR" sz="1950" b="1" dirty="0">
                <a:solidFill>
                  <a:srgbClr val="EE0000"/>
                </a:solidFill>
                <a:latin typeface="Open Sauce" panose="020B0604020202020204" charset="0"/>
              </a:rPr>
              <a:t>&lt; 85/100 </a:t>
            </a:r>
            <a:r>
              <a:rPr lang="fr-FR" sz="1950" dirty="0">
                <a:latin typeface="Open Sauce" panose="020B0604020202020204" charset="0"/>
              </a:rPr>
              <a:t>: doit définir par accord ou par décision unilatérale, des objectifs de progression pour chacun des indicateurs et rendus publics.</a:t>
            </a:r>
          </a:p>
          <a:p>
            <a:endParaRPr lang="fr-FR" dirty="0"/>
          </a:p>
        </p:txBody>
      </p:sp>
      <p:sp>
        <p:nvSpPr>
          <p:cNvPr id="32" name="Freeform 5">
            <a:extLst>
              <a:ext uri="{FF2B5EF4-FFF2-40B4-BE49-F238E27FC236}">
                <a16:creationId xmlns:a16="http://schemas.microsoft.com/office/drawing/2014/main" id="{B8DDC74F-1D86-6896-555F-30EEF51D952F}"/>
              </a:ext>
            </a:extLst>
          </p:cNvPr>
          <p:cNvSpPr/>
          <p:nvPr/>
        </p:nvSpPr>
        <p:spPr>
          <a:xfrm>
            <a:off x="8612762" y="4706797"/>
            <a:ext cx="1051326" cy="745026"/>
          </a:xfrm>
          <a:custGeom>
            <a:avLst/>
            <a:gdLst/>
            <a:ahLst/>
            <a:cxnLst/>
            <a:rect l="l" t="t" r="r" b="b"/>
            <a:pathLst>
              <a:path w="1051326" h="854441">
                <a:moveTo>
                  <a:pt x="0" y="0"/>
                </a:moveTo>
                <a:lnTo>
                  <a:pt x="1051325" y="0"/>
                </a:lnTo>
                <a:lnTo>
                  <a:pt x="1051325" y="854441"/>
                </a:lnTo>
                <a:lnTo>
                  <a:pt x="0" y="8544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Freeform 13"/>
          <p:cNvSpPr/>
          <p:nvPr/>
        </p:nvSpPr>
        <p:spPr>
          <a:xfrm rot="10800000">
            <a:off x="8565222" y="4705677"/>
            <a:ext cx="1129670" cy="745026"/>
          </a:xfrm>
          <a:custGeom>
            <a:avLst/>
            <a:gdLst/>
            <a:ahLst/>
            <a:cxnLst/>
            <a:rect l="l" t="t" r="r" b="b"/>
            <a:pathLst>
              <a:path w="1129670" h="854441">
                <a:moveTo>
                  <a:pt x="0" y="0"/>
                </a:moveTo>
                <a:lnTo>
                  <a:pt x="1129670" y="0"/>
                </a:lnTo>
                <a:lnTo>
                  <a:pt x="1129670" y="854441"/>
                </a:lnTo>
                <a:lnTo>
                  <a:pt x="0" y="8544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B03BE-DBA2-3438-DCCF-10DA8BA30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CD6E44C-8339-B1A2-98A5-49379DA0C334}"/>
              </a:ext>
            </a:extLst>
          </p:cNvPr>
          <p:cNvGrpSpPr/>
          <p:nvPr/>
        </p:nvGrpSpPr>
        <p:grpSpPr>
          <a:xfrm>
            <a:off x="-6275864" y="-1513365"/>
            <a:ext cx="13313729" cy="13313729"/>
            <a:chOff x="0" y="0"/>
            <a:chExt cx="6350000" cy="6350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5EF11F8-C7EC-B2C6-D126-FED94991C8B3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8B281"/>
            </a:solidFill>
          </p:spPr>
          <p:txBody>
            <a:bodyPr/>
            <a:lstStyle/>
            <a:p>
              <a:endParaRPr lang="fr-F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4705AB74-A9F8-4ACF-5E85-B32E8E732F95}"/>
              </a:ext>
            </a:extLst>
          </p:cNvPr>
          <p:cNvGrpSpPr/>
          <p:nvPr/>
        </p:nvGrpSpPr>
        <p:grpSpPr>
          <a:xfrm>
            <a:off x="975611" y="2521243"/>
            <a:ext cx="4911328" cy="3381866"/>
            <a:chOff x="0" y="9503"/>
            <a:chExt cx="6548437" cy="450915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BC80F6E-6F35-38CC-FEAB-B9DC1592FB81}"/>
                </a:ext>
              </a:extLst>
            </p:cNvPr>
            <p:cNvSpPr txBox="1"/>
            <p:nvPr/>
          </p:nvSpPr>
          <p:spPr>
            <a:xfrm>
              <a:off x="0" y="9503"/>
              <a:ext cx="6548437" cy="13747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8399"/>
                </a:lnSpc>
              </a:pPr>
              <a:r>
                <a:rPr lang="fr-FR" sz="6999" u="none" spc="-139" noProof="0" dirty="0">
                  <a:solidFill>
                    <a:srgbClr val="FFFFFF"/>
                  </a:solidFill>
                  <a:latin typeface="Antonio Bold"/>
                </a:rPr>
                <a:t>Ressources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D7E7C2B9-D81D-CF2C-42F5-4EE85C3CFE49}"/>
                </a:ext>
              </a:extLst>
            </p:cNvPr>
            <p:cNvSpPr txBox="1"/>
            <p:nvPr/>
          </p:nvSpPr>
          <p:spPr>
            <a:xfrm>
              <a:off x="0" y="3568395"/>
              <a:ext cx="6548437" cy="9502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40"/>
                </a:lnSpc>
              </a:pPr>
              <a:r>
                <a:rPr lang="fr-FR" sz="2100" noProof="0" dirty="0">
                  <a:solidFill>
                    <a:srgbClr val="FFFFFF"/>
                  </a:solidFill>
                  <a:latin typeface="Open Sauce"/>
                </a:rPr>
                <a:t>Pour plus de détails, aller sur le site de CNIL et de gouvernement :</a:t>
              </a:r>
              <a:endParaRPr lang="fr-FR" sz="2100" noProof="0" dirty="0">
                <a:solidFill>
                  <a:srgbClr val="FFFFFF"/>
                </a:solidFill>
                <a:latin typeface="Open Sauce Bold"/>
              </a:endParaRPr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A350168D-FE01-B83F-12DA-7F4E093515A7}"/>
              </a:ext>
            </a:extLst>
          </p:cNvPr>
          <p:cNvGrpSpPr/>
          <p:nvPr/>
        </p:nvGrpSpPr>
        <p:grpSpPr>
          <a:xfrm>
            <a:off x="8763000" y="3727808"/>
            <a:ext cx="7787725" cy="2831381"/>
            <a:chOff x="0" y="-38100"/>
            <a:chExt cx="10383634" cy="3775174"/>
          </a:xfrm>
        </p:grpSpPr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FE3E0EFD-F66A-78AA-E798-CDBE515B73EF}"/>
                </a:ext>
              </a:extLst>
            </p:cNvPr>
            <p:cNvSpPr txBox="1"/>
            <p:nvPr/>
          </p:nvSpPr>
          <p:spPr>
            <a:xfrm>
              <a:off x="0" y="2499299"/>
              <a:ext cx="10383634" cy="123777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900"/>
                </a:lnSpc>
              </a:pPr>
              <a:r>
                <a:rPr lang="fr-FR" noProof="0" dirty="0">
                  <a:solidFill>
                    <a:srgbClr val="000000"/>
                  </a:solidFill>
                  <a:latin typeface="Open Sauce Bold"/>
                </a:rPr>
                <a:t>https://www.economie.gouv.fr/entreprises/reglement-general-protection-donnees-rgpd#</a:t>
              </a:r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5AE41277-18C2-A797-09F4-CCFBA8CCAA35}"/>
                </a:ext>
              </a:extLst>
            </p:cNvPr>
            <p:cNvSpPr txBox="1"/>
            <p:nvPr/>
          </p:nvSpPr>
          <p:spPr>
            <a:xfrm>
              <a:off x="0" y="-38100"/>
              <a:ext cx="10383634" cy="123777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900"/>
                </a:lnSpc>
              </a:pPr>
              <a:r>
                <a:rPr lang="fr-FR" noProof="0" dirty="0">
                  <a:solidFill>
                    <a:srgbClr val="000000"/>
                  </a:solidFill>
                  <a:latin typeface="Open Sauce Bold"/>
                </a:rPr>
                <a:t>https://www.cnil.fr/fr/cnil-direct/question/quels-sont-les-grands-principes-des-regles-de-protection-des-donnees?visiteur=part</a:t>
              </a:r>
            </a:p>
          </p:txBody>
        </p:sp>
        <p:sp>
          <p:nvSpPr>
            <p:cNvPr id="16" name="AutoShape 16">
              <a:extLst>
                <a:ext uri="{FF2B5EF4-FFF2-40B4-BE49-F238E27FC236}">
                  <a16:creationId xmlns:a16="http://schemas.microsoft.com/office/drawing/2014/main" id="{E0202B9F-0457-822F-CA73-654309A19E76}"/>
                </a:ext>
              </a:extLst>
            </p:cNvPr>
            <p:cNvSpPr/>
            <p:nvPr/>
          </p:nvSpPr>
          <p:spPr>
            <a:xfrm>
              <a:off x="0" y="1733932"/>
              <a:ext cx="10383634" cy="0"/>
            </a:xfrm>
            <a:prstGeom prst="line">
              <a:avLst/>
            </a:prstGeom>
            <a:ln w="127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</p:grpSp>
      <p:sp>
        <p:nvSpPr>
          <p:cNvPr id="22" name="ZoneTexte 21">
            <a:extLst>
              <a:ext uri="{FF2B5EF4-FFF2-40B4-BE49-F238E27FC236}">
                <a16:creationId xmlns:a16="http://schemas.microsoft.com/office/drawing/2014/main" id="{DE1A5CEF-CC71-AB93-9435-04ADE14E0E64}"/>
              </a:ext>
            </a:extLst>
          </p:cNvPr>
          <p:cNvSpPr txBox="1"/>
          <p:nvPr/>
        </p:nvSpPr>
        <p:spPr>
          <a:xfrm>
            <a:off x="8732874" y="800100"/>
            <a:ext cx="7817851" cy="1053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lnSpc>
                <a:spcPts val="8399"/>
              </a:lnSpc>
            </a:pPr>
            <a:r>
              <a:rPr lang="fr-FR" sz="4800" spc="-139" noProof="0" dirty="0">
                <a:solidFill>
                  <a:srgbClr val="000000"/>
                </a:solidFill>
                <a:latin typeface="Antonio Bold"/>
              </a:rPr>
              <a:t>Merci pour votre attention</a:t>
            </a:r>
          </a:p>
        </p:txBody>
      </p:sp>
    </p:spTree>
    <p:extLst>
      <p:ext uri="{BB962C8B-B14F-4D97-AF65-F5344CB8AC3E}">
        <p14:creationId xmlns:p14="http://schemas.microsoft.com/office/powerpoint/2010/main" val="2398015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5735</TotalTime>
  <Words>1025</Words>
  <Application>Microsoft Office PowerPoint</Application>
  <PresentationFormat>Personnalisé</PresentationFormat>
  <Paragraphs>177</Paragraphs>
  <Slides>15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2" baseType="lpstr">
      <vt:lpstr>Open Sauce</vt:lpstr>
      <vt:lpstr>Open Sauce Bold</vt:lpstr>
      <vt:lpstr>Antonio Bold</vt:lpstr>
      <vt:lpstr>Arial</vt:lpstr>
      <vt:lpstr>Calibri</vt:lpstr>
      <vt:lpstr>Aptos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sur l’enseignement Soutenance de Thèse universitaire Simple et Minimaliste en Jaune Clair et Bleu </dc:title>
  <cp:lastModifiedBy>rong CAI</cp:lastModifiedBy>
  <cp:revision>36</cp:revision>
  <dcterms:created xsi:type="dcterms:W3CDTF">2006-08-16T00:00:00Z</dcterms:created>
  <dcterms:modified xsi:type="dcterms:W3CDTF">2025-06-01T21:26:47Z</dcterms:modified>
  <dc:identifier>DAFtwO8i7UY</dc:identifier>
</cp:coreProperties>
</file>