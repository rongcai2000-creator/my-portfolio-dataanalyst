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33"/>
  </p:notesMasterIdLst>
  <p:handoutMasterIdLst>
    <p:handoutMasterId r:id="rId34"/>
  </p:handoutMasterIdLst>
  <p:sldIdLst>
    <p:sldId id="256" r:id="rId3"/>
    <p:sldId id="257" r:id="rId4"/>
    <p:sldId id="258" r:id="rId5"/>
    <p:sldId id="259" r:id="rId6"/>
    <p:sldId id="261" r:id="rId7"/>
    <p:sldId id="260" r:id="rId8"/>
    <p:sldId id="281" r:id="rId9"/>
    <p:sldId id="282" r:id="rId10"/>
    <p:sldId id="279" r:id="rId11"/>
    <p:sldId id="283" r:id="rId12"/>
    <p:sldId id="262" r:id="rId13"/>
    <p:sldId id="263" r:id="rId14"/>
    <p:sldId id="264" r:id="rId15"/>
    <p:sldId id="265" r:id="rId16"/>
    <p:sldId id="284" r:id="rId17"/>
    <p:sldId id="267" r:id="rId18"/>
    <p:sldId id="268" r:id="rId19"/>
    <p:sldId id="272" r:id="rId20"/>
    <p:sldId id="276" r:id="rId21"/>
    <p:sldId id="277" r:id="rId22"/>
    <p:sldId id="280" r:id="rId23"/>
    <p:sldId id="266" r:id="rId24"/>
    <p:sldId id="285" r:id="rId25"/>
    <p:sldId id="278" r:id="rId26"/>
    <p:sldId id="269" r:id="rId27"/>
    <p:sldId id="270" r:id="rId28"/>
    <p:sldId id="271" r:id="rId29"/>
    <p:sldId id="273" r:id="rId30"/>
    <p:sldId id="274" r:id="rId31"/>
    <p:sldId id="275" r:id="rId32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56404A6-93CE-17D4-2D2E-5D4DF0A824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4461731-BBF7-6850-9A43-A167C24443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3D742-15DD-48F0-A19F-D3F321F64D43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DD8AF2B-0282-086F-D0C8-ED9D9C2DC2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BF6242-77DE-E8C3-2743-6494E545BF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3151A-572A-465F-93CD-DF5CD40B05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2485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47F8007E-DE38-9C11-C3DB-1B43400F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>
            <a:extLst>
              <a:ext uri="{FF2B5EF4-FFF2-40B4-BE49-F238E27FC236}">
                <a16:creationId xmlns:a16="http://schemas.microsoft.com/office/drawing/2014/main" id="{E5481555-7808-E330-E38E-248C924EBF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>
            <a:extLst>
              <a:ext uri="{FF2B5EF4-FFF2-40B4-BE49-F238E27FC236}">
                <a16:creationId xmlns:a16="http://schemas.microsoft.com/office/drawing/2014/main" id="{5C2ED1E0-C2ED-8203-1892-AA82D78D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6013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DF1F4BBC-DF84-CCA6-79C8-75592D9A5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>
            <a:extLst>
              <a:ext uri="{FF2B5EF4-FFF2-40B4-BE49-F238E27FC236}">
                <a16:creationId xmlns:a16="http://schemas.microsoft.com/office/drawing/2014/main" id="{DECE51FA-5229-0247-BD66-6E8BAAC011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>
            <a:extLst>
              <a:ext uri="{FF2B5EF4-FFF2-40B4-BE49-F238E27FC236}">
                <a16:creationId xmlns:a16="http://schemas.microsoft.com/office/drawing/2014/main" id="{6DA5FE62-A7B0-9FA1-32AA-42CB4B4729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4334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C6742727-4ACD-C271-E8C5-1081DB7A8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>
            <a:extLst>
              <a:ext uri="{FF2B5EF4-FFF2-40B4-BE49-F238E27FC236}">
                <a16:creationId xmlns:a16="http://schemas.microsoft.com/office/drawing/2014/main" id="{5CC632B8-1160-C5F8-25DC-8929BBE044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>
            <a:extLst>
              <a:ext uri="{FF2B5EF4-FFF2-40B4-BE49-F238E27FC236}">
                <a16:creationId xmlns:a16="http://schemas.microsoft.com/office/drawing/2014/main" id="{AAFDC7C6-1727-65CD-CAFA-052261FF5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0140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BB1496A9-9633-F552-AEC0-0CEB5DF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>
            <a:extLst>
              <a:ext uri="{FF2B5EF4-FFF2-40B4-BE49-F238E27FC236}">
                <a16:creationId xmlns:a16="http://schemas.microsoft.com/office/drawing/2014/main" id="{0AA4E71E-F365-0EF5-69C5-BD2F1FD7E6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>
            <a:extLst>
              <a:ext uri="{FF2B5EF4-FFF2-40B4-BE49-F238E27FC236}">
                <a16:creationId xmlns:a16="http://schemas.microsoft.com/office/drawing/2014/main" id="{A9FE99F4-94FA-34D7-C4AD-BDACAFF5D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2640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C634D088-7AEC-338B-E76B-F1BC0B3EB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5607BB5A-B537-2300-C9A6-3CFCCF07C3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1C502DAB-AC0B-4BE4-90F2-FCD840AD58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0633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C4BDFA98-A134-CA9B-F24B-D742A88F8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946B101C-72CF-961F-7CF3-A2738BBAC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F0E89933-CA51-9E17-FD32-8BB82BB72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820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387A4A33-A1BB-6953-9B13-54B438792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129CD79B-2DF6-6D99-0B72-D0CD46C723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B2B5F70C-73C3-1D44-CA7C-D464ECC90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18674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BBD70128-9365-B9E4-D8B9-7BC6911F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EB80F696-0E02-3762-F81A-C5B829A57A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EB9B8512-F1B5-62CF-6D2E-A970C3375E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44629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69CD6EC-FF6D-6A3A-FDF3-14961A8B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92346FA9-BBFF-CB9E-840C-28B8C4C2A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4B26B788-1582-A25F-5E5C-8027F197FC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22682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2AF4E430-F425-251E-C674-E887723EF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7D270ADE-BBD5-3FCA-448C-E9A2E704A4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499EA74D-3341-AB1E-8B67-C51928B0A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8852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3628F3B6-151F-92D3-39BC-3C70C9890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>
            <a:extLst>
              <a:ext uri="{FF2B5EF4-FFF2-40B4-BE49-F238E27FC236}">
                <a16:creationId xmlns:a16="http://schemas.microsoft.com/office/drawing/2014/main" id="{0CD15A41-27ED-49F0-0B3A-114BF680C7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>
            <a:extLst>
              <a:ext uri="{FF2B5EF4-FFF2-40B4-BE49-F238E27FC236}">
                <a16:creationId xmlns:a16="http://schemas.microsoft.com/office/drawing/2014/main" id="{22FABC7D-34D0-75DD-9102-294079B42E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8659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E6980ED6-A773-125A-8159-0D5FD102A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>
            <a:extLst>
              <a:ext uri="{FF2B5EF4-FFF2-40B4-BE49-F238E27FC236}">
                <a16:creationId xmlns:a16="http://schemas.microsoft.com/office/drawing/2014/main" id="{2E6EB027-D49F-07A6-C61B-A86613DFCE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>
            <a:extLst>
              <a:ext uri="{FF2B5EF4-FFF2-40B4-BE49-F238E27FC236}">
                <a16:creationId xmlns:a16="http://schemas.microsoft.com/office/drawing/2014/main" id="{02791E0E-27EF-AFC9-3C64-49C3B0C84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85062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AF2B462-A4C1-6762-D328-9D970507E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3195DEC6-44ED-5535-2394-12FCD72FF8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AAD15C7E-FEB8-3519-DC11-C1AD8739D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0248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92B86AF-B980-1FC3-E976-265118C77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41112A36-A0BA-EB4F-40B6-7BBE49C743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F8EA5E6-DD12-B71F-07FF-3E504E8A6D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93539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3373FCE3-D0CF-705B-5C6F-854552CB4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54B05F40-0FD8-2CA2-DCD0-19E25FA8F1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0AD22454-CB2F-B287-41E9-7AB176CCFE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54467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FD05DA5B-0177-4E53-17A7-CE3C016F5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82114CAC-4211-DAB9-DD77-237EA936C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ACC0D2F-4383-5CDE-561E-05C67A9CE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86149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C8CD570-5B82-F49F-18AC-8FD18C67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14CE816-82F1-DF7E-5BA5-42374CC45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3241C7FA-2D01-F9D0-A9A4-EB0032966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09421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38693CE-DFCB-FD84-DC2A-536F1314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C7EECCBE-6C95-5912-68B4-4AC6B4E3A6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B66F65EC-C347-290E-CE3D-7F975BCAF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07354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959E21A-5D32-D36C-01C6-B7686835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C8B9E15C-22A9-1659-29C3-BC67640E5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6623066F-5F13-E296-6920-C1016D9B4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7191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009456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447115"/>
            <a:ext cx="3929262" cy="126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dirty="0"/>
              <a:t>Création et utilisation de la base de données</a:t>
            </a:r>
            <a:endParaRPr dirty="0"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686051"/>
            <a:ext cx="3929882" cy="98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Rongrong CAI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1411" y="2945952"/>
            <a:ext cx="4362590" cy="1269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D5173F02-6F93-E840-E51F-9400B9803715}"/>
              </a:ext>
            </a:extLst>
          </p:cNvPr>
          <p:cNvGrpSpPr/>
          <p:nvPr/>
        </p:nvGrpSpPr>
        <p:grpSpPr>
          <a:xfrm>
            <a:off x="1805756" y="1666876"/>
            <a:ext cx="1711605" cy="1809749"/>
            <a:chOff x="2058849" y="1666876"/>
            <a:chExt cx="1711605" cy="1809749"/>
          </a:xfrm>
        </p:grpSpPr>
        <p:sp>
          <p:nvSpPr>
            <p:cNvPr id="254" name="Google Shape;254;p33" descr="Hexagone de couleur foncée unie au milieu d’accentuation d’image"/>
            <p:cNvSpPr/>
            <p:nvPr/>
          </p:nvSpPr>
          <p:spPr>
            <a:xfrm rot="16200000">
              <a:off x="2009776" y="1791686"/>
              <a:ext cx="1809749" cy="1560129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8" name="Google Shape;258;p33" descr="https://lh5.googleusercontent.com/TcdnvzxQ7ulQo8GiFwfIKujloK6EfAJv7ikP-EvnfdTVQnROS3WXw6XSx9Cpd73e_l7GCUAnbxroB-qlzG2fvYdCyl-Y5QZ95MpiD-GfDN-4taJyHRqsr3vOZzc3ONTBu52b0HIdUOMeHvdHiA_5tD0"/>
            <p:cNvPicPr preferRelativeResize="0"/>
            <p:nvPr/>
          </p:nvPicPr>
          <p:blipFill rotWithShape="1">
            <a:blip r:embed="rId5">
              <a:alphaModFix/>
            </a:blip>
            <a:srcRect l="12460" t="25735" r="63941" b="26874"/>
            <a:stretch/>
          </p:blipFill>
          <p:spPr>
            <a:xfrm>
              <a:off x="2058849" y="1996848"/>
              <a:ext cx="1711605" cy="11498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398534" y="981363"/>
            <a:ext cx="4900088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3200" dirty="0"/>
              <a:t>Contexte du projet</a:t>
            </a:r>
            <a:endParaRPr sz="3200" dirty="0"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4900086" cy="109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800" dirty="0"/>
              <a:t>Construction une base de données permettant l’analyse du marché et d’améliorer l’accompagnement des clients des agences régionales </a:t>
            </a:r>
            <a:endParaRPr sz="1800" dirty="0"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398532" y="3140242"/>
            <a:ext cx="4230618" cy="147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Conformité RGPD 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Dictionnaire des données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Schéma relationnel normalisé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DEMO de la base de données chargées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Requêtes SQL et résultats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3312" r="23313"/>
          <a:stretch/>
        </p:blipFill>
        <p:spPr>
          <a:xfrm>
            <a:off x="5298621" y="0"/>
            <a:ext cx="3845378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Stratégie de sauvegarde et la conformité RGPD</a:t>
            </a:r>
            <a:endParaRPr b="0" dirty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7339544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>
              <a:spcBef>
                <a:spcPts val="0"/>
              </a:spcBef>
            </a:pPr>
            <a:r>
              <a:rPr lang="fr-FR" b="1" i="1" dirty="0"/>
              <a:t>RGPD</a:t>
            </a:r>
            <a:r>
              <a:rPr lang="fr-FR" dirty="0"/>
              <a:t> (Règlement Général sur la Protection des Données) est un règlement visant à garantir la confidentialité, la sécurité et le contrôle des données personnelles</a:t>
            </a:r>
          </a:p>
          <a:p>
            <a:pPr marL="635000" lvl="1" indent="-177800">
              <a:spcBef>
                <a:spcPts val="0"/>
              </a:spcBef>
              <a:buSzPts val="1800"/>
            </a:pPr>
            <a:r>
              <a:rPr lang="fr-FR" b="1" i="1" dirty="0"/>
              <a:t>Données personnelles</a:t>
            </a:r>
            <a:r>
              <a:rPr lang="fr-FR" dirty="0"/>
              <a:t> : toute information permettant d’identifier directement ou indirectement une personne physique</a:t>
            </a:r>
          </a:p>
          <a:p>
            <a:pPr marL="635000" lvl="1" indent="-177800">
              <a:spcBef>
                <a:spcPts val="0"/>
              </a:spcBef>
              <a:buSzPts val="1800"/>
            </a:pPr>
            <a:r>
              <a:rPr lang="fr-FR" b="1" i="1" dirty="0"/>
              <a:t>Principes :</a:t>
            </a:r>
          </a:p>
          <a:p>
            <a:pPr marL="1092200" lvl="2" indent="-177800">
              <a:spcBef>
                <a:spcPts val="0"/>
              </a:spcBef>
              <a:buSzPts val="1800"/>
            </a:pPr>
            <a:r>
              <a:rPr lang="fr-FR" dirty="0"/>
              <a:t>Licéité, loyauté et transparence </a:t>
            </a:r>
          </a:p>
          <a:p>
            <a:pPr marL="1092200" lvl="2" indent="-177800">
              <a:spcBef>
                <a:spcPts val="0"/>
              </a:spcBef>
              <a:buSzPts val="1800"/>
            </a:pPr>
            <a:r>
              <a:rPr lang="fr-FR" dirty="0"/>
              <a:t>Exactitude </a:t>
            </a:r>
          </a:p>
          <a:p>
            <a:pPr marL="1092200" lvl="2" indent="-177800">
              <a:spcBef>
                <a:spcPts val="0"/>
              </a:spcBef>
              <a:buSzPts val="1800"/>
            </a:pPr>
            <a:r>
              <a:rPr lang="fr-FR" dirty="0"/>
              <a:t>Conservation</a:t>
            </a:r>
          </a:p>
          <a:p>
            <a:pPr marL="1092200" lvl="2" indent="-177800">
              <a:spcBef>
                <a:spcPts val="0"/>
              </a:spcBef>
              <a:buSzPts val="1800"/>
            </a:pPr>
            <a:r>
              <a:rPr lang="fr-FR" dirty="0"/>
              <a:t>Limitation des finalités </a:t>
            </a:r>
          </a:p>
          <a:p>
            <a:pPr marL="1092200" lvl="2" indent="-177800">
              <a:spcBef>
                <a:spcPts val="0"/>
              </a:spcBef>
              <a:buSzPts val="1800"/>
            </a:pPr>
            <a:r>
              <a:rPr lang="fr-FR" dirty="0"/>
              <a:t>Minimisation des données</a:t>
            </a:r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77;p35">
            <a:extLst>
              <a:ext uri="{FF2B5EF4-FFF2-40B4-BE49-F238E27FC236}">
                <a16:creationId xmlns:a16="http://schemas.microsoft.com/office/drawing/2014/main" id="{24E2BDFD-A94F-FDCC-4600-162DD2DA05FF}"/>
              </a:ext>
            </a:extLst>
          </p:cNvPr>
          <p:cNvSpPr txBox="1">
            <a:spLocks/>
          </p:cNvSpPr>
          <p:nvPr/>
        </p:nvSpPr>
        <p:spPr>
          <a:xfrm>
            <a:off x="390523" y="1304649"/>
            <a:ext cx="7339544" cy="209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fr" dirty="0"/>
          </a:p>
          <a:p>
            <a:pPr marL="177800" indent="-177800">
              <a:spcBef>
                <a:spcPts val="0"/>
              </a:spcBef>
            </a:pPr>
            <a:r>
              <a:rPr lang="fr-FR" dirty="0"/>
              <a:t>Stratégie de sauvegarde :</a:t>
            </a:r>
          </a:p>
          <a:p>
            <a:pPr marL="635000" lvl="1" indent="-177800">
              <a:spcBef>
                <a:spcPts val="0"/>
              </a:spcBef>
            </a:pPr>
            <a:r>
              <a:rPr lang="fr-FR" dirty="0"/>
              <a:t>Sauvegarder en fichier « .csv » facilitant l’analyse</a:t>
            </a:r>
          </a:p>
          <a:p>
            <a:pPr marL="635000" lvl="1" indent="-177800">
              <a:spcBef>
                <a:spcPts val="0"/>
              </a:spcBef>
            </a:pPr>
            <a:r>
              <a:rPr lang="fr-FR" dirty="0"/>
              <a:t>Respecter les principes du RGPD : </a:t>
            </a:r>
          </a:p>
          <a:p>
            <a:pPr marL="1092200" lvl="2" indent="-177800">
              <a:spcBef>
                <a:spcPts val="0"/>
              </a:spcBef>
            </a:pPr>
            <a:r>
              <a:rPr lang="fr-FR" dirty="0"/>
              <a:t>Limiter les données utilisées uniquement à celles nécessaires aux objectifs</a:t>
            </a:r>
          </a:p>
          <a:p>
            <a:pPr marL="1092200" lvl="2" indent="-177800">
              <a:spcBef>
                <a:spcPts val="0"/>
              </a:spcBef>
            </a:pPr>
            <a:r>
              <a:rPr lang="fr-FR" dirty="0"/>
              <a:t>Exclure les informations permettant d’identifier une personne physique : 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fr-FR" b="1" i="1" dirty="0"/>
              <a:t>    « Nom de l'</a:t>
            </a:r>
            <a:r>
              <a:rPr lang="fr-FR" b="1" i="1" dirty="0" err="1"/>
              <a:t>acquereur</a:t>
            </a:r>
            <a:r>
              <a:rPr lang="fr-FR" b="1" i="1" dirty="0"/>
              <a:t> »</a:t>
            </a:r>
            <a:endParaRPr lang="fr-FR" dirty="0"/>
          </a:p>
          <a:p>
            <a:pPr marL="1092200" lvl="2" indent="-177800">
              <a:spcBef>
                <a:spcPts val="0"/>
              </a:spcBef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" grpId="0" build="p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EA1152B-100B-C534-0DF8-A78BE35C5D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067"/>
          <a:stretch/>
        </p:blipFill>
        <p:spPr>
          <a:xfrm>
            <a:off x="4340994" y="1885384"/>
            <a:ext cx="4803006" cy="2370656"/>
          </a:xfrm>
          <a:prstGeom prst="rect">
            <a:avLst/>
          </a:prstGeom>
        </p:spPr>
      </p:pic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3000" b="0" dirty="0"/>
              <a:t>Données initiales</a:t>
            </a:r>
            <a:endParaRPr sz="3000" b="0" dirty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3 fichiers sous forme de fichier Excel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" dirty="0"/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Données de ventes immobiliers :</a:t>
            </a:r>
          </a:p>
          <a:p>
            <a:pPr marL="635000" lvl="1" indent="-177800">
              <a:spcBef>
                <a:spcPts val="0"/>
              </a:spcBef>
              <a:buSzPts val="1800"/>
            </a:pPr>
            <a:r>
              <a:rPr lang="fr" dirty="0"/>
              <a:t>Valeur-foncières.xlsx (34170 x 39)</a:t>
            </a:r>
          </a:p>
          <a:p>
            <a:pPr marL="635000" lvl="1" indent="-177800">
              <a:spcBef>
                <a:spcPts val="0"/>
              </a:spcBef>
              <a:buSzPts val="1800"/>
            </a:pPr>
            <a:endParaRPr lang="fr" dirty="0"/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Données de références géographiques :</a:t>
            </a:r>
          </a:p>
          <a:p>
            <a:pPr marL="635000" lvl="1" indent="-177800">
              <a:spcBef>
                <a:spcPts val="0"/>
              </a:spcBef>
              <a:buSzPts val="1800"/>
            </a:pPr>
            <a:r>
              <a:rPr lang="fr" dirty="0"/>
              <a:t>fr-esr-referentiel-geographique.xlsx </a:t>
            </a:r>
          </a:p>
          <a:p>
            <a:pPr marL="457200" lvl="1" indent="0">
              <a:spcBef>
                <a:spcPts val="0"/>
              </a:spcBef>
              <a:buSzPts val="1800"/>
              <a:buNone/>
            </a:pPr>
            <a:r>
              <a:rPr lang="fr" dirty="0"/>
              <a:t>(38917 x 37)</a:t>
            </a:r>
          </a:p>
          <a:p>
            <a:pPr marL="457200" lvl="1" indent="0">
              <a:spcBef>
                <a:spcPts val="0"/>
              </a:spcBef>
              <a:buSzPts val="1800"/>
              <a:buNone/>
            </a:pPr>
            <a:endParaRPr lang="fr" dirty="0"/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Données de communes :</a:t>
            </a:r>
          </a:p>
          <a:p>
            <a:pPr marL="635000" lvl="1" indent="-177800">
              <a:spcBef>
                <a:spcPts val="0"/>
              </a:spcBef>
              <a:buSzPts val="1800"/>
            </a:pPr>
            <a:r>
              <a:rPr lang="fr-FR" dirty="0"/>
              <a:t>D</a:t>
            </a:r>
            <a:r>
              <a:rPr lang="fr" dirty="0"/>
              <a:t>onnees_communes.xlsx (34998 x 9)</a:t>
            </a:r>
          </a:p>
          <a:p>
            <a:pPr marL="635000" lvl="1" indent="-177800">
              <a:spcBef>
                <a:spcPts val="0"/>
              </a:spcBef>
              <a:buSzPts val="1800"/>
            </a:pPr>
            <a:endParaRPr lang="fr" dirty="0"/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" dirty="0"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485470-4581-95FA-2987-A3161F42F9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945"/>
          <a:stretch/>
        </p:blipFill>
        <p:spPr>
          <a:xfrm>
            <a:off x="4488569" y="1881288"/>
            <a:ext cx="4655431" cy="2093946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63C13B7-00D5-FF4F-C125-31415B589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570" y="1990050"/>
            <a:ext cx="4786430" cy="2161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7" y="156771"/>
            <a:ext cx="5299523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>
              <a:buSzPct val="100000"/>
            </a:pPr>
            <a:r>
              <a:rPr lang="fr" b="0" dirty="0"/>
              <a:t>Extrait du dictionnaire des données</a:t>
            </a:r>
            <a:endParaRPr b="0" dirty="0"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AE3A95-0B9C-0D84-6758-C4F5FF4B415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9006" y="1557343"/>
            <a:ext cx="7340400" cy="2670325"/>
          </a:xfrm>
        </p:spPr>
        <p:txBody>
          <a:bodyPr>
            <a:normAutofit/>
          </a:bodyPr>
          <a:lstStyle/>
          <a:p>
            <a:r>
              <a:rPr lang="fr-FR" dirty="0"/>
              <a:t>Décomposition respecte de la </a:t>
            </a:r>
            <a:r>
              <a:rPr lang="fr-FR" b="1" i="1" dirty="0"/>
              <a:t>théorie de</a:t>
            </a:r>
            <a:r>
              <a:rPr lang="fr-FR" i="1" dirty="0"/>
              <a:t> </a:t>
            </a:r>
            <a:r>
              <a:rPr lang="fr-FR" b="1" i="1" dirty="0"/>
              <a:t>3 Formes Normales</a:t>
            </a:r>
          </a:p>
          <a:p>
            <a:pPr lvl="1"/>
            <a:r>
              <a:rPr lang="fr-FR" dirty="0"/>
              <a:t>1FN : Données structurées, non décomposable, uniques et identifiables par une clé primaire</a:t>
            </a:r>
          </a:p>
          <a:p>
            <a:pPr marL="590550" lvl="1" indent="0">
              <a:buNone/>
            </a:pPr>
            <a:endParaRPr lang="fr-FR" dirty="0"/>
          </a:p>
          <a:p>
            <a:pPr lvl="1"/>
            <a:r>
              <a:rPr lang="fr-FR" dirty="0"/>
              <a:t>2FN : 1FN + Toutes colonnes non-clé dépendent entièrement de la clé primaire (non seulement d'une partie de celle-ci).</a:t>
            </a:r>
          </a:p>
          <a:p>
            <a:pPr marL="590550" lvl="1" indent="0">
              <a:buNone/>
            </a:pPr>
            <a:endParaRPr lang="fr-FR" dirty="0"/>
          </a:p>
          <a:p>
            <a:pPr lvl="1"/>
            <a:r>
              <a:rPr lang="fr-FR" dirty="0"/>
              <a:t>3FN : 2FN + Absence de dépendances transitives </a:t>
            </a:r>
          </a:p>
          <a:p>
            <a:pPr marL="590550" lvl="1" indent="0">
              <a:buNone/>
            </a:pPr>
            <a:r>
              <a:rPr lang="fr-FR" dirty="0"/>
              <a:t>	(aucune colonne non-clé ne dépend d'une autre colonne non-clé)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C37303C3-C4AA-088F-53F7-272443161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1" y="3248982"/>
            <a:ext cx="6872438" cy="841048"/>
          </a:xfrm>
          <a:prstGeom prst="rect">
            <a:avLst/>
          </a:prstGeom>
        </p:spPr>
      </p:pic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Extrait du dictionnaire des données</a:t>
            </a:r>
            <a:endParaRPr b="0" dirty="0"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D73AD38-0141-CD5C-C8E5-48E5056B878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9008" y="1046829"/>
            <a:ext cx="8254478" cy="1524921"/>
          </a:xfrm>
        </p:spPr>
        <p:txBody>
          <a:bodyPr>
            <a:normAutofit fontScale="92500" lnSpcReduction="20000"/>
          </a:bodyPr>
          <a:lstStyle/>
          <a:p>
            <a:r>
              <a:rPr lang="fr-FR" sz="1900" dirty="0"/>
              <a:t>Diviser les données initiales de « Valeurs-foncières » en deux tables </a:t>
            </a:r>
          </a:p>
          <a:p>
            <a:r>
              <a:rPr lang="fr-FR" sz="1900" dirty="0"/>
              <a:t>Table « Vente » :</a:t>
            </a:r>
          </a:p>
          <a:p>
            <a:pPr lvl="1"/>
            <a:r>
              <a:rPr lang="fr-FR" sz="1600" dirty="0"/>
              <a:t>Création des variables « </a:t>
            </a:r>
            <a:r>
              <a:rPr lang="fr-FR" sz="1600" dirty="0" err="1"/>
              <a:t>Id_vente</a:t>
            </a:r>
            <a:r>
              <a:rPr lang="fr-FR" sz="1600" dirty="0"/>
              <a:t> » et « </a:t>
            </a:r>
            <a:r>
              <a:rPr lang="fr-FR" sz="1600" dirty="0" err="1"/>
              <a:t>Id_bien</a:t>
            </a:r>
            <a:r>
              <a:rPr lang="fr-FR" sz="1600" dirty="0"/>
              <a:t> » </a:t>
            </a:r>
          </a:p>
          <a:p>
            <a:pPr lvl="1"/>
            <a:r>
              <a:rPr lang="fr-FR" sz="1600" dirty="0"/>
              <a:t>Vérifier si les biens sont vendus plusieurs fois avec </a:t>
            </a:r>
            <a:r>
              <a:rPr lang="fr-FR" sz="1600" b="1" i="1" dirty="0"/>
              <a:t>« Suppression des doublons »</a:t>
            </a:r>
          </a:p>
          <a:p>
            <a:pPr lvl="2"/>
            <a:r>
              <a:rPr lang="fr-FR" sz="1500" dirty="0"/>
              <a:t>Si oui, l’identifiant est l’incrémentation automatique</a:t>
            </a:r>
          </a:p>
          <a:p>
            <a:pPr lvl="2"/>
            <a:r>
              <a:rPr lang="fr-FR" sz="1500" dirty="0"/>
              <a:t>Sinon, l’identifiant est la combinaison des caractéristiques uniques des biens</a:t>
            </a:r>
          </a:p>
          <a:p>
            <a:pPr lvl="1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40FA334-022C-BC02-38D9-26018B64C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362" y="2619798"/>
            <a:ext cx="1889350" cy="245950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72B99FA-7DF0-9E93-1CBB-995F998CE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557" y="3419064"/>
            <a:ext cx="1773548" cy="8609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>
          <a:extLst>
            <a:ext uri="{FF2B5EF4-FFF2-40B4-BE49-F238E27FC236}">
              <a16:creationId xmlns:a16="http://schemas.microsoft.com/office/drawing/2014/main" id="{E2F6641A-B5EE-41C7-EF3E-200E6AF89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>
            <a:extLst>
              <a:ext uri="{FF2B5EF4-FFF2-40B4-BE49-F238E27FC236}">
                <a16:creationId xmlns:a16="http://schemas.microsoft.com/office/drawing/2014/main" id="{DFCF079B-157A-F507-CE67-1550F215E6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Extrait du dictionnaire des données</a:t>
            </a:r>
            <a:endParaRPr b="0" dirty="0"/>
          </a:p>
        </p:txBody>
      </p:sp>
      <p:sp>
        <p:nvSpPr>
          <p:cNvPr id="297" name="Google Shape;297;p37">
            <a:extLst>
              <a:ext uri="{FF2B5EF4-FFF2-40B4-BE49-F238E27FC236}">
                <a16:creationId xmlns:a16="http://schemas.microsoft.com/office/drawing/2014/main" id="{027F7663-CA32-DDAA-5888-7B509DB350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CA23003E-A724-75CF-EC55-F78AA8AA19EC}"/>
              </a:ext>
            </a:extLst>
          </p:cNvPr>
          <p:cNvSpPr txBox="1">
            <a:spLocks/>
          </p:cNvSpPr>
          <p:nvPr/>
        </p:nvSpPr>
        <p:spPr>
          <a:xfrm>
            <a:off x="389008" y="1046828"/>
            <a:ext cx="8254478" cy="127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dirty="0"/>
              <a:t>Diviser les données initiales de « Valeurs-foncières » en deux tables </a:t>
            </a:r>
          </a:p>
          <a:p>
            <a:r>
              <a:rPr lang="fr-FR" dirty="0"/>
              <a:t>Table « Bien » :</a:t>
            </a:r>
          </a:p>
          <a:p>
            <a:pPr lvl="1"/>
            <a:r>
              <a:rPr lang="fr-FR" dirty="0"/>
              <a:t>Création de la variable « </a:t>
            </a:r>
            <a:r>
              <a:rPr lang="fr-FR" dirty="0" err="1"/>
              <a:t>Id_bien</a:t>
            </a:r>
            <a:r>
              <a:rPr lang="fr-FR" dirty="0"/>
              <a:t> » à partir de l’étape précédente</a:t>
            </a:r>
          </a:p>
          <a:p>
            <a:pPr lvl="1"/>
            <a:r>
              <a:rPr lang="fr-FR" dirty="0"/>
              <a:t>Création de la variable « </a:t>
            </a:r>
            <a:r>
              <a:rPr lang="fr-FR" dirty="0" err="1"/>
              <a:t>id_codedep_codecommune</a:t>
            </a:r>
            <a:r>
              <a:rPr lang="fr-FR" dirty="0"/>
              <a:t> » pour établir un lien avec d’autre table</a:t>
            </a:r>
          </a:p>
          <a:p>
            <a:pPr marL="590550" lvl="1" indent="0">
              <a:buNone/>
            </a:pP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C21F56-C7B7-DC29-E6BF-B024A8F1A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821" y="2316454"/>
            <a:ext cx="6814358" cy="258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87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>
          <a:extLst>
            <a:ext uri="{FF2B5EF4-FFF2-40B4-BE49-F238E27FC236}">
              <a16:creationId xmlns:a16="http://schemas.microsoft.com/office/drawing/2014/main" id="{54AF6B88-5AFA-9FE9-3FD4-5ADE537F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>
            <a:extLst>
              <a:ext uri="{FF2B5EF4-FFF2-40B4-BE49-F238E27FC236}">
                <a16:creationId xmlns:a16="http://schemas.microsoft.com/office/drawing/2014/main" id="{92945433-60E1-9CF7-295C-4EB1240AEB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Extrait du dictionnaire des données</a:t>
            </a:r>
            <a:endParaRPr b="0" dirty="0"/>
          </a:p>
        </p:txBody>
      </p:sp>
      <p:sp>
        <p:nvSpPr>
          <p:cNvPr id="297" name="Google Shape;297;p37">
            <a:extLst>
              <a:ext uri="{FF2B5EF4-FFF2-40B4-BE49-F238E27FC236}">
                <a16:creationId xmlns:a16="http://schemas.microsoft.com/office/drawing/2014/main" id="{F96A7472-3288-67E3-B6D1-0632F4C080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A9DBEDA4-E6D5-626A-271E-1958C67FF750}"/>
              </a:ext>
            </a:extLst>
          </p:cNvPr>
          <p:cNvSpPr txBox="1">
            <a:spLocks/>
          </p:cNvSpPr>
          <p:nvPr/>
        </p:nvSpPr>
        <p:spPr>
          <a:xfrm>
            <a:off x="383335" y="1016195"/>
            <a:ext cx="8254478" cy="967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dirty="0"/>
              <a:t>Simplifier les données initiales de « </a:t>
            </a:r>
            <a:r>
              <a:rPr lang="fr-FR" dirty="0" err="1"/>
              <a:t>donnees_communes</a:t>
            </a:r>
            <a:r>
              <a:rPr lang="fr-FR" dirty="0"/>
              <a:t> »</a:t>
            </a:r>
          </a:p>
          <a:p>
            <a:pPr lvl="1"/>
            <a:r>
              <a:rPr lang="fr-FR" dirty="0"/>
              <a:t>Identifier par les codes de département et de commune</a:t>
            </a:r>
          </a:p>
          <a:p>
            <a:pPr lvl="1"/>
            <a:r>
              <a:rPr lang="fr-FR" dirty="0"/>
              <a:t>Variable « </a:t>
            </a:r>
            <a:r>
              <a:rPr lang="fr-FR" dirty="0" err="1"/>
              <a:t>Code_departement</a:t>
            </a:r>
            <a:r>
              <a:rPr lang="fr-FR" dirty="0"/>
              <a:t> » est cohérent avec la table suivante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712E596-49DA-EDA6-E0E5-ED342746E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14" y="2452208"/>
            <a:ext cx="8065971" cy="107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74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>
          <a:extLst>
            <a:ext uri="{FF2B5EF4-FFF2-40B4-BE49-F238E27FC236}">
              <a16:creationId xmlns:a16="http://schemas.microsoft.com/office/drawing/2014/main" id="{9A32B2CA-33B9-5DC9-7EDA-C8416EEA3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>
            <a:extLst>
              <a:ext uri="{FF2B5EF4-FFF2-40B4-BE49-F238E27FC236}">
                <a16:creationId xmlns:a16="http://schemas.microsoft.com/office/drawing/2014/main" id="{2ED39EFB-0F05-C081-E174-4958B73BD0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Extrait du dictionnaire des données</a:t>
            </a:r>
            <a:endParaRPr b="0" dirty="0"/>
          </a:p>
        </p:txBody>
      </p:sp>
      <p:sp>
        <p:nvSpPr>
          <p:cNvPr id="297" name="Google Shape;297;p37">
            <a:extLst>
              <a:ext uri="{FF2B5EF4-FFF2-40B4-BE49-F238E27FC236}">
                <a16:creationId xmlns:a16="http://schemas.microsoft.com/office/drawing/2014/main" id="{76637F1A-CA56-2B82-F9FB-CEF6DBC998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D8B37D0-02DE-9968-BACE-ADD9BA28FE0A}"/>
              </a:ext>
            </a:extLst>
          </p:cNvPr>
          <p:cNvSpPr txBox="1">
            <a:spLocks/>
          </p:cNvSpPr>
          <p:nvPr/>
        </p:nvSpPr>
        <p:spPr>
          <a:xfrm>
            <a:off x="383335" y="1016195"/>
            <a:ext cx="8254478" cy="128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dirty="0"/>
              <a:t>Diviser les données initiales de « </a:t>
            </a:r>
            <a:r>
              <a:rPr lang="fr" dirty="0"/>
              <a:t>fr-esr-referentiel-geographique </a:t>
            </a:r>
            <a:r>
              <a:rPr lang="fr-FR" dirty="0"/>
              <a:t>» en deux tables</a:t>
            </a:r>
          </a:p>
          <a:p>
            <a:pPr lvl="1"/>
            <a:r>
              <a:rPr lang="fr-FR" dirty="0"/>
              <a:t>Construction des tables</a:t>
            </a:r>
          </a:p>
          <a:p>
            <a:pPr lvl="2"/>
            <a:r>
              <a:rPr lang="fr-FR" dirty="0"/>
              <a:t>Suppression des doublons en fonction de leurs codes</a:t>
            </a:r>
          </a:p>
          <a:p>
            <a:pPr lvl="1"/>
            <a:r>
              <a:rPr lang="fr-FR" dirty="0"/>
              <a:t>Cohérence de type « </a:t>
            </a:r>
            <a:r>
              <a:rPr lang="fr-FR" dirty="0" err="1"/>
              <a:t>Code_region</a:t>
            </a:r>
            <a:r>
              <a:rPr lang="fr-FR" dirty="0"/>
              <a:t> » et de « </a:t>
            </a:r>
            <a:r>
              <a:rPr lang="fr-FR" dirty="0" err="1"/>
              <a:t>Code_departement</a:t>
            </a:r>
            <a:r>
              <a:rPr lang="fr-FR" dirty="0"/>
              <a:t> » 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F807F51-A0C7-CC25-ADE7-B69DCCAB6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1" y="3435578"/>
            <a:ext cx="7145858" cy="76319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94BD300-6D69-E369-C132-EA640DCE0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71" y="2434412"/>
            <a:ext cx="7145858" cy="86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553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>
          <a:extLst>
            <a:ext uri="{FF2B5EF4-FFF2-40B4-BE49-F238E27FC236}">
              <a16:creationId xmlns:a16="http://schemas.microsoft.com/office/drawing/2014/main" id="{6DA3FFD3-0DB6-BD42-0CA7-4F266D55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>
            <a:extLst>
              <a:ext uri="{FF2B5EF4-FFF2-40B4-BE49-F238E27FC236}">
                <a16:creationId xmlns:a16="http://schemas.microsoft.com/office/drawing/2014/main" id="{B207627A-649D-E0A6-A9F8-1B10CE1669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Schéma relationnel normalisé</a:t>
            </a:r>
            <a:endParaRPr b="0" dirty="0"/>
          </a:p>
        </p:txBody>
      </p:sp>
      <p:sp>
        <p:nvSpPr>
          <p:cNvPr id="306" name="Google Shape;306;p38">
            <a:extLst>
              <a:ext uri="{FF2B5EF4-FFF2-40B4-BE49-F238E27FC236}">
                <a16:creationId xmlns:a16="http://schemas.microsoft.com/office/drawing/2014/main" id="{34B4A0CC-4B1B-EC00-AA88-1D623780FB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AF755AEB-10CC-F5CA-3D89-6EF2D7A23CDF}"/>
              </a:ext>
            </a:extLst>
          </p:cNvPr>
          <p:cNvSpPr txBox="1">
            <a:spLocks/>
          </p:cNvSpPr>
          <p:nvPr/>
        </p:nvSpPr>
        <p:spPr>
          <a:xfrm>
            <a:off x="389008" y="1401542"/>
            <a:ext cx="3877866" cy="336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sz="1900" dirty="0"/>
              <a:t>Tables de 3FN :</a:t>
            </a:r>
          </a:p>
          <a:p>
            <a:pPr lvl="1"/>
            <a:r>
              <a:rPr lang="fr-FR" sz="1600" dirty="0"/>
              <a:t>Ex : Table « Vente » </a:t>
            </a:r>
          </a:p>
          <a:p>
            <a:r>
              <a:rPr lang="fr-FR" sz="1900" dirty="0"/>
              <a:t>Clés primaires (PK)</a:t>
            </a:r>
          </a:p>
          <a:p>
            <a:r>
              <a:rPr lang="fr-FR" sz="1900" dirty="0"/>
              <a:t>Clés étrangères (FK)</a:t>
            </a:r>
          </a:p>
          <a:p>
            <a:r>
              <a:rPr lang="fr-FR" sz="1900" dirty="0"/>
              <a:t>Relations 1 à plusieurs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A9CCE4F-ABF6-D85A-2CF4-6E354B5C3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91498"/>
            <a:ext cx="4406440" cy="356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10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BDD avec les tables créées et les données chargées</a:t>
            </a:r>
            <a:endParaRPr b="0" dirty="0"/>
          </a:p>
        </p:txBody>
      </p:sp>
      <p:sp>
        <p:nvSpPr>
          <p:cNvPr id="313" name="Google Shape;313;p39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8245477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Chargement de la base des données dans SQLite 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Démonstration en </a:t>
            </a:r>
            <a:r>
              <a:rPr lang="fr" b="1" i="1" dirty="0"/>
              <a:t>live</a:t>
            </a:r>
          </a:p>
          <a:p>
            <a:pPr marL="635000" lvl="1" indent="-177800">
              <a:spcBef>
                <a:spcPts val="0"/>
              </a:spcBef>
              <a:buSzPts val="1800"/>
            </a:pPr>
            <a:r>
              <a:rPr lang="fr" dirty="0"/>
              <a:t>Table de ventes</a:t>
            </a:r>
          </a:p>
          <a:p>
            <a:pPr marL="635000" lvl="1" indent="-177800">
              <a:spcBef>
                <a:spcPts val="0"/>
              </a:spcBef>
              <a:buSzPts val="1800"/>
            </a:pPr>
            <a:r>
              <a:rPr lang="fr" dirty="0"/>
              <a:t>Table de biens</a:t>
            </a:r>
          </a:p>
          <a:p>
            <a:pPr marL="635000" lvl="1" indent="-177800">
              <a:spcBef>
                <a:spcPts val="0"/>
              </a:spcBef>
              <a:buSzPts val="1800"/>
            </a:pPr>
            <a:r>
              <a:rPr lang="fr" dirty="0"/>
              <a:t>Table de communes</a:t>
            </a:r>
          </a:p>
          <a:p>
            <a:pPr marL="635000" lvl="1" indent="-177800">
              <a:spcBef>
                <a:spcPts val="0"/>
              </a:spcBef>
              <a:buSzPts val="1800"/>
            </a:pPr>
            <a:r>
              <a:rPr lang="fr" dirty="0"/>
              <a:t>Table de départements</a:t>
            </a:r>
          </a:p>
          <a:p>
            <a:pPr marL="635000" lvl="1" indent="-177800">
              <a:spcBef>
                <a:spcPts val="0"/>
              </a:spcBef>
              <a:buSzPts val="1800"/>
            </a:pPr>
            <a:r>
              <a:rPr lang="fr" dirty="0"/>
              <a:t>Table de régions</a:t>
            </a:r>
            <a:endParaRPr dirty="0"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800" b="0" dirty="0"/>
              <a:t>Validation des volumes de données </a:t>
            </a:r>
            <a:endParaRPr sz="2800" b="0" dirty="0"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8E4E413-1996-5587-77C7-5F2A052AE980}"/>
              </a:ext>
            </a:extLst>
          </p:cNvPr>
          <p:cNvGrpSpPr/>
          <p:nvPr/>
        </p:nvGrpSpPr>
        <p:grpSpPr>
          <a:xfrm>
            <a:off x="2476392" y="1374744"/>
            <a:ext cx="4191215" cy="2394012"/>
            <a:chOff x="2592548" y="1552755"/>
            <a:chExt cx="4191215" cy="2394012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AFDEBFCF-31F5-AE43-8854-3606FC41D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8089" y="2558043"/>
              <a:ext cx="1118388" cy="599137"/>
            </a:xfrm>
            <a:prstGeom prst="rect">
              <a:avLst/>
            </a:prstGeom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0C01E508-8286-C99B-AF65-D6C05E9B1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76042" y="3347629"/>
              <a:ext cx="1260870" cy="599137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C0236F03-4EBE-B1A5-4362-04BF2AC3B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12609" y="3347630"/>
              <a:ext cx="1525075" cy="599137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653FAA3E-EFAC-676B-2518-87F05FC23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89228" y="3347630"/>
              <a:ext cx="1123381" cy="599137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1289C8A8-5E53-4A0F-9169-AF8688F24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92548" y="1552755"/>
              <a:ext cx="4191215" cy="914447"/>
            </a:xfrm>
            <a:prstGeom prst="rect">
              <a:avLst/>
            </a:prstGeom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CE8EAFC0-0E64-3825-BE09-F2215AFEE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89251" y="2558043"/>
              <a:ext cx="935016" cy="5991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4123110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 dirty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 dirty="0"/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4123110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sz="1800" dirty="0"/>
              <a:t>Analyse du marché immobilier en France pour le 1</a:t>
            </a:r>
            <a:r>
              <a:rPr lang="fr" sz="1800" baseline="30000" dirty="0"/>
              <a:t>er</a:t>
            </a:r>
            <a:r>
              <a:rPr lang="fr" sz="1800" dirty="0"/>
              <a:t> semestre 2020</a:t>
            </a:r>
            <a:endParaRPr sz="1800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AD57CE4E-86EA-49F3-8C09-498776C637EA}"/>
              </a:ext>
            </a:extLst>
          </p:cNvPr>
          <p:cNvGrpSpPr/>
          <p:nvPr/>
        </p:nvGrpSpPr>
        <p:grpSpPr>
          <a:xfrm>
            <a:off x="2058849" y="1666876"/>
            <a:ext cx="1711605" cy="1809749"/>
            <a:chOff x="2058849" y="1666876"/>
            <a:chExt cx="1711605" cy="1809749"/>
          </a:xfrm>
        </p:grpSpPr>
        <p:sp>
          <p:nvSpPr>
            <p:cNvPr id="3" name="Google Shape;254;p33" descr="Hexagone de couleur foncée unie au milieu d’accentuation d’image">
              <a:extLst>
                <a:ext uri="{FF2B5EF4-FFF2-40B4-BE49-F238E27FC236}">
                  <a16:creationId xmlns:a16="http://schemas.microsoft.com/office/drawing/2014/main" id="{8736E395-8B07-4C1D-4226-C370AD4F50DC}"/>
                </a:ext>
              </a:extLst>
            </p:cNvPr>
            <p:cNvSpPr/>
            <p:nvPr/>
          </p:nvSpPr>
          <p:spPr>
            <a:xfrm rot="-5400000">
              <a:off x="2009776" y="1791686"/>
              <a:ext cx="1809749" cy="1560129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" name="Google Shape;258;p33" descr="https://lh5.googleusercontent.com/TcdnvzxQ7ulQo8GiFwfIKujloK6EfAJv7ikP-EvnfdTVQnROS3WXw6XSx9Cpd73e_l7GCUAnbxroB-qlzG2fvYdCyl-Y5QZ95MpiD-GfDN-4taJyHRqsr3vOZzc3ONTBu52b0HIdUOMeHvdHiA_5tD0">
              <a:extLst>
                <a:ext uri="{FF2B5EF4-FFF2-40B4-BE49-F238E27FC236}">
                  <a16:creationId xmlns:a16="http://schemas.microsoft.com/office/drawing/2014/main" id="{D2BCC717-9ACC-D5D8-1BED-66B5D6A2C3A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2460" t="25735" r="63941" b="26874"/>
            <a:stretch/>
          </p:blipFill>
          <p:spPr>
            <a:xfrm>
              <a:off x="2058849" y="1996848"/>
              <a:ext cx="1711605" cy="11498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55AF113E-118B-19F8-CE43-C913A2681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80" y="3065377"/>
            <a:ext cx="5645440" cy="1701887"/>
          </a:xfrm>
          <a:prstGeom prst="rect">
            <a:avLst/>
          </a:prstGeom>
        </p:spPr>
      </p:pic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Requêtes sur les tables virtuelles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Création des tables de vues</a:t>
            </a:r>
            <a:endParaRPr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3916FE-D8EE-BFBF-9DD6-2EE25392A166}"/>
              </a:ext>
            </a:extLst>
          </p:cNvPr>
          <p:cNvSpPr txBox="1">
            <a:spLocks/>
          </p:cNvSpPr>
          <p:nvPr/>
        </p:nvSpPr>
        <p:spPr>
          <a:xfrm>
            <a:off x="389008" y="1489371"/>
            <a:ext cx="4182992" cy="1576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" dirty="0"/>
              <a:t>Avantages :</a:t>
            </a:r>
          </a:p>
          <a:p>
            <a:pPr marL="742950" lvl="3" indent="-285750">
              <a:buSzPts val="1800"/>
              <a:buFont typeface="Arial" panose="020B0604020202020204" pitchFamily="34" charset="0"/>
              <a:buChar char="•"/>
            </a:pPr>
            <a:r>
              <a:rPr lang="fr" sz="1400" dirty="0"/>
              <a:t>Simplifier les requêtes complexes</a:t>
            </a:r>
          </a:p>
          <a:p>
            <a:pPr marL="742950" lvl="3" indent="-285750">
              <a:buSzPts val="1800"/>
              <a:buFont typeface="Arial" panose="020B0604020202020204" pitchFamily="34" charset="0"/>
              <a:buChar char="•"/>
            </a:pPr>
            <a:r>
              <a:rPr lang="fr" sz="1400" dirty="0"/>
              <a:t>Sécuriser les données</a:t>
            </a:r>
          </a:p>
          <a:p>
            <a:pPr marL="742950" lvl="3" indent="-285750">
              <a:buSzPts val="1800"/>
              <a:buFont typeface="Arial" panose="020B0604020202020204" pitchFamily="34" charset="0"/>
              <a:buChar char="•"/>
            </a:pPr>
            <a:r>
              <a:rPr lang="fr" sz="1400" dirty="0"/>
              <a:t>Réutilisation dans d’autres requêtes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FB6D48CD-225C-5045-451C-2096E0B22BEE}"/>
              </a:ext>
            </a:extLst>
          </p:cNvPr>
          <p:cNvSpPr txBox="1">
            <a:spLocks/>
          </p:cNvSpPr>
          <p:nvPr/>
        </p:nvSpPr>
        <p:spPr>
          <a:xfrm>
            <a:off x="4572000" y="1489370"/>
            <a:ext cx="4182992" cy="1576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" dirty="0"/>
              <a:t>Inconvénients :	</a:t>
            </a:r>
          </a:p>
          <a:p>
            <a:pPr marL="742950" lvl="3" indent="-285750">
              <a:buSzPts val="1800"/>
              <a:buFont typeface="Arial" panose="020B0604020202020204" pitchFamily="34" charset="0"/>
              <a:buChar char="•"/>
            </a:pPr>
            <a:r>
              <a:rPr lang="fr" sz="1400" dirty="0"/>
              <a:t>Nécessite une mise à jour en cas de modification des données</a:t>
            </a:r>
          </a:p>
          <a:p>
            <a:pPr marL="742950" lvl="3" indent="-285750">
              <a:buSzPts val="1800"/>
              <a:buFont typeface="Arial" panose="020B0604020202020204" pitchFamily="34" charset="0"/>
              <a:buChar char="•"/>
            </a:pPr>
            <a:r>
              <a:rPr lang="fr" sz="1400" dirty="0"/>
              <a:t>Difficultés de maintenance </a:t>
            </a:r>
          </a:p>
          <a:p>
            <a:pPr marL="742950" lvl="3" indent="-285750">
              <a:buSzPts val="1800"/>
              <a:buFont typeface="Arial" panose="020B0604020202020204" pitchFamily="34" charset="0"/>
              <a:buChar char="•"/>
            </a:pPr>
            <a:r>
              <a:rPr lang="fr" sz="1400" dirty="0"/>
              <a:t>Occupation de l’espace disque pour les données pré-calculées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A3C455D-6D66-D161-AEE2-D8E1524C5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788DBD9-9E32-58FA-7A7A-B4C517996B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119"/>
          <a:stretch/>
        </p:blipFill>
        <p:spPr bwMode="auto">
          <a:xfrm>
            <a:off x="389008" y="1960992"/>
            <a:ext cx="4182992" cy="211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A8F4A0A-F4AB-01F5-C72C-D5CD35C9AD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66"/>
          <a:stretch/>
        </p:blipFill>
        <p:spPr bwMode="auto">
          <a:xfrm>
            <a:off x="4732406" y="1960993"/>
            <a:ext cx="4182992" cy="211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5607DD9B-5039-4044-749E-3A6FD59DD1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Requêtes sur les tables virtuelles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09418265-CEB0-1899-28AF-141874D2C9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1F067C44-6EE5-A3E8-3D44-F797FA6F9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Création des tables de vues</a:t>
            </a:r>
            <a:endParaRPr dirty="0"/>
          </a:p>
        </p:txBody>
      </p:sp>
      <p:sp>
        <p:nvSpPr>
          <p:cNvPr id="5" name="Google Shape;345;p42">
            <a:extLst>
              <a:ext uri="{FF2B5EF4-FFF2-40B4-BE49-F238E27FC236}">
                <a16:creationId xmlns:a16="http://schemas.microsoft.com/office/drawing/2014/main" id="{A93D4CA8-7203-95BE-792B-D3F7887B539B}"/>
              </a:ext>
            </a:extLst>
          </p:cNvPr>
          <p:cNvSpPr txBox="1"/>
          <p:nvPr/>
        </p:nvSpPr>
        <p:spPr>
          <a:xfrm>
            <a:off x="389008" y="1504321"/>
            <a:ext cx="8754992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de « ventes – biens »                                 Table de « communes-départements-régions »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9481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0046155-19C1-B09E-1416-57EF67EE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F304131-84BB-8A43-186D-AE61762FC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00043"/>
            <a:ext cx="3524312" cy="3220400"/>
          </a:xfrm>
          <a:prstGeom prst="rect">
            <a:avLst/>
          </a:prstGeom>
        </p:spPr>
      </p:pic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AC01739C-FCAA-7802-C515-E91DC475F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Marché des appartements est </a:t>
            </a:r>
            <a:br>
              <a:rPr lang="fr-FR" b="0" dirty="0"/>
            </a:br>
            <a:r>
              <a:rPr lang="fr-FR" b="0" dirty="0"/>
              <a:t>plus dynamique en Île-de-France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F562C046-B71E-474B-F3B2-EFFF79A0F8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A8336366-1BF5-F2D0-C17D-5A0CE9A76A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858030" cy="47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2. Nombre de ventes d’appartement par région pour le 1</a:t>
            </a:r>
            <a:r>
              <a:rPr lang="fr" baseline="30000" dirty="0"/>
              <a:t>er</a:t>
            </a:r>
            <a:r>
              <a:rPr lang="fr" dirty="0"/>
              <a:t> semestre 2020</a:t>
            </a:r>
            <a:endParaRPr dirty="0"/>
          </a:p>
        </p:txBody>
      </p:sp>
      <p:sp>
        <p:nvSpPr>
          <p:cNvPr id="5" name="Google Shape;313;p39">
            <a:extLst>
              <a:ext uri="{FF2B5EF4-FFF2-40B4-BE49-F238E27FC236}">
                <a16:creationId xmlns:a16="http://schemas.microsoft.com/office/drawing/2014/main" id="{429D31EC-0F6C-6048-C924-1C8040D7355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89008" y="2307733"/>
            <a:ext cx="3668418" cy="1605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177800" lvl="0" indent="-177800">
              <a:spcBef>
                <a:spcPts val="0"/>
              </a:spcBef>
              <a:buFont typeface="Arial"/>
              <a:buChar char="•"/>
            </a:pPr>
            <a:r>
              <a:rPr lang="fr" dirty="0"/>
              <a:t>Marché de la vente des appartements par région au 1</a:t>
            </a:r>
            <a:r>
              <a:rPr lang="fr" baseline="30000" dirty="0"/>
              <a:t>er</a:t>
            </a:r>
            <a:r>
              <a:rPr lang="fr" dirty="0"/>
              <a:t> semestre 2020</a:t>
            </a:r>
          </a:p>
          <a:p>
            <a:pPr marL="635000" lvl="1" indent="-177800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fr" sz="1500" dirty="0">
                <a:solidFill>
                  <a:schemeClr val="dk1"/>
                </a:solidFill>
              </a:rPr>
              <a:t>Top 1 des régions : IDF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</a:pPr>
            <a:r>
              <a:rPr lang="fr" sz="1500" dirty="0">
                <a:solidFill>
                  <a:schemeClr val="dk1"/>
                </a:solidFill>
                <a:sym typeface="Wingdings" panose="05000000000000000000" pitchFamily="2" charset="2"/>
              </a:rPr>
              <a:t> </a:t>
            </a:r>
            <a:r>
              <a:rPr lang="fr" sz="1500" dirty="0">
                <a:solidFill>
                  <a:schemeClr val="dk1"/>
                </a:solidFill>
              </a:rPr>
              <a:t>13 995 appartements</a:t>
            </a:r>
          </a:p>
          <a:p>
            <a:pPr marL="635000" lvl="3" indent="-177800">
              <a:lnSpc>
                <a:spcPct val="100000"/>
              </a:lnSpc>
              <a:buFont typeface="Arial"/>
              <a:buChar char="•"/>
            </a:pPr>
            <a:r>
              <a:rPr lang="fr" sz="1500" dirty="0">
                <a:solidFill>
                  <a:schemeClr val="dk1"/>
                </a:solidFill>
              </a:rPr>
              <a:t>Dernière région : Guadeloupe</a:t>
            </a:r>
          </a:p>
          <a:p>
            <a:pPr marL="457200" lvl="3" indent="0">
              <a:lnSpc>
                <a:spcPct val="100000"/>
              </a:lnSpc>
            </a:pPr>
            <a:r>
              <a:rPr lang="fr" sz="1500" dirty="0">
                <a:solidFill>
                  <a:schemeClr val="dk1"/>
                </a:solidFill>
                <a:sym typeface="Wingdings" panose="05000000000000000000" pitchFamily="2" charset="2"/>
              </a:rPr>
              <a:t> </a:t>
            </a:r>
            <a:r>
              <a:rPr lang="fr" sz="1500" dirty="0">
                <a:solidFill>
                  <a:schemeClr val="dk1"/>
                </a:solidFill>
              </a:rPr>
              <a:t>2 appartements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87641AA-582B-92A6-AF55-E11DE6986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220" y="2251913"/>
            <a:ext cx="5067560" cy="1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27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B0AFE8AA-A81A-9FBC-4217-000DC11F7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7EBD3A6-7D06-1087-AA17-7605EED99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18" y="1489370"/>
            <a:ext cx="4140413" cy="3111660"/>
          </a:xfrm>
          <a:prstGeom prst="rect">
            <a:avLst/>
          </a:prstGeom>
        </p:spPr>
      </p:pic>
      <p:sp>
        <p:nvSpPr>
          <p:cNvPr id="7" name="Google Shape;313;p39">
            <a:extLst>
              <a:ext uri="{FF2B5EF4-FFF2-40B4-BE49-F238E27FC236}">
                <a16:creationId xmlns:a16="http://schemas.microsoft.com/office/drawing/2014/main" id="{145B833E-7824-0EE6-0684-E26387B8730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89008" y="1671241"/>
            <a:ext cx="3668400" cy="274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7500" lnSpcReduction="20000"/>
          </a:bodyPr>
          <a:lstStyle/>
          <a:p>
            <a:pPr marL="177800" lvl="0" indent="-177800">
              <a:spcBef>
                <a:spcPts val="0"/>
              </a:spcBef>
              <a:buFont typeface="Arial"/>
              <a:buChar char="•"/>
            </a:pPr>
            <a:r>
              <a:rPr lang="fr" sz="2600" dirty="0"/>
              <a:t>Marché de la vente des appartements en fonction du nombre de pièces au 1</a:t>
            </a:r>
            <a:r>
              <a:rPr lang="fr" sz="2600" baseline="30000" dirty="0"/>
              <a:t>er</a:t>
            </a:r>
            <a:r>
              <a:rPr lang="fr" sz="2600" dirty="0"/>
              <a:t> semestre 2020</a:t>
            </a:r>
          </a:p>
          <a:p>
            <a:pPr marL="0" lvl="0" indent="0">
              <a:spcBef>
                <a:spcPts val="0"/>
              </a:spcBef>
            </a:pPr>
            <a:endParaRPr lang="fr" sz="2600" dirty="0"/>
          </a:p>
          <a:p>
            <a:pPr marL="177800" lvl="0" indent="-177800">
              <a:spcBef>
                <a:spcPts val="0"/>
              </a:spcBef>
              <a:buFont typeface="Arial"/>
              <a:buChar char="•"/>
            </a:pPr>
            <a:r>
              <a:rPr lang="fr-FR" sz="2600" dirty="0">
                <a:solidFill>
                  <a:schemeClr val="dk1"/>
                </a:solidFill>
              </a:rPr>
              <a:t>Besoins sont forts pour les </a:t>
            </a:r>
            <a:r>
              <a:rPr lang="fr" sz="2600" dirty="0">
                <a:solidFill>
                  <a:schemeClr val="dk1"/>
                </a:solidFill>
              </a:rPr>
              <a:t>2 à 3 pièces :</a:t>
            </a:r>
          </a:p>
          <a:p>
            <a:pPr marL="635000" lvl="4" indent="-177800">
              <a:buFont typeface="Arial"/>
              <a:buChar char="•"/>
            </a:pPr>
            <a:r>
              <a:rPr lang="fr" sz="2100" dirty="0">
                <a:solidFill>
                  <a:schemeClr val="dk1"/>
                </a:solidFill>
              </a:rPr>
              <a:t>2 pièces : 31,18% </a:t>
            </a:r>
          </a:p>
          <a:p>
            <a:pPr marL="635000" lvl="4" indent="-177800">
              <a:buFont typeface="Arial"/>
              <a:buChar char="•"/>
            </a:pPr>
            <a:r>
              <a:rPr lang="fr" sz="2100" dirty="0">
                <a:solidFill>
                  <a:schemeClr val="dk1"/>
                </a:solidFill>
              </a:rPr>
              <a:t>3 pièces : 28,57%</a:t>
            </a:r>
          </a:p>
          <a:p>
            <a:pPr lvl="3"/>
            <a:endParaRPr lang="fr" sz="2600" dirty="0">
              <a:solidFill>
                <a:schemeClr val="dk1"/>
              </a:solidFill>
            </a:endParaRPr>
          </a:p>
          <a:p>
            <a:pPr marL="177800" lvl="2" indent="-177800">
              <a:buFont typeface="Arial"/>
              <a:buChar char="•"/>
            </a:pPr>
            <a:r>
              <a:rPr lang="fr" sz="2600" dirty="0">
                <a:solidFill>
                  <a:schemeClr val="dk1"/>
                </a:solidFill>
              </a:rPr>
              <a:t>Taux se dégrade selon la croissance de nombre de pièces</a:t>
            </a:r>
          </a:p>
          <a:p>
            <a:pPr marL="457200" lvl="3" indent="0">
              <a:lnSpc>
                <a:spcPct val="100000"/>
              </a:lnSpc>
            </a:pPr>
            <a:endParaRPr lang="fr" sz="1500" dirty="0">
              <a:solidFill>
                <a:schemeClr val="dk1"/>
              </a:solidFill>
            </a:endParaRPr>
          </a:p>
        </p:txBody>
      </p:sp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F955621F-80D1-9BA5-072E-5CEE6858DA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Appartements de 2 à 3 pièces </a:t>
            </a:r>
            <a:br>
              <a:rPr lang="fr" b="0" dirty="0"/>
            </a:br>
            <a:r>
              <a:rPr lang="fr" b="0" dirty="0"/>
              <a:t>sont les plus prisés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4D54A5B5-4136-050A-E364-8DD11E2135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21A0825C-EDE7-5A38-E93A-0E78EB8F0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3. Proportion des ventes d’appartements par le nombre de pièces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6763C55-174A-92DC-47E9-3CFD02975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798" y="2064074"/>
            <a:ext cx="4673840" cy="196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24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B4C6F3EE-6B12-6AC6-9498-6E0BCFC57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0CB919A7-8035-0B48-9262-1A41FCA105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Augmentation des ventes immobilières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11F8E16B-0CA5-5157-A42E-34C9852857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2A40354-F3E4-ACE5-94AE-88D955419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6977230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7. Taux d’évolution du nombre de ventes entre le premier et le second trimestre de 2020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D04F730-9C8C-8D36-D042-FFD5AA2E4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445" y="2099021"/>
            <a:ext cx="5893103" cy="221626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565A7EF-3655-CB03-FD61-774EDF353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958" y="2756280"/>
            <a:ext cx="4388076" cy="901746"/>
          </a:xfrm>
          <a:prstGeom prst="rect">
            <a:avLst/>
          </a:prstGeom>
        </p:spPr>
      </p:pic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3F3BB2E9-07B9-E3EB-5624-6680FA0D923A}"/>
              </a:ext>
            </a:extLst>
          </p:cNvPr>
          <p:cNvSpPr txBox="1"/>
          <p:nvPr/>
        </p:nvSpPr>
        <p:spPr>
          <a:xfrm>
            <a:off x="389008" y="1486092"/>
            <a:ext cx="6978592" cy="61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lvl="0" indent="-177800">
              <a:lnSpc>
                <a:spcPct val="90000"/>
              </a:lnSpc>
              <a:buClr>
                <a:srgbClr val="2E7A40"/>
              </a:buClr>
              <a:buSzPts val="1800"/>
              <a:buFont typeface="Arial"/>
              <a:buChar char="•"/>
            </a:pPr>
            <a:r>
              <a:rPr lang="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Augmentation de 3,68 % </a:t>
            </a:r>
            <a:r>
              <a:rPr lang="f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 marché immobilier du 2</a:t>
            </a:r>
            <a:r>
              <a:rPr lang="fr" sz="1800" b="0" i="0" u="none" strike="noStrike" cap="none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f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trimestre par rapport au </a:t>
            </a:r>
            <a:r>
              <a:rPr lang="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fr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</a:t>
            </a:r>
            <a:r>
              <a:rPr lang="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trimestre 2020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751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D157BDE1-D2E0-9770-BE22-192D1C0A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0F4A5835-B39E-53E3-58BD-54865AF383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Disparité des prix immobiliers </a:t>
            </a:r>
            <a:br>
              <a:rPr lang="fr" b="0" dirty="0"/>
            </a:br>
            <a:r>
              <a:rPr lang="fr" b="0" dirty="0"/>
              <a:t>est forte entre les communes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C42DB5F0-4A45-0571-A05A-A2059DE22C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8DA7E32D-F960-2F34-F77F-F44BF8FEA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11. Les moyennes de valeurs foncières pour le top 3 des communes des départements 6, 13, 33, 59, 69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F101900-FCAE-D93E-7D27-EC8F02CC80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2559" y="1715540"/>
            <a:ext cx="6118879" cy="282589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C0BBF27-3A51-C0B6-0107-E80A0D3EB0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9" y="1510610"/>
            <a:ext cx="3598334" cy="3235753"/>
          </a:xfrm>
          <a:prstGeom prst="rect">
            <a:avLst/>
          </a:prstGeom>
        </p:spPr>
      </p:pic>
      <p:sp>
        <p:nvSpPr>
          <p:cNvPr id="7" name="Google Shape;313;p39">
            <a:extLst>
              <a:ext uri="{FF2B5EF4-FFF2-40B4-BE49-F238E27FC236}">
                <a16:creationId xmlns:a16="http://schemas.microsoft.com/office/drawing/2014/main" id="{BB0ABD38-02B9-640D-CC9B-21D41A0D933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75635" y="2264148"/>
            <a:ext cx="3668418" cy="1728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>
                <a:solidFill>
                  <a:schemeClr val="tx1"/>
                </a:solidFill>
              </a:rPr>
              <a:t>Parmi les départements choisis :</a:t>
            </a:r>
          </a:p>
          <a:p>
            <a:pPr marL="177800" lvl="0" indent="-177800">
              <a:spcBef>
                <a:spcPts val="0"/>
              </a:spcBef>
              <a:buFont typeface="Arial"/>
              <a:buChar char="•"/>
            </a:pPr>
            <a:r>
              <a:rPr lang="fr-FR" dirty="0">
                <a:solidFill>
                  <a:schemeClr val="tx1"/>
                </a:solidFill>
              </a:rPr>
              <a:t>Communes du département « 06 » sont plus chères :</a:t>
            </a:r>
          </a:p>
          <a:p>
            <a:pPr marL="635000" lvl="1" indent="-177800">
              <a:spcBef>
                <a:spcPts val="0"/>
              </a:spcBef>
              <a:buFont typeface="Arial"/>
              <a:buChar char="•"/>
            </a:pPr>
            <a:r>
              <a:rPr lang="fr-FR" sz="1500" dirty="0">
                <a:solidFill>
                  <a:schemeClr val="tx1"/>
                </a:solidFill>
              </a:rPr>
              <a:t>476 898 - 968 750 euros</a:t>
            </a:r>
            <a:endParaRPr lang="fr-FR" dirty="0">
              <a:solidFill>
                <a:schemeClr val="tx1"/>
              </a:solidFill>
            </a:endParaRPr>
          </a:p>
          <a:p>
            <a:pPr marL="177800" indent="-177800">
              <a:spcBef>
                <a:spcPts val="0"/>
              </a:spcBef>
              <a:buFont typeface="Arial"/>
              <a:buChar char="•"/>
            </a:pPr>
            <a:r>
              <a:rPr lang="fr-FR" dirty="0">
                <a:solidFill>
                  <a:schemeClr val="tx1"/>
                </a:solidFill>
              </a:rPr>
              <a:t>Communes du département « 13 » sont moins chères :</a:t>
            </a:r>
          </a:p>
          <a:p>
            <a:pPr marL="635000" lvl="1" indent="-177800">
              <a:spcBef>
                <a:spcPts val="0"/>
              </a:spcBef>
              <a:buFont typeface="Arial"/>
              <a:buChar char="•"/>
            </a:pPr>
            <a:r>
              <a:rPr lang="fr-FR" sz="1500" dirty="0">
                <a:solidFill>
                  <a:schemeClr val="tx1"/>
                </a:solidFill>
              </a:rPr>
              <a:t>314 416 - 330 000 euros</a:t>
            </a:r>
          </a:p>
          <a:p>
            <a:pPr marL="635000" lvl="1" indent="-177800">
              <a:spcBef>
                <a:spcPts val="0"/>
              </a:spcBef>
              <a:buFont typeface="Arial"/>
              <a:buChar char="•"/>
            </a:pPr>
            <a:endParaRPr lang="fr-FR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65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E6EAAA7D-81DD-34CC-F960-45C2CA459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82E09089-C548-A49C-2148-61853F0986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Marché basé sur la densité de </a:t>
            </a:r>
            <a:br>
              <a:rPr lang="fr" b="0" dirty="0"/>
            </a:br>
            <a:r>
              <a:rPr lang="fr" b="0" dirty="0"/>
              <a:t>population est plus dynamique à Paris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7FB544AD-BF3F-5AD0-7830-61CCB0734B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F9B8074-DB0C-4F9B-6506-5F15819C6F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6978592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12. Les 20 communes avec le plus de transactions pour 1 000 habitants pour les communes qui dépassent les 10 000 habitants</a:t>
            </a:r>
            <a:endParaRPr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FB43F08-71D5-B874-89EF-9D293BA4D4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7" b="-77"/>
          <a:stretch/>
        </p:blipFill>
        <p:spPr>
          <a:xfrm>
            <a:off x="413709" y="1859695"/>
            <a:ext cx="8319484" cy="247554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4E780FE-3854-5BEA-261B-5A8C6CDCAA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1492775"/>
            <a:ext cx="3457194" cy="3217480"/>
          </a:xfrm>
          <a:prstGeom prst="rect">
            <a:avLst/>
          </a:prstGeom>
        </p:spPr>
      </p:pic>
      <p:sp>
        <p:nvSpPr>
          <p:cNvPr id="4" name="Google Shape;313;p39">
            <a:extLst>
              <a:ext uri="{FF2B5EF4-FFF2-40B4-BE49-F238E27FC236}">
                <a16:creationId xmlns:a16="http://schemas.microsoft.com/office/drawing/2014/main" id="{5AECEA41-9C06-2DEE-EDD4-5BA69F5CC8B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13709" y="2431929"/>
            <a:ext cx="3668418" cy="1339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>
              <a:spcBef>
                <a:spcPts val="0"/>
              </a:spcBef>
              <a:buFont typeface="Arial"/>
              <a:buChar char="•"/>
            </a:pPr>
            <a:r>
              <a:rPr lang="fr-FR" dirty="0">
                <a:solidFill>
                  <a:schemeClr val="tx1"/>
                </a:solidFill>
              </a:rPr>
              <a:t>Marché de la vente des biens selon la densité de population de 1 000 habitants :</a:t>
            </a:r>
          </a:p>
          <a:p>
            <a:pPr marL="635000" lvl="1" indent="-177800">
              <a:spcBef>
                <a:spcPts val="0"/>
              </a:spcBef>
              <a:buFont typeface="Arial"/>
              <a:buChar char="•"/>
            </a:pPr>
            <a:r>
              <a:rPr lang="fr-FR" sz="1500" dirty="0">
                <a:solidFill>
                  <a:schemeClr val="tx1"/>
                </a:solidFill>
              </a:rPr>
              <a:t>Paris 2</a:t>
            </a:r>
            <a:r>
              <a:rPr lang="fr-FR" sz="1500" baseline="30000" dirty="0">
                <a:solidFill>
                  <a:schemeClr val="tx1"/>
                </a:solidFill>
              </a:rPr>
              <a:t>e</a:t>
            </a:r>
            <a:r>
              <a:rPr lang="fr-FR" sz="1500" dirty="0">
                <a:solidFill>
                  <a:schemeClr val="tx1"/>
                </a:solidFill>
              </a:rPr>
              <a:t> arr. : 5,84 transactions sur </a:t>
            </a:r>
          </a:p>
          <a:p>
            <a:pPr marL="457200" lvl="1" indent="0">
              <a:spcBef>
                <a:spcPts val="0"/>
              </a:spcBef>
            </a:pPr>
            <a:r>
              <a:rPr lang="fr-FR" sz="1500" dirty="0">
                <a:solidFill>
                  <a:schemeClr val="tx1"/>
                </a:solidFill>
              </a:rPr>
              <a:t>    1 000 habitants</a:t>
            </a:r>
          </a:p>
          <a:p>
            <a:pPr marL="635000" lvl="1" indent="-177800">
              <a:spcBef>
                <a:spcPts val="0"/>
              </a:spcBef>
              <a:buFont typeface="Arial"/>
              <a:buChar char="•"/>
            </a:pPr>
            <a:endParaRPr lang="fr-FR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59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>
          <a:extLst>
            <a:ext uri="{FF2B5EF4-FFF2-40B4-BE49-F238E27FC236}">
              <a16:creationId xmlns:a16="http://schemas.microsoft.com/office/drawing/2014/main" id="{0C6C9095-AFC8-032E-1C27-176678988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>
            <a:extLst>
              <a:ext uri="{FF2B5EF4-FFF2-40B4-BE49-F238E27FC236}">
                <a16:creationId xmlns:a16="http://schemas.microsoft.com/office/drawing/2014/main" id="{D9ADB2F9-0EDF-CA0D-066C-9FA446F405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34" y="981363"/>
            <a:ext cx="4900088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3200" dirty="0"/>
              <a:t>Conclusion</a:t>
            </a:r>
            <a:endParaRPr sz="3200" dirty="0"/>
          </a:p>
        </p:txBody>
      </p:sp>
      <p:sp>
        <p:nvSpPr>
          <p:cNvPr id="267" name="Google Shape;267;p34">
            <a:extLst>
              <a:ext uri="{FF2B5EF4-FFF2-40B4-BE49-F238E27FC236}">
                <a16:creationId xmlns:a16="http://schemas.microsoft.com/office/drawing/2014/main" id="{9A4A173F-AD6A-A5B0-0642-6FE1BAA55E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8532" y="1922608"/>
            <a:ext cx="4230618" cy="116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Fort potentiel du marché immobilier 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Biens 2 à 3 pièces ou en Île-de-France sont recherchés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Disparité des prix est forte</a:t>
            </a:r>
          </a:p>
        </p:txBody>
      </p:sp>
      <p:pic>
        <p:nvPicPr>
          <p:cNvPr id="268" name="Google Shape;268;p34" title="Horizon">
            <a:extLst>
              <a:ext uri="{FF2B5EF4-FFF2-40B4-BE49-F238E27FC236}">
                <a16:creationId xmlns:a16="http://schemas.microsoft.com/office/drawing/2014/main" id="{B1A688F6-4800-37CB-54A7-277B2D9F8450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3312" r="23313"/>
          <a:stretch/>
        </p:blipFill>
        <p:spPr>
          <a:xfrm>
            <a:off x="5298621" y="0"/>
            <a:ext cx="3845378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70" name="Google Shape;270;p34">
            <a:extLst>
              <a:ext uri="{FF2B5EF4-FFF2-40B4-BE49-F238E27FC236}">
                <a16:creationId xmlns:a16="http://schemas.microsoft.com/office/drawing/2014/main" id="{2A1239FD-CF54-FDA5-4327-F56E7A071E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1470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4FF1EDD5-4A82-2B1F-18A8-A6887692DFEA}"/>
              </a:ext>
            </a:extLst>
          </p:cNvPr>
          <p:cNvGrpSpPr/>
          <p:nvPr/>
        </p:nvGrpSpPr>
        <p:grpSpPr>
          <a:xfrm>
            <a:off x="2058849" y="1666876"/>
            <a:ext cx="1711605" cy="1809749"/>
            <a:chOff x="2058849" y="1666876"/>
            <a:chExt cx="1711605" cy="1809749"/>
          </a:xfrm>
        </p:grpSpPr>
        <p:sp>
          <p:nvSpPr>
            <p:cNvPr id="3" name="Google Shape;254;p33" descr="Hexagone de couleur foncée unie au milieu d’accentuation d’image">
              <a:extLst>
                <a:ext uri="{FF2B5EF4-FFF2-40B4-BE49-F238E27FC236}">
                  <a16:creationId xmlns:a16="http://schemas.microsoft.com/office/drawing/2014/main" id="{ECE1D328-FB26-0C62-578E-B816DB337C93}"/>
                </a:ext>
              </a:extLst>
            </p:cNvPr>
            <p:cNvSpPr/>
            <p:nvPr/>
          </p:nvSpPr>
          <p:spPr>
            <a:xfrm rot="-5400000">
              <a:off x="2009776" y="1791686"/>
              <a:ext cx="1809749" cy="1560129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" name="Google Shape;258;p33" descr="https://lh5.googleusercontent.com/TcdnvzxQ7ulQo8GiFwfIKujloK6EfAJv7ikP-EvnfdTVQnROS3WXw6XSx9Cpd73e_l7GCUAnbxroB-qlzG2fvYdCyl-Y5QZ95MpiD-GfDN-4taJyHRqsr3vOZzc3ONTBu52b0HIdUOMeHvdHiA_5tD0">
              <a:extLst>
                <a:ext uri="{FF2B5EF4-FFF2-40B4-BE49-F238E27FC236}">
                  <a16:creationId xmlns:a16="http://schemas.microsoft.com/office/drawing/2014/main" id="{07F15DC1-1D07-CEDB-C9FD-C55B02FDBBB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2460" t="25735" r="63941" b="26874"/>
            <a:stretch/>
          </p:blipFill>
          <p:spPr>
            <a:xfrm>
              <a:off x="2058849" y="1996848"/>
              <a:ext cx="1711605" cy="11498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>
          <a:extLst>
            <a:ext uri="{FF2B5EF4-FFF2-40B4-BE49-F238E27FC236}">
              <a16:creationId xmlns:a16="http://schemas.microsoft.com/office/drawing/2014/main" id="{D8065D4B-6C38-BEC6-0BE4-CEB543A37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>
            <a:extLst>
              <a:ext uri="{FF2B5EF4-FFF2-40B4-BE49-F238E27FC236}">
                <a16:creationId xmlns:a16="http://schemas.microsoft.com/office/drawing/2014/main" id="{9D32C788-4755-5298-DDAD-C2352EFDF773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1">
            <a:extLst>
              <a:ext uri="{FF2B5EF4-FFF2-40B4-BE49-F238E27FC236}">
                <a16:creationId xmlns:a16="http://schemas.microsoft.com/office/drawing/2014/main" id="{2243E5CD-DF2B-6C5B-45AA-43BBFD2B68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4123110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 dirty="0">
                <a:latin typeface="Calibri"/>
                <a:ea typeface="Calibri"/>
                <a:cs typeface="Calibri"/>
                <a:sym typeface="Calibri"/>
              </a:rPr>
              <a:t>Annexes</a:t>
            </a:r>
            <a:endParaRPr dirty="0"/>
          </a:p>
        </p:txBody>
      </p:sp>
      <p:sp>
        <p:nvSpPr>
          <p:cNvPr id="334" name="Google Shape;334;p41">
            <a:extLst>
              <a:ext uri="{FF2B5EF4-FFF2-40B4-BE49-F238E27FC236}">
                <a16:creationId xmlns:a16="http://schemas.microsoft.com/office/drawing/2014/main" id="{431CA4C6-27C7-89A9-DF13-4DEAF18BF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4123110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sz="1800" dirty="0"/>
              <a:t>Requêtes &amp; résultats</a:t>
            </a:r>
            <a:endParaRPr sz="1800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B7AC41D-5763-F054-AEE4-FED1408C31E8}"/>
              </a:ext>
            </a:extLst>
          </p:cNvPr>
          <p:cNvGrpSpPr/>
          <p:nvPr/>
        </p:nvGrpSpPr>
        <p:grpSpPr>
          <a:xfrm>
            <a:off x="2058849" y="1666876"/>
            <a:ext cx="1711605" cy="1809749"/>
            <a:chOff x="2058849" y="1666876"/>
            <a:chExt cx="1711605" cy="1809749"/>
          </a:xfrm>
        </p:grpSpPr>
        <p:sp>
          <p:nvSpPr>
            <p:cNvPr id="3" name="Google Shape;254;p33" descr="Hexagone de couleur foncée unie au milieu d’accentuation d’image">
              <a:extLst>
                <a:ext uri="{FF2B5EF4-FFF2-40B4-BE49-F238E27FC236}">
                  <a16:creationId xmlns:a16="http://schemas.microsoft.com/office/drawing/2014/main" id="{B23BA42C-0563-8FEF-F7F5-0A1169C4B9FF}"/>
                </a:ext>
              </a:extLst>
            </p:cNvPr>
            <p:cNvSpPr/>
            <p:nvPr/>
          </p:nvSpPr>
          <p:spPr>
            <a:xfrm rot="-5400000">
              <a:off x="2009776" y="1791686"/>
              <a:ext cx="1809749" cy="1560129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" name="Google Shape;258;p33" descr="https://lh5.googleusercontent.com/TcdnvzxQ7ulQo8GiFwfIKujloK6EfAJv7ikP-EvnfdTVQnROS3WXw6XSx9Cpd73e_l7GCUAnbxroB-qlzG2fvYdCyl-Y5QZ95MpiD-GfDN-4taJyHRqsr3vOZzc3ONTBu52b0HIdUOMeHvdHiA_5tD0">
              <a:extLst>
                <a:ext uri="{FF2B5EF4-FFF2-40B4-BE49-F238E27FC236}">
                  <a16:creationId xmlns:a16="http://schemas.microsoft.com/office/drawing/2014/main" id="{8FB8CFA5-652C-1D0E-9C0D-0808A964DC1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2460" t="25735" r="63941" b="26874"/>
            <a:stretch/>
          </p:blipFill>
          <p:spPr>
            <a:xfrm>
              <a:off x="2058849" y="1996848"/>
              <a:ext cx="1711605" cy="1149804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09245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1F1B41B-E61D-4115-C9AA-E51C2CEA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97E06DB8-53D1-CB1B-971E-528B1D9572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Plus de 30 000 biens immobiliers vendus au 1</a:t>
            </a:r>
            <a:r>
              <a:rPr lang="fr" b="0" baseline="30000" dirty="0"/>
              <a:t>er</a:t>
            </a:r>
            <a:r>
              <a:rPr lang="fr" b="0" dirty="0"/>
              <a:t> semestre 2020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41A36989-6918-3140-5AAC-EE7A80BFF9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8616B8FE-B922-63FD-8A5F-C297723712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1. Nombre total d’appartements vendus au 1</a:t>
            </a:r>
            <a:r>
              <a:rPr lang="fr" baseline="30000" dirty="0"/>
              <a:t>er</a:t>
            </a:r>
            <a:r>
              <a:rPr lang="fr" dirty="0"/>
              <a:t> semestre 2020</a:t>
            </a:r>
            <a:endParaRPr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7EA0EBC-385D-D0B9-F48F-0B1A95A46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405" y="2571750"/>
            <a:ext cx="4553184" cy="1016052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015F4A3-30D2-C122-7AC2-38E7C7B65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242" y="1489370"/>
            <a:ext cx="6045511" cy="9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85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6451984B-F3BC-0C1A-E4B6-29F70801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53CE1FF2-0CF5-5E53-4212-59E456286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Paris reste le département </a:t>
            </a:r>
            <a:br>
              <a:rPr lang="fr" b="0" dirty="0"/>
            </a:br>
            <a:r>
              <a:rPr lang="fr" b="0" dirty="0"/>
              <a:t>le plus cher par </a:t>
            </a:r>
            <a:r>
              <a:rPr lang="fr-FR" b="0" dirty="0"/>
              <a:t>m²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E677AD7D-CF38-0EF0-0E27-2F6DAFCADD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25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D11ADA89-930C-1605-D2CA-B053F2FBA4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4. Liste des 10 départements où le prix du mètre carré est le plus élevé</a:t>
            </a:r>
            <a:endParaRPr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9D39745-1067-E678-20B6-A441E38AD0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42"/>
          <a:stretch/>
        </p:blipFill>
        <p:spPr>
          <a:xfrm>
            <a:off x="389008" y="2314765"/>
            <a:ext cx="5131064" cy="120657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E5501DB-3A8C-9B3E-A543-30B94E18C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150" y="1509339"/>
            <a:ext cx="4343248" cy="281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52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70C7E242-4851-5FCD-B4A0-EFB5A6540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B75D57F7-0E86-B933-6B8C-2E58E60A59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Maisons en </a:t>
            </a:r>
            <a:r>
              <a:rPr lang="fr" b="0" dirty="0"/>
              <a:t>î</a:t>
            </a:r>
            <a:r>
              <a:rPr lang="fr-FR" b="0" dirty="0"/>
              <a:t>le-de-France </a:t>
            </a:r>
            <a:br>
              <a:rPr lang="fr-FR" b="0" dirty="0"/>
            </a:br>
            <a:r>
              <a:rPr lang="fr-FR" b="0" dirty="0"/>
              <a:t>dépassent en moyenne 3 500€/m²</a:t>
            </a:r>
            <a:endParaRPr b="0"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4D3301FB-752D-5C73-F88D-2685852B0B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26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16AB50CB-B4E8-4191-7550-9CBC247768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5. Prix moyen du mètre carré d’une maison en ile-de-france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7511A3B-95C7-D250-C294-2C0FFA9BE4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70"/>
          <a:stretch/>
        </p:blipFill>
        <p:spPr>
          <a:xfrm>
            <a:off x="389008" y="2043408"/>
            <a:ext cx="6197919" cy="2102232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958B5D7C-9C52-D74F-F63D-02CBAFA99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681" y="2618250"/>
            <a:ext cx="4102311" cy="9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29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B7A1C43C-1329-C68C-03BD-F24EEA92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CF39F28C-2B5C-40C4-A2DC-2AEF826FAE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Appartements les plus onéreux </a:t>
            </a:r>
            <a:br>
              <a:rPr lang="fr" b="0" dirty="0"/>
            </a:br>
            <a:r>
              <a:rPr lang="fr" b="0" dirty="0"/>
              <a:t>se trouvent en île-de-France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336CD056-F071-3D42-88A0-158579F87E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27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FB6187E-8004-6985-A927-BC674EEB6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6761201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6. Liste des 10 appartements les plus chers avec la région et le nombre de mètres carrés</a:t>
            </a:r>
            <a:endParaRPr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95E54A3-E7C9-90A6-14E3-CC58628A01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08"/>
          <a:stretch/>
        </p:blipFill>
        <p:spPr>
          <a:xfrm>
            <a:off x="389008" y="2266453"/>
            <a:ext cx="6083613" cy="139273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9C8B2E0-B8F4-6B64-7345-D373EF21F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579" y="1610198"/>
            <a:ext cx="4140413" cy="270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95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8C3F6E35-1CA1-A145-09B8-B0DABCB41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9B0338AB-1B55-52ED-0D71-34194F564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Appartements de plus de 4 pièces </a:t>
            </a:r>
            <a:br>
              <a:rPr lang="fr" b="0" dirty="0"/>
            </a:br>
            <a:r>
              <a:rPr lang="fr" b="0" dirty="0"/>
              <a:t>se vendent mieux en île-de-France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68673E00-B9A9-2DFD-281A-7AD6A65233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28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F382A18C-7AF8-8C45-188C-B85B027AA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6741950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8. Classement des régions par rapport au prix au mètre carré des appartement de plus de 4 pièces</a:t>
            </a:r>
            <a:endParaRPr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A557E58-0C4F-BD53-3A7D-D89DA3A49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459" y="1506212"/>
            <a:ext cx="3564533" cy="326105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C1C460D-D24A-3059-873F-F923B50BC4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999" r="41407"/>
          <a:stretch/>
        </p:blipFill>
        <p:spPr>
          <a:xfrm>
            <a:off x="389008" y="2472644"/>
            <a:ext cx="3810167" cy="132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04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166DB53B-3DCA-C3EB-0931-F9E55CB11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7A94073D-F47B-E96F-1A04-B21F69CD70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7657712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Ventes de biens sont plus </a:t>
            </a:r>
            <a:br>
              <a:rPr lang="fr" b="0" dirty="0"/>
            </a:br>
            <a:r>
              <a:rPr lang="fr" b="0" dirty="0"/>
              <a:t>dynamiques dans les arrondissements de Paris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D70FC642-D6A6-E7A7-C69F-9EBA4D30ED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29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EA9DD75E-B5B6-BC6A-D9DA-3C40831449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9. Liste des communes ayant eu au moins 50 ventes au 1</a:t>
            </a:r>
            <a:r>
              <a:rPr lang="fr-FR" baseline="30000" dirty="0"/>
              <a:t>er</a:t>
            </a:r>
            <a:r>
              <a:rPr lang="fr-FR" dirty="0"/>
              <a:t> trimestre</a:t>
            </a:r>
            <a:endParaRPr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AA4F58D-37A3-0A47-881B-DFD6CD5A0C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17"/>
          <a:stretch/>
        </p:blipFill>
        <p:spPr>
          <a:xfrm>
            <a:off x="389008" y="2129607"/>
            <a:ext cx="5245370" cy="18442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4C59AE9-6CDD-6957-14D5-EBFDAABC15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100"/>
          <a:stretch/>
        </p:blipFill>
        <p:spPr>
          <a:xfrm>
            <a:off x="5421391" y="1489370"/>
            <a:ext cx="3332239" cy="312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76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DA31DDDF-6544-75E4-0D73-E3BE8EF9D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827738F9-0968-15FE-6365-C9B9F73573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Prix</a:t>
            </a:r>
            <a:r>
              <a:rPr lang="fr" b="0" dirty="0"/>
              <a:t> des appartements de 2 pièces </a:t>
            </a:r>
            <a:br>
              <a:rPr lang="fr" b="0" dirty="0"/>
            </a:br>
            <a:r>
              <a:rPr lang="fr" b="0" dirty="0"/>
              <a:t>est plus élevé que celui de 3 pièces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4993D640-5495-2208-F538-0BBA54CDCC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30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142290D9-FE3B-EFFD-1766-A5B20FE548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6713074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10. Différence en pourcentage du prix au mètre carré entre un appartement de 2 pièces et un appartement des 3 pièces </a:t>
            </a:r>
            <a:endParaRPr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EA8B97B-8500-506B-BB9E-3F26F29BC9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98"/>
          <a:stretch/>
        </p:blipFill>
        <p:spPr>
          <a:xfrm>
            <a:off x="790639" y="1664194"/>
            <a:ext cx="7550538" cy="181511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F14FC21-FF60-FE02-0BB7-1C2FE516E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826" y="3654130"/>
            <a:ext cx="4172164" cy="92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15490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5720</TotalTime>
  <Words>1161</Words>
  <Application>Microsoft Office PowerPoint</Application>
  <PresentationFormat>Affichage à l'écran (16:9)</PresentationFormat>
  <Paragraphs>174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30</vt:i4>
      </vt:variant>
    </vt:vector>
  </HeadingPairs>
  <TitlesOfParts>
    <vt:vector size="36" baseType="lpstr">
      <vt:lpstr>Calibri</vt:lpstr>
      <vt:lpstr>Wingdings</vt:lpstr>
      <vt:lpstr>Arial</vt:lpstr>
      <vt:lpstr>Arial Black</vt:lpstr>
      <vt:lpstr>Simple Light</vt:lpstr>
      <vt:lpstr>Thème Office</vt:lpstr>
      <vt:lpstr>Création et utilisation de la base de données</vt:lpstr>
      <vt:lpstr>Contexte du projet</vt:lpstr>
      <vt:lpstr>Stratégie de sauvegarde et la conformité RGPD</vt:lpstr>
      <vt:lpstr>Données initiales</vt:lpstr>
      <vt:lpstr>Extrait du dictionnaire des données</vt:lpstr>
      <vt:lpstr>Extrait du dictionnaire des données</vt:lpstr>
      <vt:lpstr>Extrait du dictionnaire des données</vt:lpstr>
      <vt:lpstr>Extrait du dictionnaire des données</vt:lpstr>
      <vt:lpstr>Extrait du dictionnaire des données</vt:lpstr>
      <vt:lpstr>Schéma relationnel normalisé</vt:lpstr>
      <vt:lpstr>BDD avec les tables créées et les données chargées</vt:lpstr>
      <vt:lpstr>Validation des volumes de données </vt:lpstr>
      <vt:lpstr>Requêtes SQL et résultats</vt:lpstr>
      <vt:lpstr>Requêtes sur les tables virtuelles</vt:lpstr>
      <vt:lpstr>Requêtes sur les tables virtuelles</vt:lpstr>
      <vt:lpstr>Marché des appartements est  plus dynamique en Île-de-France</vt:lpstr>
      <vt:lpstr>Appartements de 2 à 3 pièces  sont les plus prisés</vt:lpstr>
      <vt:lpstr>Augmentation des ventes immobilières</vt:lpstr>
      <vt:lpstr>Disparité des prix immobiliers  est forte entre les communes</vt:lpstr>
      <vt:lpstr>Marché basé sur la densité de  population est plus dynamique à Paris</vt:lpstr>
      <vt:lpstr>Conclusion</vt:lpstr>
      <vt:lpstr>Merci !</vt:lpstr>
      <vt:lpstr>Annexes</vt:lpstr>
      <vt:lpstr>Plus de 30 000 biens immobiliers vendus au 1er semestre 2020</vt:lpstr>
      <vt:lpstr>Paris reste le département  le plus cher par m²</vt:lpstr>
      <vt:lpstr>Maisons en île-de-France  dépassent en moyenne 3 500€/m²</vt:lpstr>
      <vt:lpstr>Appartements les plus onéreux  se trouvent en île-de-France</vt:lpstr>
      <vt:lpstr>Appartements de plus de 4 pièces  se vendent mieux en île-de-France</vt:lpstr>
      <vt:lpstr>Ventes de biens sont plus  dynamiques dans les arrondissements de Paris</vt:lpstr>
      <vt:lpstr>Prix des appartements de 2 pièces  est plus élevé que celui de 3 pièces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rong CAI</dc:creator>
  <cp:lastModifiedBy>rong CAI</cp:lastModifiedBy>
  <cp:revision>28</cp:revision>
  <dcterms:modified xsi:type="dcterms:W3CDTF">2026-04-17T08:28:03Z</dcterms:modified>
</cp:coreProperties>
</file>